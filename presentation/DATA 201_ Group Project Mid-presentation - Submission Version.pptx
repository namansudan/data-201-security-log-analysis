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Urbanist Medium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  <p:embeddedFont>
      <p:font typeface="Poppi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UrbanistMedium-italic.fntdata"/><Relationship Id="rId30" Type="http://schemas.openxmlformats.org/officeDocument/2006/relationships/font" Target="fonts/UrbanistMedium-bold.fntdata"/><Relationship Id="rId33" Type="http://schemas.openxmlformats.org/officeDocument/2006/relationships/font" Target="fonts/Urbanist-regular.fntdata"/><Relationship Id="rId32" Type="http://schemas.openxmlformats.org/officeDocument/2006/relationships/font" Target="fonts/UrbanistMedium-boldItalic.fntdata"/><Relationship Id="rId35" Type="http://schemas.openxmlformats.org/officeDocument/2006/relationships/font" Target="fonts/Urbanist-italic.fntdata"/><Relationship Id="rId34" Type="http://schemas.openxmlformats.org/officeDocument/2006/relationships/font" Target="fonts/Urbanist-bold.fntdata"/><Relationship Id="rId37" Type="http://schemas.openxmlformats.org/officeDocument/2006/relationships/font" Target="fonts/PoppinsSemiBold-regular.fntdata"/><Relationship Id="rId36" Type="http://schemas.openxmlformats.org/officeDocument/2006/relationships/font" Target="fonts/Urbanist-boldItalic.fntdata"/><Relationship Id="rId39" Type="http://schemas.openxmlformats.org/officeDocument/2006/relationships/font" Target="fonts/PoppinsSemiBold-italic.fntdata"/><Relationship Id="rId38" Type="http://schemas.openxmlformats.org/officeDocument/2006/relationships/font" Target="fonts/PoppinsSemiBold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29" Type="http://schemas.openxmlformats.org/officeDocument/2006/relationships/font" Target="fonts/UrbanistMedium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589c0a16a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c589c0a16a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589c0a16a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c589c0a16a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589c0a16a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c589c0a16a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c589c0a16a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c589c0a16a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d78bdd62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d78bdd62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c589c0a16a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c589c0a16a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c589c0a16a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c589c0a16a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78bdd627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d78bdd627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d7dffab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d7dffab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7cd6107fa_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d7cd6107fa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589c0a16a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c589c0a16a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c589c0a16a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c589c0a16a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cfafc51e2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cfafc51e2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cfafc51e2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cfafc51e2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7cd6107fa_9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d7cd6107fa_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d7cd6107fa_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d7cd6107fa_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d78bdd62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d78bdd6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cfafc51e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cfafc51e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c589c0a16a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c589c0a16a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c589c0a16a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3c589c0a16a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Relationship Id="rId8" Type="http://schemas.openxmlformats.org/officeDocument/2006/relationships/hyperlink" Target="https://github.com/NamanSudan/data-201-security-log-analysi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DATA 201: 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Group 5 </a:t>
            </a:r>
            <a:r>
              <a:rPr lang="en" sz="4400"/>
              <a:t>Project  Mid-presentation</a:t>
            </a:r>
            <a:endParaRPr sz="4400"/>
          </a:p>
        </p:txBody>
      </p:sp>
      <p:sp>
        <p:nvSpPr>
          <p:cNvPr id="574" name="Google Shape;574;p54"/>
          <p:cNvSpPr txBox="1"/>
          <p:nvPr>
            <p:ph type="title"/>
          </p:nvPr>
        </p:nvSpPr>
        <p:spPr>
          <a:xfrm>
            <a:off x="3092025" y="267629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Ishaan Shetty</a:t>
            </a:r>
            <a:endParaRPr i="1" sz="2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Naman Sudan</a:t>
            </a:r>
            <a:endParaRPr i="1" sz="2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/>
              <a:t>River Roseveare-Hunt</a:t>
            </a:r>
            <a:endParaRPr i="1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9" name="Google Shape;579;p55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0" name="Google Shape;580;p55"/>
          <p:cNvSpPr/>
          <p:nvPr/>
        </p:nvSpPr>
        <p:spPr>
          <a:xfrm flipH="1" rot="-5400000">
            <a:off x="8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1" name="Google Shape;581;p55"/>
          <p:cNvSpPr/>
          <p:nvPr/>
        </p:nvSpPr>
        <p:spPr>
          <a:xfrm flipH="1" rot="-5400000">
            <a:off x="1779019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2" name="Google Shape;582;p55"/>
          <p:cNvSpPr/>
          <p:nvPr/>
        </p:nvSpPr>
        <p:spPr>
          <a:xfrm flipH="1" rot="-5400000">
            <a:off x="3545408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3" name="Google Shape;583;p55"/>
          <p:cNvSpPr/>
          <p:nvPr/>
        </p:nvSpPr>
        <p:spPr>
          <a:xfrm flipH="1" rot="-5400000">
            <a:off x="5305846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4" name="Google Shape;584;p55"/>
          <p:cNvSpPr/>
          <p:nvPr/>
        </p:nvSpPr>
        <p:spPr>
          <a:xfrm flipH="1" rot="-5400000">
            <a:off x="7050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5" name="Google Shape;585;p5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586" name="Google Shape;586;p55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587" name="Google Shape;587;p55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588" name="Google Shape;588;p55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</a:t>
            </a:r>
            <a:r>
              <a:rPr lang="en"/>
              <a:t> 3</a:t>
            </a:r>
            <a:endParaRPr/>
          </a:p>
        </p:txBody>
      </p:sp>
      <p:sp>
        <p:nvSpPr>
          <p:cNvPr id="589" name="Google Shape;589;p55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</a:t>
            </a:r>
            <a:r>
              <a:rPr lang="en"/>
              <a:t> 4</a:t>
            </a:r>
            <a:endParaRPr/>
          </a:p>
        </p:txBody>
      </p:sp>
      <p:sp>
        <p:nvSpPr>
          <p:cNvPr id="590" name="Google Shape;590;p55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</a:t>
            </a:r>
            <a:r>
              <a:rPr lang="en"/>
              <a:t> 5</a:t>
            </a:r>
            <a:endParaRPr/>
          </a:p>
        </p:txBody>
      </p:sp>
      <p:sp>
        <p:nvSpPr>
          <p:cNvPr id="591" name="Google Shape;591;p55"/>
          <p:cNvSpPr txBox="1"/>
          <p:nvPr>
            <p:ph idx="6" type="body"/>
          </p:nvPr>
        </p:nvSpPr>
        <p:spPr>
          <a:xfrm>
            <a:off x="271250" y="3263070"/>
            <a:ext cx="1508700" cy="12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The what and the why</a:t>
            </a:r>
            <a:endParaRPr/>
          </a:p>
        </p:txBody>
      </p:sp>
      <p:sp>
        <p:nvSpPr>
          <p:cNvPr id="592" name="Google Shape;592;p55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Getting to know our data</a:t>
            </a:r>
            <a:endParaRPr/>
          </a:p>
        </p:txBody>
      </p:sp>
      <p:sp>
        <p:nvSpPr>
          <p:cNvPr id="593" name="Google Shape;593;p55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Prepping the dataset for loading</a:t>
            </a:r>
            <a:endParaRPr/>
          </a:p>
        </p:txBody>
      </p:sp>
      <p:sp>
        <p:nvSpPr>
          <p:cNvPr id="594" name="Google Shape;594;p55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Setting up PostgreSQL DB and Extract, Transform, and Load</a:t>
            </a:r>
            <a:endParaRPr/>
          </a:p>
        </p:txBody>
      </p:sp>
      <p:sp>
        <p:nvSpPr>
          <p:cNvPr id="595" name="Google Shape;595;p55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What can we </a:t>
            </a:r>
            <a:r>
              <a:rPr lang="en"/>
              <a:t>learn from this dataset?</a:t>
            </a:r>
            <a:endParaRPr/>
          </a:p>
        </p:txBody>
      </p:sp>
      <p:sp>
        <p:nvSpPr>
          <p:cNvPr id="596" name="Google Shape;596;p55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 SELECTION</a:t>
            </a:r>
            <a:endParaRPr/>
          </a:p>
        </p:txBody>
      </p:sp>
      <p:sp>
        <p:nvSpPr>
          <p:cNvPr id="597" name="Google Shape;597;p55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AND UNDERSTANDING</a:t>
            </a:r>
            <a:endParaRPr/>
          </a:p>
        </p:txBody>
      </p:sp>
      <p:sp>
        <p:nvSpPr>
          <p:cNvPr id="598" name="Google Shape;598;p55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NORMALIZATION</a:t>
            </a:r>
            <a:endParaRPr/>
          </a:p>
        </p:txBody>
      </p:sp>
      <p:sp>
        <p:nvSpPr>
          <p:cNvPr id="599" name="Google Shape;599;p55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SETUP AND ETL</a:t>
            </a:r>
            <a:endParaRPr/>
          </a:p>
        </p:txBody>
      </p:sp>
      <p:sp>
        <p:nvSpPr>
          <p:cNvPr id="600" name="Google Shape;600;p55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QUESTIONS</a:t>
            </a:r>
            <a:endParaRPr/>
          </a:p>
        </p:txBody>
      </p:sp>
      <p:sp>
        <p:nvSpPr>
          <p:cNvPr id="601" name="Google Shape;601;p55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6"/>
          <p:cNvSpPr/>
          <p:nvPr/>
        </p:nvSpPr>
        <p:spPr>
          <a:xfrm flipH="1" rot="-5400000">
            <a:off x="-32307" y="71374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07" name="Google Shape;6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725" y="983812"/>
            <a:ext cx="3811850" cy="19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6"/>
          <p:cNvSpPr txBox="1"/>
          <p:nvPr>
            <p:ph idx="1" type="body"/>
          </p:nvPr>
        </p:nvSpPr>
        <p:spPr>
          <a:xfrm>
            <a:off x="176275" y="1399363"/>
            <a:ext cx="43434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Simulated enterprise network (22 hosts) over 4 days (Jan 21-25, 2022).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A real multi-stage cyberattack: VPN breach → recon → web exploit → privilege escalation → data exfiltration via DNS tunneling.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Ground truth labels: 61,862 labeled attack events across 8 log files (labels are definitely correct)</a:t>
            </a:r>
            <a:endParaRPr sz="1300"/>
          </a:p>
        </p:txBody>
      </p:sp>
      <p:sp>
        <p:nvSpPr>
          <p:cNvPr id="609" name="Google Shape;609;p56"/>
          <p:cNvSpPr txBox="1"/>
          <p:nvPr>
            <p:ph type="title"/>
          </p:nvPr>
        </p:nvSpPr>
        <p:spPr>
          <a:xfrm>
            <a:off x="573525" y="95700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Dataset Selection &amp; Motivation</a:t>
            </a:r>
            <a:endParaRPr/>
          </a:p>
        </p:txBody>
      </p:sp>
      <p:sp>
        <p:nvSpPr>
          <p:cNvPr id="610" name="Google Shape;610;p56"/>
          <p:cNvSpPr txBox="1"/>
          <p:nvPr>
            <p:ph idx="5" type="subTitle"/>
          </p:nvPr>
        </p:nvSpPr>
        <p:spPr>
          <a:xfrm>
            <a:off x="347713" y="921582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it is:</a:t>
            </a:r>
            <a:endParaRPr b="1"/>
          </a:p>
        </p:txBody>
      </p:sp>
      <p:sp>
        <p:nvSpPr>
          <p:cNvPr id="611" name="Google Shape;611;p5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Scale:</a:t>
            </a:r>
            <a:endParaRPr b="1"/>
          </a:p>
        </p:txBody>
      </p:sp>
      <p:sp>
        <p:nvSpPr>
          <p:cNvPr id="612" name="Google Shape;612;p56"/>
          <p:cNvSpPr txBox="1"/>
          <p:nvPr>
            <p:ph idx="8" type="subTitle"/>
          </p:nvPr>
        </p:nvSpPr>
        <p:spPr>
          <a:xfrm>
            <a:off x="347725" y="2571738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we chose it:</a:t>
            </a:r>
            <a:endParaRPr b="1"/>
          </a:p>
        </p:txBody>
      </p:sp>
      <p:sp>
        <p:nvSpPr>
          <p:cNvPr id="613" name="Google Shape;613;p56"/>
          <p:cNvSpPr txBox="1"/>
          <p:nvPr>
            <p:ph idx="1" type="body"/>
          </p:nvPr>
        </p:nvSpPr>
        <p:spPr>
          <a:xfrm>
            <a:off x="195250" y="3086825"/>
            <a:ext cx="4417200" cy="122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Publicly available cybersecurity data with labeled ground truth is rare.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Inherently denormalized: 7 log formats (YAML, key-value auditd, JSONL, syslog, JSON, combined log format), requiring normalization to 3NF.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Tests the core question: Can relational databases and SQL detect and reconstruct a cyberattack from distributed security logs?</a:t>
            </a:r>
            <a:endParaRPr sz="900"/>
          </a:p>
        </p:txBody>
      </p:sp>
      <p:sp>
        <p:nvSpPr>
          <p:cNvPr id="614" name="Google Shape;614;p56"/>
          <p:cNvSpPr txBox="1"/>
          <p:nvPr>
            <p:ph idx="1" type="body"/>
          </p:nvPr>
        </p:nvSpPr>
        <p:spPr>
          <a:xfrm>
            <a:off x="4781400" y="3624372"/>
            <a:ext cx="4343400" cy="99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295,243 raw log lines across 8 source files on 5 hosts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61,862 ground truth attack labels (22 label types, 7 attack phases)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46 unique attributes across all log types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22 hosts in the network inventory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7"/>
          <p:cNvSpPr txBox="1"/>
          <p:nvPr>
            <p:ph idx="3" type="title"/>
          </p:nvPr>
        </p:nvSpPr>
        <p:spPr>
          <a:xfrm>
            <a:off x="284700" y="1761124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and Understanding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7"/>
          <p:cNvSpPr txBox="1"/>
          <p:nvPr>
            <p:ph idx="1" type="body"/>
          </p:nvPr>
        </p:nvSpPr>
        <p:spPr>
          <a:xfrm>
            <a:off x="286425" y="2475750"/>
            <a:ext cx="5014500" cy="235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All files were .log or .yaml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No built in row </a:t>
            </a:r>
            <a:r>
              <a:rPr lang="en" sz="1200"/>
              <a:t>separation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Some contained labelled attributes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Narrowed down scope to 10 files - dns, vpn, apache, audit, labels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Jupyter Notebooks for a comprehension pass on each file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22 - Attack label types</a:t>
            </a:r>
            <a:endParaRPr sz="1200"/>
          </a:p>
        </p:txBody>
      </p:sp>
      <p:pic>
        <p:nvPicPr>
          <p:cNvPr descr="Statistical and Data Analytics. (Provided by Getty Images)" id="621" name="Google Shape;621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5712" r="25712" t="0"/>
          <a:stretch/>
        </p:blipFill>
        <p:spPr>
          <a:xfrm>
            <a:off x="6335600" y="1231675"/>
            <a:ext cx="2808600" cy="2498700"/>
          </a:xfrm>
          <a:prstGeom prst="round1Rect">
            <a:avLst>
              <a:gd fmla="val 16667" name="adj"/>
            </a:avLst>
          </a:prstGeom>
        </p:spPr>
      </p:pic>
      <p:sp>
        <p:nvSpPr>
          <p:cNvPr id="622" name="Google Shape;622;p57"/>
          <p:cNvSpPr txBox="1"/>
          <p:nvPr>
            <p:ph type="title"/>
          </p:nvPr>
        </p:nvSpPr>
        <p:spPr>
          <a:xfrm>
            <a:off x="284700" y="1220025"/>
            <a:ext cx="7140900" cy="4164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2:</a:t>
            </a:r>
            <a:endParaRPr/>
          </a:p>
        </p:txBody>
      </p:sp>
      <p:sp>
        <p:nvSpPr>
          <p:cNvPr id="623" name="Google Shape;623;p57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24" name="Google Shape;624;p57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8"/>
          <p:cNvSpPr txBox="1"/>
          <p:nvPr>
            <p:ph idx="4294967295" type="title"/>
          </p:nvPr>
        </p:nvSpPr>
        <p:spPr>
          <a:xfrm>
            <a:off x="425325" y="474750"/>
            <a:ext cx="7840200" cy="813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 Log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0" name="Google Shape;630;p58" title="carbon.png"/>
          <p:cNvPicPr preferRelativeResize="0"/>
          <p:nvPr/>
        </p:nvPicPr>
        <p:blipFill rotWithShape="1">
          <a:blip r:embed="rId3">
            <a:alphaModFix/>
          </a:blip>
          <a:srcRect b="5392" l="5575" r="6498" t="16355"/>
          <a:stretch/>
        </p:blipFill>
        <p:spPr>
          <a:xfrm>
            <a:off x="1215298" y="1288650"/>
            <a:ext cx="6487204" cy="356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9"/>
          <p:cNvSpPr txBox="1"/>
          <p:nvPr>
            <p:ph idx="5" type="title"/>
          </p:nvPr>
        </p:nvSpPr>
        <p:spPr>
          <a:xfrm>
            <a:off x="275850" y="1311574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 normalization</a:t>
            </a:r>
            <a:endParaRPr/>
          </a:p>
        </p:txBody>
      </p:sp>
      <p:sp>
        <p:nvSpPr>
          <p:cNvPr id="636" name="Google Shape;636;p59"/>
          <p:cNvSpPr txBox="1"/>
          <p:nvPr>
            <p:ph idx="3" type="body"/>
          </p:nvPr>
        </p:nvSpPr>
        <p:spPr>
          <a:xfrm>
            <a:off x="275850" y="1970175"/>
            <a:ext cx="4992600" cy="2153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attempted independent normalization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Most tables had 1NF violations, with attributes containing values.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 files contained nested 1NF violations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 2NF violations - only one composite key</a:t>
            </a:r>
            <a:endParaRPr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Many instances of functional dependencies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Young school teacher (Provided by Getty Images)" id="637" name="Google Shape;637;p59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25809" r="25804" t="0"/>
          <a:stretch/>
        </p:blipFill>
        <p:spPr>
          <a:xfrm>
            <a:off x="6324600" y="0"/>
            <a:ext cx="2819400" cy="3715800"/>
          </a:xfrm>
          <a:prstGeom prst="round2SameRect">
            <a:avLst>
              <a:gd fmla="val 16667" name="adj1"/>
              <a:gd fmla="val 0" name="adj2"/>
            </a:avLst>
          </a:prstGeom>
        </p:spPr>
      </p:pic>
      <p:sp>
        <p:nvSpPr>
          <p:cNvPr id="638" name="Google Shape;638;p59"/>
          <p:cNvSpPr txBox="1"/>
          <p:nvPr>
            <p:ph type="title"/>
          </p:nvPr>
        </p:nvSpPr>
        <p:spPr>
          <a:xfrm>
            <a:off x="275850" y="537924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3:</a:t>
            </a:r>
            <a:endParaRPr/>
          </a:p>
        </p:txBody>
      </p:sp>
      <p:sp>
        <p:nvSpPr>
          <p:cNvPr id="639" name="Google Shape;639;p5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40" name="Google Shape;640;p59"/>
          <p:cNvSpPr/>
          <p:nvPr/>
        </p:nvSpPr>
        <p:spPr>
          <a:xfrm flipH="1" rot="-5400000">
            <a:off x="0" y="162300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41" name="Google Shape;641;p59" title="raw-msg-blob.png"/>
          <p:cNvPicPr preferRelativeResize="0"/>
          <p:nvPr/>
        </p:nvPicPr>
        <p:blipFill rotWithShape="1">
          <a:blip r:embed="rId4">
            <a:alphaModFix/>
          </a:blip>
          <a:srcRect b="20333" l="4667" r="5056" t="21204"/>
          <a:stretch/>
        </p:blipFill>
        <p:spPr>
          <a:xfrm>
            <a:off x="328400" y="3461675"/>
            <a:ext cx="4583025" cy="7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59" title="normalized-msg-blob.png"/>
          <p:cNvPicPr preferRelativeResize="0"/>
          <p:nvPr/>
        </p:nvPicPr>
        <p:blipFill rotWithShape="1">
          <a:blip r:embed="rId5">
            <a:alphaModFix/>
          </a:blip>
          <a:srcRect b="43056" l="0" r="0" t="31224"/>
          <a:stretch/>
        </p:blipFill>
        <p:spPr>
          <a:xfrm>
            <a:off x="328400" y="4275826"/>
            <a:ext cx="4583025" cy="78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0"/>
          <p:cNvSpPr txBox="1"/>
          <p:nvPr>
            <p:ph idx="4294967295" type="title"/>
          </p:nvPr>
        </p:nvSpPr>
        <p:spPr>
          <a:xfrm>
            <a:off x="284700" y="107400"/>
            <a:ext cx="5881500" cy="813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EER Diagram - First Attempts</a:t>
            </a:r>
            <a:endParaRPr sz="3000"/>
          </a:p>
        </p:txBody>
      </p:sp>
      <p:pic>
        <p:nvPicPr>
          <p:cNvPr id="648" name="Google Shape;648;p60" title="Data 201 Group Project ER Diagram first ru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088" y="872275"/>
            <a:ext cx="2693226" cy="391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202" y="1021351"/>
            <a:ext cx="5062098" cy="3341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0"/>
          <p:cNvSpPr/>
          <p:nvPr/>
        </p:nvSpPr>
        <p:spPr>
          <a:xfrm>
            <a:off x="819150" y="2886075"/>
            <a:ext cx="743100" cy="51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51" name="Google Shape;651;p60"/>
          <p:cNvCxnSpPr/>
          <p:nvPr/>
        </p:nvCxnSpPr>
        <p:spPr>
          <a:xfrm flipH="1" rot="10800000">
            <a:off x="1558625" y="1047975"/>
            <a:ext cx="2241900" cy="184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60"/>
          <p:cNvCxnSpPr/>
          <p:nvPr/>
        </p:nvCxnSpPr>
        <p:spPr>
          <a:xfrm>
            <a:off x="1558625" y="3401100"/>
            <a:ext cx="2241900" cy="94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60"/>
          <p:cNvSpPr/>
          <p:nvPr/>
        </p:nvSpPr>
        <p:spPr>
          <a:xfrm>
            <a:off x="3797350" y="1021350"/>
            <a:ext cx="5062200" cy="334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1"/>
          <p:cNvSpPr txBox="1"/>
          <p:nvPr>
            <p:ph idx="4294967295" type="title"/>
          </p:nvPr>
        </p:nvSpPr>
        <p:spPr>
          <a:xfrm>
            <a:off x="284700" y="107400"/>
            <a:ext cx="7527600" cy="813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EER Diagram - Simplified Target 3NF</a:t>
            </a:r>
            <a:endParaRPr sz="3000"/>
          </a:p>
        </p:txBody>
      </p:sp>
      <p:sp>
        <p:nvSpPr>
          <p:cNvPr id="659" name="Google Shape;659;p61"/>
          <p:cNvSpPr txBox="1"/>
          <p:nvPr>
            <p:ph idx="4294967295" type="body"/>
          </p:nvPr>
        </p:nvSpPr>
        <p:spPr>
          <a:xfrm>
            <a:off x="201750" y="1110500"/>
            <a:ext cx="4290600" cy="215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Significantly reduced scope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Derived from: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Hosts (Servers)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Intranet Audit Logs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Internal Share Audit Logs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Labels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Resulting 20+ Tables</a:t>
            </a:r>
            <a:endParaRPr/>
          </a:p>
        </p:txBody>
      </p:sp>
      <p:pic>
        <p:nvPicPr>
          <p:cNvPr id="660" name="Google Shape;660;p61" title="combined_eer_3nf_v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1025" y="835775"/>
            <a:ext cx="4968277" cy="396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2"/>
          <p:cNvSpPr txBox="1"/>
          <p:nvPr>
            <p:ph idx="4294967295" type="title"/>
          </p:nvPr>
        </p:nvSpPr>
        <p:spPr>
          <a:xfrm>
            <a:off x="284700" y="107400"/>
            <a:ext cx="7527600" cy="813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Relational Schema</a:t>
            </a:r>
            <a:r>
              <a:rPr lang="en" sz="3000"/>
              <a:t> - Implemented</a:t>
            </a:r>
            <a:endParaRPr sz="3000"/>
          </a:p>
        </p:txBody>
      </p:sp>
      <p:pic>
        <p:nvPicPr>
          <p:cNvPr id="666" name="Google Shape;666;p62" title="Data-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3700"/>
            <a:ext cx="8839204" cy="305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3"/>
          <p:cNvSpPr txBox="1"/>
          <p:nvPr>
            <p:ph idx="1" type="body"/>
          </p:nvPr>
        </p:nvSpPr>
        <p:spPr>
          <a:xfrm>
            <a:off x="414900" y="1345800"/>
            <a:ext cx="4737900" cy="2821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Infrastructure:</a:t>
            </a:r>
            <a:r>
              <a:rPr lang="en" sz="900"/>
              <a:t> PostgreSQL 16 (Docker) | Alembic migrations | pgAdmin 4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Project structure: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/>
              <a:t>  src/models/     		SQLAlchemy ORM models (staging + final 3NF)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/>
              <a:t>  src/parsers/    		Parse raw files into structured dicts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/>
              <a:t>  src/loaders/    		Load parsed data into PostgreSQL tables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/>
              <a:t>  alembic/        		Versioned migration scripts for schema changes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/>
              <a:t>ETL pipeline</a:t>
            </a:r>
            <a:r>
              <a:rPr lang="en" sz="1100"/>
              <a:t> (ran twice)</a:t>
            </a:r>
            <a:r>
              <a:rPr lang="en" sz="900"/>
              <a:t>: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Raw files → staging tables (source-faithful, 1NF violations preserved)</a:t>
            </a:r>
            <a:endParaRPr sz="900"/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n" sz="900"/>
              <a:t>Staging tables -&gt; final 3NF tables (normalization applied</a:t>
            </a:r>
            <a:r>
              <a:rPr lang="en" sz="900"/>
              <a:t>)</a:t>
            </a:r>
            <a:endParaRPr sz="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100"/>
              <a:t>22 normalized tables loaded:</a:t>
            </a:r>
            <a:r>
              <a:rPr lang="en" sz="900"/>
              <a:t> 439,000+ rows</a:t>
            </a:r>
            <a:endParaRPr sz="900"/>
          </a:p>
        </p:txBody>
      </p:sp>
      <p:sp>
        <p:nvSpPr>
          <p:cNvPr id="672" name="Google Shape;672;p63"/>
          <p:cNvSpPr/>
          <p:nvPr/>
        </p:nvSpPr>
        <p:spPr>
          <a:xfrm flipH="1" rot="-5400000">
            <a:off x="116677" y="88193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3" name="Google Shape;673;p63"/>
          <p:cNvSpPr txBox="1"/>
          <p:nvPr>
            <p:ph type="title"/>
          </p:nvPr>
        </p:nvSpPr>
        <p:spPr>
          <a:xfrm>
            <a:off x="755100" y="107863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4: </a:t>
            </a:r>
            <a:r>
              <a:rPr lang="en"/>
              <a:t>Database Setup &amp; ETL</a:t>
            </a:r>
            <a:endParaRPr/>
          </a:p>
        </p:txBody>
      </p:sp>
      <p:pic>
        <p:nvPicPr>
          <p:cNvPr id="674" name="Google Shape;674;p63" title="db setup &amp; etl.png"/>
          <p:cNvPicPr preferRelativeResize="0"/>
          <p:nvPr/>
        </p:nvPicPr>
        <p:blipFill rotWithShape="1">
          <a:blip r:embed="rId3">
            <a:alphaModFix/>
          </a:blip>
          <a:srcRect b="4796" l="0" r="0" t="1894"/>
          <a:stretch/>
        </p:blipFill>
        <p:spPr>
          <a:xfrm>
            <a:off x="5682450" y="986325"/>
            <a:ext cx="2718100" cy="3950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Questions</a:t>
            </a:r>
            <a:endParaRPr/>
          </a:p>
        </p:txBody>
      </p:sp>
      <p:pic>
        <p:nvPicPr>
          <p:cNvPr descr="Empty cubicles in office (Provided by Getty Images)" id="680" name="Google Shape;680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144" r="24144" t="0"/>
          <a:stretch/>
        </p:blipFill>
        <p:spPr>
          <a:xfrm>
            <a:off x="6364225" y="0"/>
            <a:ext cx="2784600" cy="3775800"/>
          </a:xfrm>
          <a:prstGeom prst="round1Rect">
            <a:avLst>
              <a:gd fmla="val 16667" name="adj"/>
            </a:avLst>
          </a:prstGeom>
        </p:spPr>
      </p:pic>
      <p:sp>
        <p:nvSpPr>
          <p:cNvPr id="681" name="Google Shape;681;p6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5:</a:t>
            </a:r>
            <a:endParaRPr/>
          </a:p>
        </p:txBody>
      </p:sp>
      <p:sp>
        <p:nvSpPr>
          <p:cNvPr id="682" name="Google Shape;682;p6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83" name="Google Shape;683;p64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5"/>
          <p:cNvSpPr/>
          <p:nvPr/>
        </p:nvSpPr>
        <p:spPr>
          <a:xfrm>
            <a:off x="284700" y="1136847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1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89" name="Google Shape;689;p65"/>
          <p:cNvSpPr/>
          <p:nvPr/>
        </p:nvSpPr>
        <p:spPr>
          <a:xfrm>
            <a:off x="3168582" y="1115700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2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0" name="Google Shape;690;p65"/>
          <p:cNvSpPr/>
          <p:nvPr/>
        </p:nvSpPr>
        <p:spPr>
          <a:xfrm>
            <a:off x="6052464" y="1115700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3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1" name="Google Shape;691;p65"/>
          <p:cNvSpPr txBox="1"/>
          <p:nvPr>
            <p:ph idx="1" type="body"/>
          </p:nvPr>
        </p:nvSpPr>
        <p:spPr>
          <a:xfrm>
            <a:off x="3314566" y="15387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labeled lines does each source host have?</a:t>
            </a:r>
            <a:endParaRPr/>
          </a:p>
        </p:txBody>
      </p:sp>
      <p:sp>
        <p:nvSpPr>
          <p:cNvPr id="692" name="Google Shape;692;p65"/>
          <p:cNvSpPr txBox="1"/>
          <p:nvPr>
            <p:ph idx="2" type="body"/>
          </p:nvPr>
        </p:nvSpPr>
        <p:spPr>
          <a:xfrm>
            <a:off x="430698" y="15387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labels types are there in each attack phase?</a:t>
            </a:r>
            <a:endParaRPr/>
          </a:p>
        </p:txBody>
      </p:sp>
      <p:sp>
        <p:nvSpPr>
          <p:cNvPr id="693" name="Google Shape;693;p65"/>
          <p:cNvSpPr txBox="1"/>
          <p:nvPr>
            <p:ph idx="3" type="body"/>
          </p:nvPr>
        </p:nvSpPr>
        <p:spPr>
          <a:xfrm>
            <a:off x="6198455" y="15387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labeling and souce host related to source log files?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5"/>
          <p:cNvSpPr txBox="1"/>
          <p:nvPr>
            <p:ph type="title"/>
          </p:nvPr>
        </p:nvSpPr>
        <p:spPr>
          <a:xfrm>
            <a:off x="289909" y="526497"/>
            <a:ext cx="72060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River’s Business Questions</a:t>
            </a:r>
            <a:endParaRPr sz="3200"/>
          </a:p>
        </p:txBody>
      </p:sp>
      <p:sp>
        <p:nvSpPr>
          <p:cNvPr id="695" name="Google Shape;695;p65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96" name="Google Shape;696;p65"/>
          <p:cNvSpPr/>
          <p:nvPr/>
        </p:nvSpPr>
        <p:spPr>
          <a:xfrm>
            <a:off x="284588" y="2307372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1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7" name="Google Shape;697;p65"/>
          <p:cNvSpPr/>
          <p:nvPr/>
        </p:nvSpPr>
        <p:spPr>
          <a:xfrm>
            <a:off x="3168469" y="2286225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2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98" name="Google Shape;698;p65"/>
          <p:cNvSpPr/>
          <p:nvPr/>
        </p:nvSpPr>
        <p:spPr>
          <a:xfrm>
            <a:off x="6052351" y="2286225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3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9" name="Google Shape;69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549" y="2706600"/>
            <a:ext cx="1908275" cy="2237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575" y="2682913"/>
            <a:ext cx="2391750" cy="2284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600" y="2824026"/>
            <a:ext cx="2252199" cy="21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6"/>
          <p:cNvSpPr/>
          <p:nvPr/>
        </p:nvSpPr>
        <p:spPr>
          <a:xfrm>
            <a:off x="284700" y="1136847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1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7" name="Google Shape;707;p66"/>
          <p:cNvSpPr/>
          <p:nvPr/>
        </p:nvSpPr>
        <p:spPr>
          <a:xfrm>
            <a:off x="3168582" y="1115700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2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8" name="Google Shape;708;p66"/>
          <p:cNvSpPr/>
          <p:nvPr/>
        </p:nvSpPr>
        <p:spPr>
          <a:xfrm>
            <a:off x="6052464" y="1115700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3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09" name="Google Shape;709;p66"/>
          <p:cNvSpPr txBox="1"/>
          <p:nvPr>
            <p:ph idx="1" type="body"/>
          </p:nvPr>
        </p:nvSpPr>
        <p:spPr>
          <a:xfrm>
            <a:off x="430691" y="15387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events does each host generate per day, and which days are that host’s busiest?</a:t>
            </a:r>
            <a:endParaRPr/>
          </a:p>
        </p:txBody>
      </p:sp>
      <p:sp>
        <p:nvSpPr>
          <p:cNvPr id="710" name="Google Shape;710;p66"/>
          <p:cNvSpPr txBox="1"/>
          <p:nvPr>
            <p:ph idx="2" type="body"/>
          </p:nvPr>
        </p:nvSpPr>
        <p:spPr>
          <a:xfrm>
            <a:off x="3314573" y="15387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labeled lines do we have per attack phase?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 txBox="1"/>
          <p:nvPr>
            <p:ph idx="3" type="body"/>
          </p:nvPr>
        </p:nvSpPr>
        <p:spPr>
          <a:xfrm>
            <a:off x="6198455" y="15387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top 10 most used labeling rules?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6"/>
          <p:cNvSpPr txBox="1"/>
          <p:nvPr>
            <p:ph type="title"/>
          </p:nvPr>
        </p:nvSpPr>
        <p:spPr>
          <a:xfrm>
            <a:off x="289909" y="526497"/>
            <a:ext cx="72060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Ishaan’s</a:t>
            </a:r>
            <a:r>
              <a:rPr lang="en" sz="3200"/>
              <a:t> Business Questions</a:t>
            </a:r>
            <a:endParaRPr sz="3200"/>
          </a:p>
        </p:txBody>
      </p:sp>
      <p:sp>
        <p:nvSpPr>
          <p:cNvPr id="713" name="Google Shape;713;p66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714" name="Google Shape;714;p66"/>
          <p:cNvSpPr/>
          <p:nvPr/>
        </p:nvSpPr>
        <p:spPr>
          <a:xfrm>
            <a:off x="284588" y="2592897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1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15" name="Google Shape;715;p66"/>
          <p:cNvSpPr/>
          <p:nvPr/>
        </p:nvSpPr>
        <p:spPr>
          <a:xfrm>
            <a:off x="3168469" y="2571750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2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16" name="Google Shape;716;p66"/>
          <p:cNvSpPr/>
          <p:nvPr/>
        </p:nvSpPr>
        <p:spPr>
          <a:xfrm>
            <a:off x="6052351" y="2571750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3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17" name="Google Shape;717;p66"/>
          <p:cNvSpPr txBox="1"/>
          <p:nvPr>
            <p:ph idx="2" type="body"/>
          </p:nvPr>
        </p:nvSpPr>
        <p:spPr>
          <a:xfrm>
            <a:off x="3358623" y="30434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66"/>
          <p:cNvSpPr txBox="1"/>
          <p:nvPr>
            <p:ph idx="3" type="body"/>
          </p:nvPr>
        </p:nvSpPr>
        <p:spPr>
          <a:xfrm>
            <a:off x="6242505" y="304345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description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9" name="Google Shape;7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8575" y="2993096"/>
            <a:ext cx="2135999" cy="2150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738" y="3159525"/>
            <a:ext cx="2664115" cy="18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4362" y="3086450"/>
            <a:ext cx="2276436" cy="196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7"/>
          <p:cNvSpPr/>
          <p:nvPr/>
        </p:nvSpPr>
        <p:spPr>
          <a:xfrm>
            <a:off x="1222675" y="914175"/>
            <a:ext cx="2504400" cy="409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the baseline service activity on monitored hosts?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7" name="Google Shape;727;p67"/>
          <p:cNvSpPr txBox="1"/>
          <p:nvPr>
            <p:ph type="title"/>
          </p:nvPr>
        </p:nvSpPr>
        <p:spPr>
          <a:xfrm>
            <a:off x="289909" y="107242"/>
            <a:ext cx="72060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Naman’s</a:t>
            </a:r>
            <a:r>
              <a:rPr lang="en" sz="3200"/>
              <a:t> Business Questions</a:t>
            </a:r>
            <a:endParaRPr sz="3200"/>
          </a:p>
        </p:txBody>
      </p:sp>
      <p:sp>
        <p:nvSpPr>
          <p:cNvPr id="728" name="Google Shape;728;p67"/>
          <p:cNvSpPr/>
          <p:nvPr/>
        </p:nvSpPr>
        <p:spPr>
          <a:xfrm>
            <a:off x="1222663" y="3619642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Finding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29" name="Google Shape;729;p67"/>
          <p:cNvSpPr txBox="1"/>
          <p:nvPr>
            <p:ph idx="1" type="body"/>
          </p:nvPr>
        </p:nvSpPr>
        <p:spPr>
          <a:xfrm>
            <a:off x="1412816" y="4070199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"put" service on internal_share: 1 start, 1 stop amid hundreds of routine services. Anomalous.</a:t>
            </a:r>
            <a:endParaRPr i="1"/>
          </a:p>
        </p:txBody>
      </p:sp>
      <p:pic>
        <p:nvPicPr>
          <p:cNvPr id="730" name="Google Shape;730;p67" title="query1.png"/>
          <p:cNvPicPr preferRelativeResize="0"/>
          <p:nvPr/>
        </p:nvPicPr>
        <p:blipFill rotWithShape="1">
          <a:blip r:embed="rId3">
            <a:alphaModFix/>
          </a:blip>
          <a:srcRect b="10884" l="5413" r="5998" t="10530"/>
          <a:stretch/>
        </p:blipFill>
        <p:spPr>
          <a:xfrm>
            <a:off x="549600" y="1509250"/>
            <a:ext cx="4174340" cy="19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7" title="query1-result.png"/>
          <p:cNvPicPr preferRelativeResize="0"/>
          <p:nvPr/>
        </p:nvPicPr>
        <p:blipFill rotWithShape="1">
          <a:blip r:embed="rId4">
            <a:alphaModFix/>
          </a:blip>
          <a:srcRect b="4537" l="8280" r="8338" t="5080"/>
          <a:stretch/>
        </p:blipFill>
        <p:spPr>
          <a:xfrm>
            <a:off x="5519302" y="730100"/>
            <a:ext cx="2463951" cy="416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8"/>
          <p:cNvSpPr/>
          <p:nvPr/>
        </p:nvSpPr>
        <p:spPr>
          <a:xfrm>
            <a:off x="381800" y="1068025"/>
            <a:ext cx="2763600" cy="756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Where does the attack leave the most evidence, and which phases are hardest to detect?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37" name="Google Shape;737;p68"/>
          <p:cNvSpPr txBox="1"/>
          <p:nvPr>
            <p:ph type="title"/>
          </p:nvPr>
        </p:nvSpPr>
        <p:spPr>
          <a:xfrm>
            <a:off x="284709" y="103147"/>
            <a:ext cx="72060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Naman’s Business Questions</a:t>
            </a:r>
            <a:endParaRPr sz="3200"/>
          </a:p>
        </p:txBody>
      </p:sp>
      <p:sp>
        <p:nvSpPr>
          <p:cNvPr id="738" name="Google Shape;738;p68"/>
          <p:cNvSpPr txBox="1"/>
          <p:nvPr>
            <p:ph idx="2" type="body"/>
          </p:nvPr>
        </p:nvSpPr>
        <p:spPr>
          <a:xfrm>
            <a:off x="757448" y="3810404"/>
            <a:ext cx="21360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Exfiltration</a:t>
            </a:r>
            <a:r>
              <a:rPr i="1" lang="en"/>
              <a:t>: 53K lines in 2 sources. </a:t>
            </a:r>
            <a:r>
              <a:rPr b="1" i="1" lang="en"/>
              <a:t>Privilege escalation</a:t>
            </a:r>
            <a:r>
              <a:rPr i="1" lang="en"/>
              <a:t>: only 82 lines but across 5 sources. The most critical phase is the quietest. The </a:t>
            </a:r>
            <a:r>
              <a:rPr i="1" lang="en"/>
              <a:t>silent</a:t>
            </a:r>
            <a:r>
              <a:rPr i="1" lang="en"/>
              <a:t> killer.</a:t>
            </a:r>
            <a:endParaRPr i="1"/>
          </a:p>
        </p:txBody>
      </p:sp>
      <p:pic>
        <p:nvPicPr>
          <p:cNvPr id="739" name="Google Shape;739;p68" title="query2.png"/>
          <p:cNvPicPr preferRelativeResize="0"/>
          <p:nvPr/>
        </p:nvPicPr>
        <p:blipFill rotWithShape="1">
          <a:blip r:embed="rId3">
            <a:alphaModFix/>
          </a:blip>
          <a:srcRect b="12872" l="5131" r="5005" t="13065"/>
          <a:stretch/>
        </p:blipFill>
        <p:spPr>
          <a:xfrm>
            <a:off x="3609200" y="704700"/>
            <a:ext cx="5133201" cy="1679149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8"/>
          <p:cNvSpPr/>
          <p:nvPr/>
        </p:nvSpPr>
        <p:spPr>
          <a:xfrm>
            <a:off x="443650" y="2919200"/>
            <a:ext cx="2763600" cy="756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Finding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41" name="Google Shape;741;p68" title="query2-result.png"/>
          <p:cNvPicPr preferRelativeResize="0"/>
          <p:nvPr/>
        </p:nvPicPr>
        <p:blipFill rotWithShape="1">
          <a:blip r:embed="rId4">
            <a:alphaModFix/>
          </a:blip>
          <a:srcRect b="25272" l="24514" r="23680" t="20404"/>
          <a:stretch/>
        </p:blipFill>
        <p:spPr>
          <a:xfrm>
            <a:off x="4185014" y="2870800"/>
            <a:ext cx="3626926" cy="185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9"/>
          <p:cNvSpPr/>
          <p:nvPr/>
        </p:nvSpPr>
        <p:spPr>
          <a:xfrm>
            <a:off x="447375" y="998613"/>
            <a:ext cx="2616900" cy="633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Can we reconstruct the exact privilege escalation attack sequence?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47" name="Google Shape;747;p69"/>
          <p:cNvSpPr txBox="1"/>
          <p:nvPr>
            <p:ph type="title"/>
          </p:nvPr>
        </p:nvSpPr>
        <p:spPr>
          <a:xfrm>
            <a:off x="284709" y="103147"/>
            <a:ext cx="72060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Naman’s Business Questions</a:t>
            </a:r>
            <a:endParaRPr sz="3200"/>
          </a:p>
        </p:txBody>
      </p:sp>
      <p:sp>
        <p:nvSpPr>
          <p:cNvPr id="748" name="Google Shape;748;p69"/>
          <p:cNvSpPr/>
          <p:nvPr/>
        </p:nvSpPr>
        <p:spPr>
          <a:xfrm>
            <a:off x="4816676" y="2392788"/>
            <a:ext cx="2428200" cy="357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Finding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49" name="Google Shape;749;p69" title="query3.png"/>
          <p:cNvPicPr preferRelativeResize="0"/>
          <p:nvPr/>
        </p:nvPicPr>
        <p:blipFill rotWithShape="1">
          <a:blip r:embed="rId3">
            <a:alphaModFix/>
          </a:blip>
          <a:srcRect b="5383" l="5577" r="5193" t="5339"/>
          <a:stretch/>
        </p:blipFill>
        <p:spPr>
          <a:xfrm>
            <a:off x="284700" y="1808825"/>
            <a:ext cx="3020373" cy="30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9" title="query3-result.png"/>
          <p:cNvPicPr preferRelativeResize="0"/>
          <p:nvPr/>
        </p:nvPicPr>
        <p:blipFill rotWithShape="1">
          <a:blip r:embed="rId4">
            <a:alphaModFix/>
          </a:blip>
          <a:srcRect b="0" l="6931" r="7283" t="8950"/>
          <a:stretch/>
        </p:blipFill>
        <p:spPr>
          <a:xfrm>
            <a:off x="3434925" y="3380650"/>
            <a:ext cx="5646177" cy="12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0"/>
          <p:cNvSpPr txBox="1"/>
          <p:nvPr>
            <p:ph type="title"/>
          </p:nvPr>
        </p:nvSpPr>
        <p:spPr>
          <a:xfrm>
            <a:off x="283475" y="515425"/>
            <a:ext cx="6003000" cy="40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Challenges and Next Steps</a:t>
            </a:r>
            <a:endParaRPr sz="2600"/>
          </a:p>
        </p:txBody>
      </p:sp>
      <p:sp>
        <p:nvSpPr>
          <p:cNvPr id="756" name="Google Shape;756;p7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757" name="Google Shape;757;p70"/>
          <p:cNvSpPr txBox="1"/>
          <p:nvPr/>
        </p:nvSpPr>
        <p:spPr>
          <a:xfrm>
            <a:off x="728375" y="1288675"/>
            <a:ext cx="6323400" cy="3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Massive, highly technical dataset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Inconsistent formatting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Heavy time investment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 data transformation and integration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Expand data scope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Construct attack timeline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Visualize insights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Deliver technical report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3d Speech bubble whats next? (Provided by Getty Images)" id="758" name="Google Shape;75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400" y="1427825"/>
            <a:ext cx="3620598" cy="271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1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764" name="Google Shape;764;p71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 Tools</a:t>
            </a:r>
            <a:endParaRPr/>
          </a:p>
        </p:txBody>
      </p:sp>
      <p:sp>
        <p:nvSpPr>
          <p:cNvPr id="765" name="Google Shape;765;p71"/>
          <p:cNvSpPr txBox="1"/>
          <p:nvPr>
            <p:ph type="title"/>
          </p:nvPr>
        </p:nvSpPr>
        <p:spPr>
          <a:xfrm>
            <a:off x="189600" y="994113"/>
            <a:ext cx="4382400" cy="363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Github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Version Control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Trunk-based development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Linear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Sprint </a:t>
            </a:r>
            <a:r>
              <a:rPr lang="en" sz="1200"/>
              <a:t>planning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Task tracking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Slack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Communications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Docker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Reproducible PostgreSQL environment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Alembic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Database migration management</a:t>
            </a:r>
            <a:endParaRPr sz="1200"/>
          </a:p>
        </p:txBody>
      </p:sp>
      <p:pic>
        <p:nvPicPr>
          <p:cNvPr id="766" name="Google Shape;76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2651" y="334550"/>
            <a:ext cx="1524950" cy="1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9900" y="295375"/>
            <a:ext cx="1524950" cy="15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9912" y="1957525"/>
            <a:ext cx="1524925" cy="152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2650" y="3865125"/>
            <a:ext cx="3412200" cy="71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12650" y="2047850"/>
            <a:ext cx="1524952" cy="1524948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71"/>
          <p:cNvSpPr txBox="1"/>
          <p:nvPr/>
        </p:nvSpPr>
        <p:spPr>
          <a:xfrm>
            <a:off x="0" y="4743300"/>
            <a:ext cx="57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Github Repo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2"/>
          <p:cNvSpPr txBox="1"/>
          <p:nvPr>
            <p:ph type="title"/>
          </p:nvPr>
        </p:nvSpPr>
        <p:spPr>
          <a:xfrm>
            <a:off x="284700" y="1872001"/>
            <a:ext cx="4287300" cy="1399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3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782" name="Google Shape;782;p7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