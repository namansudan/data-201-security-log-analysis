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0:15. Hi everyone, I am River, and with Naman and Ishaan we are Group 5. Our project is a security log analysis. We took the russellmitchell slice of the AIT Log Data Set V2.0, loaded it into a 3NF PostgreSQL schema, and used SQL plus a Streamlit dashboard to reconstruct one specific attack: a web foothold that becomes a privilege escalation chain on a host called intranet_server. The whole story today fits inside 9 audit events on one host on one day. I cover tech stack first, then Ishaan walks the data and the schema, I cover the SQL portfolio, then we each take a deep dive (Naman has two), Ishaan demos the dashboard, and I close with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0:45. Quick word on how we built this. Github for version control with PRs reviewed before merge. Linear for sprint planning and task tracking against the rubric line items. Slack for day-to-day. Docker for a reproducible PostgreSQL 16 environment so any of us can rebuild the database from scratch in one command. Alembic for schema migrations, every table change is a migration in the repo. Streamlit plus Plotly for the dashboard layer hitting Postgres. Project management is a rubric line item, so this slide is partly that evidence. Hand to Ishaan for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1:00. Thanks River. The dataset is the AIT Log Data Set V2.0, russellmitchell testbed, a published academic intrusion dataset. Inside that slice there are 22 hosts in the inventory, 8 distinct source log files, and 61,862 lines that researchers labeled as attack activity. We loaded it into PostgreSQL 16 in third normal form, about 439,000 rows total across 22 tables in 3 domains: host inventory, audit events, and attack labels. The story we will tell today crosses all three domains: a foothold on access.log.2 leads into the audit.log su and then sudo chain on intranet_server. Next slide shows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0:55. This is the official EER diagram for the schema, Chen notation, primary keys underlined, FK constraints arrowed. Three takeaways before we move on. One, audit_event is a supertype: it joins host on host_id and decomposes into 8 subtype tables, one per audit type family, plus audit_message for the PAM payload. That is the key normalization decision. Two, labeled_line gives provenance into both access.log and audit.log via source_host plus source_log plus line_number, which is how we tie attack labels to either log family. Three, the join we use across the deck is audit_event to host on host_id, plus audit_event to labeled_line on the line_number key, plus labeled_line to attack_label and attack_phase through the M-to-N junction. Hand back to River for the SQL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0:50. We wrote 23 SQL items total, 7 basic and 16 advanced, across 6 SQL categories. The full portfolio is in the GitHub repo and section 6 of the technical report. We are not going to walk every query. We picked four deep dives that map to the attack story and show diverse advanced SQL across the three of us. Mine, CTE plus NTILE on the foothold log. Naman, the saved view that builds the privilege escalation timeline, plus EXPLAIN ANALYZE with a composite index for incident-response performance. Ishaan, EXISTS subquery on which auditd types fire during the chain. Everything else lives in the repo. Next is my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1:15. Question: where in access.log.2 does the foothold turn into escalation evidence. The query uses a CTE that joins labeled_line, the M-to-N junction labeled_line_label, attack_label, and attack_phase, scoped to source_host intranet_server, source_log access.log.2, and the two phases initial_access and privilege_escalation. NTILE of 3 over line_number buckets the log into thirds. The result has phase split by third. Initial-access foothold lines spread across all three thirds. Privilege-escalation evidence appears only in the late third. So the inflection point is in the access log itself, you just need a window function to see it. NTILE turns raw line position into a readable attack journey. Hand to Naman.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1:15. Hi, I am Naman. My contribution is a saved view that builds the privilege escalation timeline as a single relation the dashboard can query. The view joins audit_event to host, left joins audit_message for the PAM payload, then joins labeled_line and the M-to-N path to attack_label and attack_phase, filtered to phase_name privilege_escalation. string_agg with DISTINCT and ORDER BY collapses many labels per event into one readable column, and a left join to labeled_line_rule does the same for rule names. Eight tables, one view, group-by on the seven non-aggregated columns. The result is the timeline rows you see on the right: nine events, two bursts, su then sudo. The dashboard reads from this view, not from a giant ad-hoc join. That is the saved view as a reusable abstraction. Hand to Ishaan.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1:10. Question: which audit event types fire on the same intranet_server lines that carry a privilege_escalation label. The query is an EXISTS subquery with a 4-table body, joining labeled_line, labeled_line_label, attack_label, attack_phase, correlated to audit_event by host_key plus line_number. The outer query is DISTINCT type from audit_event filtered by host_key intranet_server. Result: 8 rows. Three CRED types, ACQ, DISP, REFR. Five USER types, ACCT, AUTH, CMD, END, START. The screenshot from pgAdmin on the right is the proof that the query runs in 0.233 seconds and returns those 8 rows. The point: the chain triggers a specific subset of the auditd taxonomy, only credential and user-session events plus one USER_CMD, not arbitrary host noise. A detector subscribed to those 8 types catches the chain without the full auditd firehose. Hand back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1:20. Naman again, post-midterm material, weighted heavily on the rubric. Workload is a triage zoom: one host, intranet_server, on a 45-second timestamp window covering both bursts. EXPLAIN ANALYZE on the unindexed query: sequential scan of audit_event, 1.462 milliseconds, 141 shared buffers, planner cost 171.22. We added a composite index on host_id and timestamp in that order, migration 742e860d116f. Index scan instead of sequential scan, 0.640 milliseconds, 33 shared buffers, planner cost 24.79. About 2.3 times faster on execution, about 4 times fewer buffers, about 7 times lower planner cost. The design lesson: composite index column order must match the query shape, equality first, range second. Hand to Ishaan for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1:30. The dashboard is the demo layer on top of the SQL. Streamlit plus SQLAlchemy plus Plotly, queries PostgreSQL directly, no static export. 9 visuals: one KPI panel with four metrics, plus 8 story panels, one per major query. Sidebar filters: host, attack phase, source log. Default canon: host intranet_server, both phases selected. KPIs read 7,748 labeled lines, 6 distinct labels, 4 source logs touched, 9 audit events on host. If I clear the host filter, labeled lines goes to 8,806, source logs to 7, but audit events on host stays at 9. The attack day on intranet_server ranks 3 of 4 days by raw audit volume; volume-only detection misses it. Hand to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Slot 0:55. River closing. Three findings. One, volume is not coverage. Privilege escalation has only 9 audit events but it is the most consequential phase. Two, volume-only detection misses this attack: attack day ranks 3 of 4 by audit volume on intranet_server, the chain hides inside baseline noise. Three, relational design matters: pulling host inventory, audit events, labels, and rules into one shape is what made cross-source reconstruction possible. What happened next, exfiltration on internal_share, is in the report appendix. Deliverables: GitHub repo with the schema, migrations, 23 queries, and the dashboard; the technical report PDF; and the live dashboard demo.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4EA8FF">
              <a:alpha val="5000"/>
            </a:srgbClr>
          </a:solidFill>
          <a:ln/>
        </p:spPr>
      </p:sp>
      <p:sp>
        <p:nvSpPr>
          <p:cNvPr id="3" name="Shape 1"/>
          <p:cNvSpPr/>
          <p:nvPr/>
        </p:nvSpPr>
        <p:spPr>
          <a:xfrm>
            <a:off x="952500" y="1057275"/>
            <a:ext cx="16383000" cy="9525"/>
          </a:xfrm>
          <a:prstGeom prst="rect">
            <a:avLst/>
          </a:prstGeom>
          <a:solidFill>
            <a:srgbClr val="232A3A"/>
          </a:solidFill>
          <a:ln/>
        </p:spPr>
      </p:sp>
      <p:sp>
        <p:nvSpPr>
          <p:cNvPr id="4" name="Text 2"/>
          <p:cNvSpPr/>
          <p:nvPr/>
        </p:nvSpPr>
        <p:spPr>
          <a:xfrm>
            <a:off x="952500" y="609600"/>
            <a:ext cx="5387328"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DATA 201 </a:t>
            </a:r>
            <a:pPr algn="l" indent="0" marL="0">
              <a:buNone/>
            </a:pPr>
            <a:r>
              <a:rPr lang="en-US" sz="1350" spc="243" kern="0" dirty="0">
                <a:solidFill>
                  <a:srgbClr val="C3CAD8"/>
                </a:solidFill>
                <a:latin typeface="Arial" pitchFamily="34" charset="0"/>
                <a:ea typeface="Arial" pitchFamily="34" charset="-122"/>
                <a:cs typeface="Arial" pitchFamily="34" charset="-120"/>
              </a:rPr>
              <a:t>/ FINAL PRESENTATION / GROUP 5</a:t>
            </a:r>
            <a:endParaRPr lang="en-US" sz="1350" dirty="0"/>
          </a:p>
        </p:txBody>
      </p:sp>
      <p:sp>
        <p:nvSpPr>
          <p:cNvPr id="5" name="Text 3"/>
          <p:cNvSpPr/>
          <p:nvPr/>
        </p:nvSpPr>
        <p:spPr>
          <a:xfrm>
            <a:off x="12240071" y="628650"/>
            <a:ext cx="5248291"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SAN JOSÉ STATE UNIVERSITY · SPRING 2026</a:t>
            </a:r>
            <a:endParaRPr lang="en-US" sz="1350" dirty="0"/>
          </a:p>
        </p:txBody>
      </p:sp>
      <p:sp>
        <p:nvSpPr>
          <p:cNvPr id="6" name="Text 4"/>
          <p:cNvSpPr/>
          <p:nvPr/>
        </p:nvSpPr>
        <p:spPr>
          <a:xfrm>
            <a:off x="952500" y="1600200"/>
            <a:ext cx="16874490" cy="257175"/>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FF5A4E"/>
                </a:solidFill>
                <a:latin typeface="Arial" pitchFamily="34" charset="0"/>
                <a:ea typeface="Arial" pitchFamily="34" charset="-122"/>
                <a:cs typeface="Arial" pitchFamily="34" charset="-120"/>
              </a:rPr>
              <a:t>CASE FILE </a:t>
            </a:r>
            <a:pPr algn="l" indent="0" marL="0">
              <a:buNone/>
            </a:pPr>
            <a:r>
              <a:rPr lang="en-US" sz="1500" spc="330" kern="0" dirty="0">
                <a:solidFill>
                  <a:srgbClr val="8A93A6"/>
                </a:solidFill>
                <a:latin typeface="Arial" pitchFamily="34" charset="0"/>
                <a:ea typeface="Arial" pitchFamily="34" charset="-122"/>
                <a:cs typeface="Arial" pitchFamily="34" charset="-120"/>
              </a:rPr>
              <a:t>// AIT-LDS V2.0 / RUSSELLMITCHELL</a:t>
            </a:r>
            <a:endParaRPr lang="en-US" sz="1500" dirty="0"/>
          </a:p>
        </p:txBody>
      </p:sp>
      <p:sp>
        <p:nvSpPr>
          <p:cNvPr id="7" name="Text 5"/>
          <p:cNvSpPr/>
          <p:nvPr/>
        </p:nvSpPr>
        <p:spPr>
          <a:xfrm>
            <a:off x="952500" y="2085975"/>
            <a:ext cx="11576685" cy="2415183"/>
          </a:xfrm>
          <a:prstGeom prst="rect">
            <a:avLst/>
          </a:prstGeom>
          <a:noFill/>
          <a:ln/>
        </p:spPr>
        <p:txBody>
          <a:bodyPr wrap="square" lIns="25400" tIns="25400" rIns="25400" bIns="25400" rtlCol="0" anchor="t">
            <a:normAutofit/>
          </a:bodyPr>
          <a:lstStyle/>
          <a:p>
            <a:pPr algn="l" indent="0" marL="0">
              <a:lnSpc>
                <a:spcPct val="104000"/>
              </a:lnSpc>
              <a:buNone/>
            </a:pPr>
            <a:r>
              <a:rPr lang="en-US" sz="6000" spc="-90" kern="0" dirty="0">
                <a:solidFill>
                  <a:srgbClr val="E8ECF4"/>
                </a:solidFill>
                <a:latin typeface="Arial" pitchFamily="34" charset="0"/>
                <a:ea typeface="Arial" pitchFamily="34" charset="-122"/>
                <a:cs typeface="Arial" pitchFamily="34" charset="-120"/>
              </a:rPr>
              <a:t>Reconstructing a privilege escalation attack from raw logs.</a:t>
            </a:r>
            <a:endParaRPr lang="en-US" sz="6000" dirty="0"/>
          </a:p>
        </p:txBody>
      </p:sp>
      <p:sp>
        <p:nvSpPr>
          <p:cNvPr id="8" name="Text 6"/>
          <p:cNvSpPr/>
          <p:nvPr/>
        </p:nvSpPr>
        <p:spPr>
          <a:xfrm>
            <a:off x="952500" y="4767858"/>
            <a:ext cx="10595610" cy="876300"/>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C3CAD8"/>
                </a:solidFill>
                <a:latin typeface="-apple-system" pitchFamily="34" charset="0"/>
                <a:ea typeface="-apple-system" pitchFamily="34" charset="-122"/>
                <a:cs typeface="-apple-system" pitchFamily="34" charset="-120"/>
              </a:rPr>
              <a:t>A 3NF PostgreSQL schema turns an </a:t>
            </a:r>
            <a:pPr algn="l" indent="0" marL="0">
              <a:lnSpc>
                <a:spcPct val="145000"/>
              </a:lnSpc>
              <a:buNone/>
            </a:pPr>
            <a:r>
              <a:rPr lang="en-US" sz="2070" dirty="0">
                <a:solidFill>
                  <a:srgbClr val="E8ECF4"/>
                </a:solidFill>
                <a:highlight>
                  <a:srgbClr val="1C2230"/>
                </a:highlight>
                <a:latin typeface="Arial" pitchFamily="34" charset="0"/>
                <a:ea typeface="Arial" pitchFamily="34" charset="-122"/>
                <a:cs typeface="Arial" pitchFamily="34" charset="-120"/>
              </a:rPr>
              <a:t>access.log.2 </a:t>
            </a:r>
            <a:pPr algn="l" indent="0" marL="0">
              <a:lnSpc>
                <a:spcPct val="145000"/>
              </a:lnSpc>
              <a:buNone/>
            </a:pPr>
            <a:r>
              <a:rPr lang="en-US" sz="2250" dirty="0">
                <a:solidFill>
                  <a:srgbClr val="C3CAD8"/>
                </a:solidFill>
                <a:latin typeface="-apple-system" pitchFamily="34" charset="0"/>
                <a:ea typeface="-apple-system" pitchFamily="34" charset="-122"/>
                <a:cs typeface="-apple-system" pitchFamily="34" charset="-120"/>
              </a:rPr>
              <a:t>foothold into a </a:t>
            </a:r>
            <a:pPr algn="l" indent="0" marL="0">
              <a:lnSpc>
                <a:spcPct val="145000"/>
              </a:lnSpc>
              <a:buNone/>
            </a:pPr>
            <a:r>
              <a:rPr lang="en-US" sz="2250" dirty="0">
                <a:solidFill>
                  <a:srgbClr val="FF5A4E"/>
                </a:solidFill>
                <a:latin typeface="-apple-system" pitchFamily="34" charset="0"/>
                <a:ea typeface="-apple-system" pitchFamily="34" charset="-122"/>
                <a:cs typeface="-apple-system" pitchFamily="34" charset="-120"/>
              </a:rPr>
              <a:t>9-event </a:t>
            </a:r>
            <a:pPr algn="l" indent="0" marL="0">
              <a:lnSpc>
                <a:spcPct val="145000"/>
              </a:lnSpc>
              <a:buNone/>
            </a:pPr>
            <a:r>
              <a:rPr lang="en-US" sz="2070" dirty="0">
                <a:solidFill>
                  <a:srgbClr val="E8ECF4"/>
                </a:solidFill>
                <a:highlight>
                  <a:srgbClr val="1C2230"/>
                </a:highlight>
                <a:latin typeface="Arial" pitchFamily="34" charset="0"/>
                <a:ea typeface="Arial" pitchFamily="34" charset="-122"/>
                <a:cs typeface="Arial" pitchFamily="34" charset="-120"/>
              </a:rPr>
              <a:t>su </a:t>
            </a:r>
            <a:pPr algn="l" indent="0" marL="0">
              <a:lnSpc>
                <a:spcPct val="145000"/>
              </a:lnSpc>
              <a:buNone/>
            </a:pPr>
            <a:r>
              <a:rPr lang="en-US" sz="2250" dirty="0">
                <a:solidFill>
                  <a:srgbClr val="FF5A4E"/>
                </a:solidFill>
                <a:latin typeface="-apple-system" pitchFamily="34" charset="0"/>
                <a:ea typeface="-apple-system" pitchFamily="34" charset="-122"/>
                <a:cs typeface="-apple-system" pitchFamily="34" charset="-120"/>
              </a:rPr>
              <a:t>+ </a:t>
            </a:r>
            <a:pPr algn="l" indent="0" marL="0">
              <a:lnSpc>
                <a:spcPct val="145000"/>
              </a:lnSpc>
              <a:buNone/>
            </a:pPr>
            <a:r>
              <a:rPr lang="en-US" sz="2070" dirty="0">
                <a:solidFill>
                  <a:srgbClr val="E8ECF4"/>
                </a:solidFill>
                <a:highlight>
                  <a:srgbClr val="1C2230"/>
                </a:highlight>
                <a:latin typeface="Arial" pitchFamily="34" charset="0"/>
                <a:ea typeface="Arial" pitchFamily="34" charset="-122"/>
                <a:cs typeface="Arial" pitchFamily="34" charset="-120"/>
              </a:rPr>
              <a:t>sudo </a:t>
            </a:r>
            <a:pPr algn="l" indent="0" marL="0">
              <a:lnSpc>
                <a:spcPct val="145000"/>
              </a:lnSpc>
              <a:buNone/>
            </a:pPr>
            <a:r>
              <a:rPr lang="en-US" sz="2250" dirty="0">
                <a:solidFill>
                  <a:srgbClr val="FF5A4E"/>
                </a:solidFill>
                <a:latin typeface="-apple-system" pitchFamily="34" charset="0"/>
                <a:ea typeface="-apple-system" pitchFamily="34" charset="-122"/>
                <a:cs typeface="-apple-system" pitchFamily="34" charset="-120"/>
              </a:rPr>
              <a:t>chain </a:t>
            </a:r>
            <a:pPr algn="l" indent="0" marL="0">
              <a:lnSpc>
                <a:spcPct val="145000"/>
              </a:lnSpc>
              <a:buNone/>
            </a:pPr>
            <a:r>
              <a:rPr lang="en-US" sz="2250" dirty="0">
                <a:solidFill>
                  <a:srgbClr val="C3CAD8"/>
                </a:solidFill>
                <a:latin typeface="-apple-system" pitchFamily="34" charset="0"/>
                <a:ea typeface="-apple-system" pitchFamily="34" charset="-122"/>
                <a:cs typeface="-apple-system" pitchFamily="34" charset="-120"/>
              </a:rPr>
              <a:t>on </a:t>
            </a:r>
            <a:pPr algn="l" indent="0" marL="0">
              <a:lnSpc>
                <a:spcPct val="145000"/>
              </a:lnSpc>
              <a:buNone/>
            </a:pPr>
            <a:r>
              <a:rPr lang="en-US" sz="2070" dirty="0">
                <a:solidFill>
                  <a:srgbClr val="E8ECF4"/>
                </a:solidFill>
                <a:highlight>
                  <a:srgbClr val="1C2230"/>
                </a:highlight>
                <a:latin typeface="Arial" pitchFamily="34" charset="0"/>
                <a:ea typeface="Arial" pitchFamily="34" charset="-122"/>
                <a:cs typeface="Arial" pitchFamily="34" charset="-120"/>
              </a:rPr>
              <a:t>intranet_server</a:t>
            </a:r>
            <a:pPr algn="l" indent="0" marL="0">
              <a:lnSpc>
                <a:spcPct val="145000"/>
              </a:lnSpc>
              <a:buNone/>
            </a:pPr>
            <a:r>
              <a:rPr lang="en-US" sz="2250" dirty="0">
                <a:solidFill>
                  <a:srgbClr val="C3CAD8"/>
                </a:solidFill>
                <a:latin typeface="-apple-system" pitchFamily="34" charset="0"/>
                <a:ea typeface="-apple-system" pitchFamily="34" charset="-122"/>
                <a:cs typeface="-apple-system" pitchFamily="34" charset="-120"/>
              </a:rPr>
              <a:t>.</a:t>
            </a:r>
            <a:endParaRPr lang="en-US" sz="2250" dirty="0"/>
          </a:p>
        </p:txBody>
      </p:sp>
      <p:sp>
        <p:nvSpPr>
          <p:cNvPr id="9" name="Shape 7"/>
          <p:cNvSpPr/>
          <p:nvPr/>
        </p:nvSpPr>
        <p:spPr>
          <a:xfrm>
            <a:off x="952500" y="7255371"/>
            <a:ext cx="16383000" cy="9525"/>
          </a:xfrm>
          <a:prstGeom prst="rect">
            <a:avLst/>
          </a:prstGeom>
          <a:solidFill>
            <a:srgbClr val="232A3A"/>
          </a:solidFill>
          <a:ln/>
        </p:spPr>
      </p:sp>
      <p:sp>
        <p:nvSpPr>
          <p:cNvPr id="10" name="Text 8"/>
          <p:cNvSpPr/>
          <p:nvPr/>
        </p:nvSpPr>
        <p:spPr>
          <a:xfrm>
            <a:off x="952500" y="7607796"/>
            <a:ext cx="5258562" cy="19050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5D6577"/>
                </a:solidFill>
                <a:latin typeface="Arial" pitchFamily="34" charset="0"/>
                <a:ea typeface="Arial" pitchFamily="34" charset="-122"/>
                <a:cs typeface="Arial" pitchFamily="34" charset="-120"/>
              </a:rPr>
              <a:t>TEAM</a:t>
            </a:r>
            <a:endParaRPr lang="en-US" sz="1050" dirty="0"/>
          </a:p>
        </p:txBody>
      </p:sp>
      <p:sp>
        <p:nvSpPr>
          <p:cNvPr id="11" name="Text 9"/>
          <p:cNvSpPr/>
          <p:nvPr/>
        </p:nvSpPr>
        <p:spPr>
          <a:xfrm>
            <a:off x="952500" y="7874496"/>
            <a:ext cx="5258562" cy="1040904"/>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E8ECF4"/>
                </a:solidFill>
                <a:latin typeface="-apple-system" pitchFamily="34" charset="0"/>
                <a:ea typeface="-apple-system" pitchFamily="34" charset="-122"/>
                <a:cs typeface="-apple-system" pitchFamily="34" charset="-120"/>
              </a:rPr>
              <a:t>Naman Sudan River Roseveare-Hunt Ishaan Shetty</a:t>
            </a:r>
            <a:endParaRPr lang="en-US" sz="1950" dirty="0"/>
          </a:p>
        </p:txBody>
      </p:sp>
      <p:sp>
        <p:nvSpPr>
          <p:cNvPr id="12" name="Text 10"/>
          <p:cNvSpPr/>
          <p:nvPr/>
        </p:nvSpPr>
        <p:spPr>
          <a:xfrm>
            <a:off x="6591300" y="7607796"/>
            <a:ext cx="5258562" cy="19050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5D6577"/>
                </a:solidFill>
                <a:latin typeface="Arial" pitchFamily="34" charset="0"/>
                <a:ea typeface="Arial" pitchFamily="34" charset="-122"/>
                <a:cs typeface="Arial" pitchFamily="34" charset="-120"/>
              </a:rPr>
              <a:t>INSTRUCTOR</a:t>
            </a:r>
            <a:endParaRPr lang="en-US" sz="1050" dirty="0"/>
          </a:p>
        </p:txBody>
      </p:sp>
      <p:sp>
        <p:nvSpPr>
          <p:cNvPr id="13" name="Text 11"/>
          <p:cNvSpPr/>
          <p:nvPr/>
        </p:nvSpPr>
        <p:spPr>
          <a:xfrm>
            <a:off x="6591300" y="7874496"/>
            <a:ext cx="5258562" cy="372368"/>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E8ECF4"/>
                </a:solidFill>
                <a:latin typeface="-apple-system" pitchFamily="34" charset="0"/>
                <a:ea typeface="-apple-system" pitchFamily="34" charset="-122"/>
                <a:cs typeface="-apple-system" pitchFamily="34" charset="-120"/>
              </a:rPr>
              <a:t>Dr. Liu</a:t>
            </a:r>
            <a:endParaRPr lang="en-US" sz="1950" dirty="0"/>
          </a:p>
        </p:txBody>
      </p:sp>
      <p:sp>
        <p:nvSpPr>
          <p:cNvPr id="14" name="Text 12"/>
          <p:cNvSpPr/>
          <p:nvPr/>
        </p:nvSpPr>
        <p:spPr>
          <a:xfrm>
            <a:off x="6591300" y="8437364"/>
            <a:ext cx="5258562" cy="19050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5D6577"/>
                </a:solidFill>
                <a:latin typeface="Arial" pitchFamily="34" charset="0"/>
                <a:ea typeface="Arial" pitchFamily="34" charset="-122"/>
                <a:cs typeface="Arial" pitchFamily="34" charset="-120"/>
              </a:rPr>
              <a:t>STACK</a:t>
            </a:r>
            <a:endParaRPr lang="en-US" sz="1050" dirty="0"/>
          </a:p>
        </p:txBody>
      </p:sp>
      <p:sp>
        <p:nvSpPr>
          <p:cNvPr id="15" name="Text 13"/>
          <p:cNvSpPr/>
          <p:nvPr/>
        </p:nvSpPr>
        <p:spPr>
          <a:xfrm>
            <a:off x="6591300" y="8704064"/>
            <a:ext cx="5258562" cy="706636"/>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E8ECF4"/>
                </a:solidFill>
                <a:latin typeface="-apple-system" pitchFamily="34" charset="0"/>
                <a:ea typeface="-apple-system" pitchFamily="34" charset="-122"/>
                <a:cs typeface="-apple-system" pitchFamily="34" charset="-120"/>
              </a:rPr>
              <a:t>PostgreSQL 16 · Alembic SQLAlchemy · Streamlit · Plotly</a:t>
            </a:r>
            <a:endParaRPr lang="en-US" sz="1950" dirty="0"/>
          </a:p>
        </p:txBody>
      </p:sp>
      <p:sp>
        <p:nvSpPr>
          <p:cNvPr id="16" name="Text 14"/>
          <p:cNvSpPr/>
          <p:nvPr/>
        </p:nvSpPr>
        <p:spPr>
          <a:xfrm>
            <a:off x="12230100" y="7607796"/>
            <a:ext cx="5258562" cy="19050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5D6577"/>
                </a:solidFill>
                <a:latin typeface="Arial" pitchFamily="34" charset="0"/>
                <a:ea typeface="Arial" pitchFamily="34" charset="-122"/>
                <a:cs typeface="Arial" pitchFamily="34" charset="-120"/>
              </a:rPr>
              <a:t>DELIVERABLES</a:t>
            </a:r>
            <a:endParaRPr lang="en-US" sz="1050" dirty="0"/>
          </a:p>
        </p:txBody>
      </p:sp>
      <p:sp>
        <p:nvSpPr>
          <p:cNvPr id="17" name="Text 15"/>
          <p:cNvSpPr/>
          <p:nvPr/>
        </p:nvSpPr>
        <p:spPr>
          <a:xfrm>
            <a:off x="12230100" y="7874496"/>
            <a:ext cx="5258562" cy="1375172"/>
          </a:xfrm>
          <a:prstGeom prst="rect">
            <a:avLst/>
          </a:prstGeom>
          <a:noFill/>
          <a:ln/>
        </p:spPr>
        <p:txBody>
          <a:bodyPr wrap="square" lIns="25400" tIns="25400" rIns="25400" bIns="25400" rtlCol="0" anchor="t">
            <a:normAutofit/>
          </a:bodyPr>
          <a:lstStyle/>
          <a:p>
            <a:pPr algn="l" indent="0" marL="0">
              <a:lnSpc>
                <a:spcPct val="135000"/>
              </a:lnSpc>
              <a:buNone/>
            </a:pPr>
            <a:r>
              <a:rPr lang="en-US" sz="1950" dirty="0">
                <a:solidFill>
                  <a:srgbClr val="E8ECF4"/>
                </a:solidFill>
                <a:latin typeface="-apple-system" pitchFamily="34" charset="0"/>
                <a:ea typeface="-apple-system" pitchFamily="34" charset="-122"/>
                <a:cs typeface="-apple-system" pitchFamily="34" charset="-120"/>
              </a:rPr>
              <a:t>22-table schema 23 SQL queries 9-panel dashboard 10-section report</a:t>
            </a:r>
            <a:endParaRPr lang="en-US" sz="1950" dirty="0"/>
          </a:p>
        </p:txBody>
      </p:sp>
      <p:pic>
        <p:nvPicPr>
          <p:cNvPr id="18" name="Image 0" descr="preencoded.png">    </p:cNvPr>
          <p:cNvPicPr>
            <a:picLocks noChangeAspect="1"/>
          </p:cNvPicPr>
          <p:nvPr/>
        </p:nvPicPr>
        <p:blipFill>
          <a:blip r:embed="rId1">
            <a:alphaModFix amt="70000"/>
          </a:blip>
          <a:stretch>
            <a:fillRect/>
          </a:stretch>
        </p:blipFill>
        <p:spPr>
          <a:xfrm>
            <a:off x="12954000" y="4898678"/>
            <a:ext cx="4381500" cy="2816572"/>
          </a:xfrm>
          <a:prstGeom prst="rect">
            <a:avLst/>
          </a:prstGeom>
        </p:spPr>
      </p:pic>
      <p:sp>
        <p:nvSpPr>
          <p:cNvPr id="19" name="Shape 16"/>
          <p:cNvSpPr/>
          <p:nvPr/>
        </p:nvSpPr>
        <p:spPr>
          <a:xfrm>
            <a:off x="952500" y="9620250"/>
            <a:ext cx="16383000" cy="9525"/>
          </a:xfrm>
          <a:prstGeom prst="rect">
            <a:avLst/>
          </a:prstGeom>
          <a:solidFill>
            <a:srgbClr val="232A3A"/>
          </a:solidFill>
          <a:ln/>
        </p:spPr>
      </p:sp>
      <p:sp>
        <p:nvSpPr>
          <p:cNvPr id="20" name="Text 17"/>
          <p:cNvSpPr/>
          <p:nvPr/>
        </p:nvSpPr>
        <p:spPr>
          <a:xfrm>
            <a:off x="952500" y="9796463"/>
            <a:ext cx="2288381"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01 / 11 · RIVER · 0:15</a:t>
            </a:r>
            <a:endParaRPr lang="en-US" sz="1200" dirty="0"/>
          </a:p>
        </p:txBody>
      </p:sp>
      <p:sp>
        <p:nvSpPr>
          <p:cNvPr id="21" name="Text 18"/>
          <p:cNvSpPr/>
          <p:nvPr/>
        </p:nvSpPr>
        <p:spPr>
          <a:xfrm>
            <a:off x="13935075" y="9782175"/>
            <a:ext cx="3502438" cy="238125"/>
          </a:xfrm>
          <a:prstGeom prst="rect">
            <a:avLst/>
          </a:prstGeom>
          <a:noFill/>
          <a:ln/>
        </p:spPr>
        <p:txBody>
          <a:bodyPr wrap="square" lIns="25400" tIns="25400" rIns="25400" bIns="25400" rtlCol="0" anchor="t">
            <a:normAutofit/>
          </a:bodyPr>
          <a:lstStyle/>
          <a:p>
            <a:pPr algn="l" indent="0" marL="0">
              <a:buNone/>
            </a:pPr>
            <a:r>
              <a:rPr lang="en-US" sz="1200" b="1" spc="168" kern="0" dirty="0">
                <a:solidFill>
                  <a:srgbClr val="E8ECF4"/>
                </a:solidFill>
                <a:latin typeface="Arial" pitchFamily="34" charset="0"/>
                <a:ea typeface="Arial" pitchFamily="34" charset="-122"/>
                <a:cs typeface="Arial" pitchFamily="34" charset="-120"/>
              </a:rPr>
              <a:t>SECURITY LOG ANALYSIS </a:t>
            </a:r>
            <a:pPr algn="l" indent="0" marL="0">
              <a:buNone/>
            </a:pPr>
            <a:r>
              <a:rPr lang="en-US" sz="1200" spc="168" kern="0" dirty="0">
                <a:solidFill>
                  <a:srgbClr val="8A93A6"/>
                </a:solidFill>
                <a:latin typeface="Arial" pitchFamily="34" charset="0"/>
                <a:ea typeface="Arial" pitchFamily="34" charset="-122"/>
                <a:cs typeface="Arial" pitchFamily="34" charset="-120"/>
              </a:rPr>
              <a:t>· GROUP 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4969758"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01 </a:t>
            </a:r>
            <a:pPr algn="l" indent="0" marL="0">
              <a:buNone/>
            </a:pPr>
            <a:r>
              <a:rPr lang="en-US" sz="1350" spc="243" kern="0" dirty="0">
                <a:solidFill>
                  <a:srgbClr val="C3CAD8"/>
                </a:solidFill>
                <a:latin typeface="Arial" pitchFamily="34" charset="0"/>
                <a:ea typeface="Arial" pitchFamily="34" charset="-122"/>
                <a:cs typeface="Arial" pitchFamily="34" charset="-120"/>
              </a:rPr>
              <a:t>/ PROJECT MANAGEMENT &amp; DEV STACK</a:t>
            </a:r>
            <a:endParaRPr lang="en-US" sz="1350" dirty="0"/>
          </a:p>
        </p:txBody>
      </p:sp>
      <p:sp>
        <p:nvSpPr>
          <p:cNvPr id="4" name="Text 2"/>
          <p:cNvSpPr/>
          <p:nvPr/>
        </p:nvSpPr>
        <p:spPr>
          <a:xfrm>
            <a:off x="15329892" y="628650"/>
            <a:ext cx="2081808"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SECTION 02 OF 11</a:t>
            </a:r>
            <a:endParaRPr lang="en-US" sz="1350" dirty="0"/>
          </a:p>
        </p:txBody>
      </p:sp>
      <p:sp>
        <p:nvSpPr>
          <p:cNvPr id="5" name="Text 3"/>
          <p:cNvSpPr/>
          <p:nvPr/>
        </p:nvSpPr>
        <p:spPr>
          <a:xfrm>
            <a:off x="952500" y="1600200"/>
            <a:ext cx="16874490" cy="696367"/>
          </a:xfrm>
          <a:prstGeom prst="rect">
            <a:avLst/>
          </a:prstGeom>
          <a:noFill/>
          <a:ln/>
        </p:spPr>
        <p:txBody>
          <a:bodyPr wrap="square" lIns="25400" tIns="25400" rIns="25400" bIns="25400" rtlCol="0" anchor="t">
            <a:normAutofit/>
          </a:bodyPr>
          <a:lstStyle/>
          <a:p>
            <a:pPr algn="l" indent="0" marL="0">
              <a:lnSpc>
                <a:spcPct val="108000"/>
              </a:lnSpc>
              <a:buNone/>
            </a:pPr>
            <a:r>
              <a:rPr lang="en-US" sz="4800" spc="-58" kern="0" dirty="0">
                <a:solidFill>
                  <a:srgbClr val="E8ECF4"/>
                </a:solidFill>
                <a:latin typeface="Arial" pitchFamily="34" charset="0"/>
                <a:ea typeface="Arial" pitchFamily="34" charset="-122"/>
                <a:cs typeface="Arial" pitchFamily="34" charset="-120"/>
              </a:rPr>
              <a:t>How we built it.</a:t>
            </a:r>
            <a:endParaRPr lang="en-US" sz="4800" dirty="0"/>
          </a:p>
        </p:txBody>
      </p:sp>
      <p:sp>
        <p:nvSpPr>
          <p:cNvPr id="6" name="Shape 4"/>
          <p:cNvSpPr/>
          <p:nvPr/>
        </p:nvSpPr>
        <p:spPr>
          <a:xfrm>
            <a:off x="952500" y="2601367"/>
            <a:ext cx="5283101" cy="3009305"/>
          </a:xfrm>
          <a:prstGeom prst="roundRect">
            <a:avLst>
              <a:gd name="adj" fmla="val 3165"/>
            </a:avLst>
          </a:prstGeom>
          <a:solidFill>
            <a:srgbClr val="1E2A55"/>
          </a:solidFill>
          <a:ln/>
        </p:spPr>
      </p:sp>
      <p:sp>
        <p:nvSpPr>
          <p:cNvPr id="7" name="Text 5"/>
          <p:cNvSpPr/>
          <p:nvPr/>
        </p:nvSpPr>
        <p:spPr>
          <a:xfrm>
            <a:off x="1295400" y="2906167"/>
            <a:ext cx="4735220"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27" kern="0" dirty="0">
                <a:solidFill>
                  <a:srgbClr val="FFFFFF"/>
                </a:solidFill>
                <a:latin typeface="Arial" pitchFamily="34" charset="0"/>
                <a:ea typeface="Arial" pitchFamily="34" charset="-122"/>
                <a:cs typeface="Arial" pitchFamily="34" charset="-120"/>
              </a:rPr>
              <a:t>GitHub</a:t>
            </a:r>
            <a:endParaRPr lang="en-US" sz="2700" dirty="0"/>
          </a:p>
        </p:txBody>
      </p:sp>
      <p:pic>
        <p:nvPicPr>
          <p:cNvPr id="8" name="Image 0" descr="preencoded.png">    </p:cNvPr>
          <p:cNvPicPr>
            <a:picLocks noChangeAspect="1"/>
          </p:cNvPicPr>
          <p:nvPr/>
        </p:nvPicPr>
        <p:blipFill>
          <a:blip r:embed="rId1"/>
          <a:stretch>
            <a:fillRect/>
          </a:stretch>
        </p:blipFill>
        <p:spPr>
          <a:xfrm>
            <a:off x="5435501" y="2868067"/>
            <a:ext cx="533400" cy="533400"/>
          </a:xfrm>
          <a:prstGeom prst="rect">
            <a:avLst/>
          </a:prstGeom>
        </p:spPr>
      </p:pic>
      <p:sp>
        <p:nvSpPr>
          <p:cNvPr id="9" name="Text 6"/>
          <p:cNvSpPr/>
          <p:nvPr/>
        </p:nvSpPr>
        <p:spPr>
          <a:xfrm>
            <a:off x="1384935" y="3477667"/>
            <a:ext cx="4583966" cy="611386"/>
          </a:xfrm>
          <a:prstGeom prst="rect">
            <a:avLst/>
          </a:prstGeom>
          <a:noFill/>
          <a:ln/>
        </p:spPr>
        <p:txBody>
          <a:bodyPr wrap="square" lIns="25400" tIns="25400" rIns="25400" bIns="25400" rtlCol="0" anchor="t">
            <a:normAutofit/>
          </a:bodyPr>
          <a:lstStyle/>
          <a:p>
            <a:pPr algn="l" marL="120015" indent="-120015">
              <a:lnSpc>
                <a:spcPct val="145000"/>
              </a:lnSpc>
              <a:buSzPct val="100000"/>
              <a:buChar char="•"/>
              <a:tabLst>
                <a:tab pos="120015" algn="l"/>
              </a:tabLst>
            </a:pPr>
            <a:r>
              <a:rPr lang="en-US" sz="1350" dirty="0">
                <a:solidFill>
                  <a:srgbClr val="FFFFFF"/>
                </a:solidFill>
                <a:latin typeface="-apple-system" pitchFamily="34" charset="0"/>
                <a:ea typeface="-apple-system" pitchFamily="34" charset="-122"/>
                <a:cs typeface="-apple-system" pitchFamily="34" charset="-120"/>
              </a:rPr>
              <a:t>Version control with reviewed pull requests.</a:t>
            </a:r>
            <a:endParaRPr lang="en-US" sz="1350" dirty="0"/>
          </a:p>
          <a:p>
            <a:pPr algn="l" marL="120015" indent="-120015">
              <a:lnSpc>
                <a:spcPct val="145000"/>
              </a:lnSpc>
              <a:buSzPct val="100000"/>
              <a:buChar char="•"/>
              <a:tabLst>
                <a:tab pos="120015" algn="l"/>
              </a:tabLst>
            </a:pPr>
            <a:r>
              <a:rPr lang="en-US" sz="1350" dirty="0">
                <a:solidFill>
                  <a:srgbClr val="FFFFFF"/>
                </a:solidFill>
                <a:latin typeface="-apple-system" pitchFamily="34" charset="0"/>
                <a:ea typeface="-apple-system" pitchFamily="34" charset="-122"/>
                <a:cs typeface="-apple-system" pitchFamily="34" charset="-120"/>
              </a:rPr>
              <a:t>Single source of truth for schema, queries, dashboard.</a:t>
            </a:r>
            <a:endParaRPr lang="en-US" sz="1350" dirty="0"/>
          </a:p>
        </p:txBody>
      </p:sp>
      <p:sp>
        <p:nvSpPr>
          <p:cNvPr id="10" name="Shape 7"/>
          <p:cNvSpPr/>
          <p:nvPr/>
        </p:nvSpPr>
        <p:spPr>
          <a:xfrm>
            <a:off x="6502301" y="2601367"/>
            <a:ext cx="5283250" cy="3009305"/>
          </a:xfrm>
          <a:prstGeom prst="roundRect">
            <a:avLst>
              <a:gd name="adj" fmla="val 3165"/>
            </a:avLst>
          </a:prstGeom>
          <a:solidFill>
            <a:srgbClr val="0A0D12"/>
          </a:solidFill>
          <a:ln w="9525">
            <a:solidFill>
              <a:srgbClr val="1A2030"/>
            </a:solidFill>
            <a:prstDash val="solid"/>
          </a:ln>
        </p:spPr>
      </p:sp>
      <p:sp>
        <p:nvSpPr>
          <p:cNvPr id="11" name="Text 8"/>
          <p:cNvSpPr/>
          <p:nvPr/>
        </p:nvSpPr>
        <p:spPr>
          <a:xfrm>
            <a:off x="6854726" y="2915692"/>
            <a:ext cx="4715752"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27" kern="0" dirty="0">
                <a:solidFill>
                  <a:srgbClr val="FFFFFF"/>
                </a:solidFill>
                <a:latin typeface="Arial" pitchFamily="34" charset="0"/>
                <a:ea typeface="Arial" pitchFamily="34" charset="-122"/>
                <a:cs typeface="Arial" pitchFamily="34" charset="-120"/>
              </a:rPr>
              <a:t>Linear</a:t>
            </a:r>
            <a:endParaRPr lang="en-US" sz="2700" dirty="0"/>
          </a:p>
        </p:txBody>
      </p:sp>
      <p:pic>
        <p:nvPicPr>
          <p:cNvPr id="12" name="Image 1" descr="preencoded.png">    </p:cNvPr>
          <p:cNvPicPr>
            <a:picLocks noChangeAspect="1"/>
          </p:cNvPicPr>
          <p:nvPr/>
        </p:nvPicPr>
        <p:blipFill>
          <a:blip r:embed="rId2"/>
          <a:stretch>
            <a:fillRect/>
          </a:stretch>
        </p:blipFill>
        <p:spPr>
          <a:xfrm>
            <a:off x="10975925" y="2877592"/>
            <a:ext cx="533400" cy="533400"/>
          </a:xfrm>
          <a:prstGeom prst="rect">
            <a:avLst/>
          </a:prstGeom>
        </p:spPr>
      </p:pic>
      <p:sp>
        <p:nvSpPr>
          <p:cNvPr id="13" name="Text 9"/>
          <p:cNvSpPr/>
          <p:nvPr/>
        </p:nvSpPr>
        <p:spPr>
          <a:xfrm>
            <a:off x="6944261" y="3487192"/>
            <a:ext cx="4565065" cy="611386"/>
          </a:xfrm>
          <a:prstGeom prst="rect">
            <a:avLst/>
          </a:prstGeom>
          <a:noFill/>
          <a:ln/>
        </p:spPr>
        <p:txBody>
          <a:bodyPr wrap="square" lIns="25400" tIns="25400" rIns="25400" bIns="25400" rtlCol="0" anchor="t">
            <a:normAutofit/>
          </a:bodyPr>
          <a:lstStyle/>
          <a:p>
            <a:pPr algn="l" marL="120015" indent="-120015">
              <a:lnSpc>
                <a:spcPct val="145000"/>
              </a:lnSpc>
              <a:buSzPct val="100000"/>
              <a:buChar char="•"/>
              <a:tabLst>
                <a:tab pos="120015" algn="l"/>
              </a:tabLst>
            </a:pPr>
            <a:r>
              <a:rPr lang="en-US" sz="1350" dirty="0">
                <a:solidFill>
                  <a:srgbClr val="FFFFFF">
                    <a:alpha val="92000"/>
                  </a:srgbClr>
                </a:solidFill>
                <a:latin typeface="-apple-system" pitchFamily="34" charset="0"/>
                <a:ea typeface="-apple-system" pitchFamily="34" charset="-122"/>
                <a:cs typeface="-apple-system" pitchFamily="34" charset="-120"/>
              </a:rPr>
              <a:t>Sprint planning against rubric line items.</a:t>
            </a:r>
            <a:endParaRPr lang="en-US" sz="1350" dirty="0"/>
          </a:p>
          <a:p>
            <a:pPr algn="l" marL="120015" indent="-120015">
              <a:lnSpc>
                <a:spcPct val="145000"/>
              </a:lnSpc>
              <a:buSzPct val="100000"/>
              <a:buChar char="•"/>
              <a:tabLst>
                <a:tab pos="120015" algn="l"/>
              </a:tabLst>
            </a:pPr>
            <a:r>
              <a:rPr lang="en-US" sz="1350" dirty="0">
                <a:solidFill>
                  <a:srgbClr val="FFFFFF">
                    <a:alpha val="92000"/>
                  </a:srgbClr>
                </a:solidFill>
                <a:latin typeface="-apple-system" pitchFamily="34" charset="0"/>
                <a:ea typeface="-apple-system" pitchFamily="34" charset="-122"/>
                <a:cs typeface="-apple-system" pitchFamily="34" charset="-120"/>
              </a:rPr>
              <a:t>Task tracking and ownership.</a:t>
            </a:r>
            <a:endParaRPr lang="en-US" sz="1350" dirty="0"/>
          </a:p>
        </p:txBody>
      </p:sp>
      <p:sp>
        <p:nvSpPr>
          <p:cNvPr id="14" name="Shape 10"/>
          <p:cNvSpPr/>
          <p:nvPr/>
        </p:nvSpPr>
        <p:spPr>
          <a:xfrm>
            <a:off x="12052250" y="2601367"/>
            <a:ext cx="5283250" cy="3009305"/>
          </a:xfrm>
          <a:prstGeom prst="roundRect">
            <a:avLst>
              <a:gd name="adj" fmla="val 3165"/>
            </a:avLst>
          </a:prstGeom>
          <a:solidFill>
            <a:srgbClr val="1E2A55"/>
          </a:solidFill>
          <a:ln/>
        </p:spPr>
      </p:sp>
      <p:sp>
        <p:nvSpPr>
          <p:cNvPr id="15" name="Text 11"/>
          <p:cNvSpPr/>
          <p:nvPr/>
        </p:nvSpPr>
        <p:spPr>
          <a:xfrm>
            <a:off x="12395150" y="2906167"/>
            <a:ext cx="4735373"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27" kern="0" dirty="0">
                <a:solidFill>
                  <a:srgbClr val="FFFFFF"/>
                </a:solidFill>
                <a:latin typeface="Arial" pitchFamily="34" charset="0"/>
                <a:ea typeface="Arial" pitchFamily="34" charset="-122"/>
                <a:cs typeface="Arial" pitchFamily="34" charset="-120"/>
              </a:rPr>
              <a:t>Slack</a:t>
            </a:r>
            <a:endParaRPr lang="en-US" sz="2700" dirty="0"/>
          </a:p>
        </p:txBody>
      </p:sp>
      <p:pic>
        <p:nvPicPr>
          <p:cNvPr id="16" name="Image 2" descr="preencoded.png">    </p:cNvPr>
          <p:cNvPicPr>
            <a:picLocks noChangeAspect="1"/>
          </p:cNvPicPr>
          <p:nvPr/>
        </p:nvPicPr>
        <p:blipFill>
          <a:blip r:embed="rId3"/>
          <a:stretch>
            <a:fillRect/>
          </a:stretch>
        </p:blipFill>
        <p:spPr>
          <a:xfrm>
            <a:off x="16535400" y="2868067"/>
            <a:ext cx="533400" cy="533400"/>
          </a:xfrm>
          <a:prstGeom prst="rect">
            <a:avLst/>
          </a:prstGeom>
        </p:spPr>
      </p:pic>
      <p:sp>
        <p:nvSpPr>
          <p:cNvPr id="17" name="Text 12"/>
          <p:cNvSpPr/>
          <p:nvPr/>
        </p:nvSpPr>
        <p:spPr>
          <a:xfrm>
            <a:off x="12484685" y="3477667"/>
            <a:ext cx="4584115" cy="286643"/>
          </a:xfrm>
          <a:prstGeom prst="rect">
            <a:avLst/>
          </a:prstGeom>
          <a:noFill/>
          <a:ln/>
        </p:spPr>
        <p:txBody>
          <a:bodyPr wrap="square" lIns="25400" tIns="25400" rIns="25400" bIns="25400" rtlCol="0" anchor="t">
            <a:normAutofit/>
          </a:bodyPr>
          <a:lstStyle/>
          <a:p>
            <a:pPr algn="l" marL="120015" indent="-120015">
              <a:lnSpc>
                <a:spcPct val="145000"/>
              </a:lnSpc>
              <a:buSzPct val="100000"/>
              <a:buChar char="•"/>
              <a:tabLst>
                <a:tab pos="120015" algn="l"/>
              </a:tabLst>
            </a:pPr>
            <a:r>
              <a:rPr lang="en-US" sz="1350" dirty="0">
                <a:solidFill>
                  <a:srgbClr val="FFFFFF"/>
                </a:solidFill>
                <a:latin typeface="-apple-system" pitchFamily="34" charset="0"/>
                <a:ea typeface="-apple-system" pitchFamily="34" charset="-122"/>
                <a:cs typeface="-apple-system" pitchFamily="34" charset="-120"/>
              </a:rPr>
              <a:t>Day-to-day team communications.</a:t>
            </a:r>
            <a:endParaRPr lang="en-US" sz="1350" dirty="0"/>
          </a:p>
        </p:txBody>
      </p:sp>
      <p:sp>
        <p:nvSpPr>
          <p:cNvPr id="18" name="Shape 13"/>
          <p:cNvSpPr/>
          <p:nvPr/>
        </p:nvSpPr>
        <p:spPr>
          <a:xfrm>
            <a:off x="952500" y="5877371"/>
            <a:ext cx="5283101" cy="3009454"/>
          </a:xfrm>
          <a:prstGeom prst="roundRect">
            <a:avLst>
              <a:gd name="adj" fmla="val 3165"/>
            </a:avLst>
          </a:prstGeom>
          <a:solidFill>
            <a:srgbClr val="0A0D12"/>
          </a:solidFill>
          <a:ln w="9525">
            <a:solidFill>
              <a:srgbClr val="1A2030"/>
            </a:solidFill>
            <a:prstDash val="solid"/>
          </a:ln>
        </p:spPr>
      </p:sp>
      <p:sp>
        <p:nvSpPr>
          <p:cNvPr id="19" name="Text 14"/>
          <p:cNvSpPr/>
          <p:nvPr/>
        </p:nvSpPr>
        <p:spPr>
          <a:xfrm>
            <a:off x="1304925" y="6191696"/>
            <a:ext cx="4715598"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27" kern="0" dirty="0">
                <a:solidFill>
                  <a:srgbClr val="FFFFFF"/>
                </a:solidFill>
                <a:latin typeface="Arial" pitchFamily="34" charset="0"/>
                <a:ea typeface="Arial" pitchFamily="34" charset="-122"/>
                <a:cs typeface="Arial" pitchFamily="34" charset="-120"/>
              </a:rPr>
              <a:t>Docker</a:t>
            </a:r>
            <a:endParaRPr lang="en-US" sz="2700" dirty="0"/>
          </a:p>
        </p:txBody>
      </p:sp>
      <p:pic>
        <p:nvPicPr>
          <p:cNvPr id="20" name="Image 3" descr="preencoded.png">    </p:cNvPr>
          <p:cNvPicPr>
            <a:picLocks noChangeAspect="1"/>
          </p:cNvPicPr>
          <p:nvPr/>
        </p:nvPicPr>
        <p:blipFill>
          <a:blip r:embed="rId4"/>
          <a:stretch>
            <a:fillRect/>
          </a:stretch>
        </p:blipFill>
        <p:spPr>
          <a:xfrm>
            <a:off x="5425976" y="6153596"/>
            <a:ext cx="533400" cy="533400"/>
          </a:xfrm>
          <a:prstGeom prst="rect">
            <a:avLst/>
          </a:prstGeom>
        </p:spPr>
      </p:pic>
      <p:sp>
        <p:nvSpPr>
          <p:cNvPr id="21" name="Text 15"/>
          <p:cNvSpPr/>
          <p:nvPr/>
        </p:nvSpPr>
        <p:spPr>
          <a:xfrm>
            <a:off x="1394460" y="6763196"/>
            <a:ext cx="4564916" cy="611386"/>
          </a:xfrm>
          <a:prstGeom prst="rect">
            <a:avLst/>
          </a:prstGeom>
          <a:noFill/>
          <a:ln/>
        </p:spPr>
        <p:txBody>
          <a:bodyPr wrap="square" lIns="25400" tIns="25400" rIns="25400" bIns="25400" rtlCol="0" anchor="t">
            <a:normAutofit/>
          </a:bodyPr>
          <a:lstStyle/>
          <a:p>
            <a:pPr algn="l" marL="120015" indent="-120015">
              <a:lnSpc>
                <a:spcPct val="145000"/>
              </a:lnSpc>
              <a:buSzPct val="100000"/>
              <a:buChar char="•"/>
              <a:tabLst>
                <a:tab pos="120015" algn="l"/>
              </a:tabLst>
            </a:pPr>
            <a:r>
              <a:rPr lang="en-US" sz="1350" dirty="0">
                <a:solidFill>
                  <a:srgbClr val="FFFFFF">
                    <a:alpha val="92000"/>
                  </a:srgbClr>
                </a:solidFill>
                <a:latin typeface="-apple-system" pitchFamily="34" charset="0"/>
                <a:ea typeface="-apple-system" pitchFamily="34" charset="-122"/>
                <a:cs typeface="-apple-system" pitchFamily="34" charset="-120"/>
              </a:rPr>
              <a:t>Reproducible PostgreSQL 16 environment.</a:t>
            </a:r>
            <a:endParaRPr lang="en-US" sz="1350" dirty="0"/>
          </a:p>
          <a:p>
            <a:pPr algn="l" marL="120015" indent="-120015">
              <a:lnSpc>
                <a:spcPct val="145000"/>
              </a:lnSpc>
              <a:buSzPct val="100000"/>
              <a:buChar char="•"/>
              <a:tabLst>
                <a:tab pos="120015" algn="l"/>
              </a:tabLst>
            </a:pPr>
            <a:r>
              <a:rPr lang="en-US" sz="1350" dirty="0">
                <a:solidFill>
                  <a:srgbClr val="FFFFFF">
                    <a:alpha val="92000"/>
                  </a:srgbClr>
                </a:solidFill>
                <a:latin typeface="-apple-system" pitchFamily="34" charset="0"/>
                <a:ea typeface="-apple-system" pitchFamily="34" charset="-122"/>
                <a:cs typeface="-apple-system" pitchFamily="34" charset="-120"/>
              </a:rPr>
              <a:t>One-command database rebuild from scratch.</a:t>
            </a:r>
            <a:endParaRPr lang="en-US" sz="1350" dirty="0"/>
          </a:p>
        </p:txBody>
      </p:sp>
      <p:sp>
        <p:nvSpPr>
          <p:cNvPr id="22" name="Shape 16"/>
          <p:cNvSpPr/>
          <p:nvPr/>
        </p:nvSpPr>
        <p:spPr>
          <a:xfrm>
            <a:off x="6502301" y="5877371"/>
            <a:ext cx="5283250" cy="3009454"/>
          </a:xfrm>
          <a:prstGeom prst="roundRect">
            <a:avLst>
              <a:gd name="adj" fmla="val 3165"/>
            </a:avLst>
          </a:prstGeom>
          <a:solidFill>
            <a:srgbClr val="1E2A55"/>
          </a:solidFill>
          <a:ln/>
        </p:spPr>
      </p:sp>
      <p:sp>
        <p:nvSpPr>
          <p:cNvPr id="23" name="Text 17"/>
          <p:cNvSpPr/>
          <p:nvPr/>
        </p:nvSpPr>
        <p:spPr>
          <a:xfrm>
            <a:off x="6845201" y="6182171"/>
            <a:ext cx="4735373"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27" kern="0" dirty="0">
                <a:solidFill>
                  <a:srgbClr val="FFFFFF"/>
                </a:solidFill>
                <a:latin typeface="Arial" pitchFamily="34" charset="0"/>
                <a:ea typeface="Arial" pitchFamily="34" charset="-122"/>
                <a:cs typeface="Arial" pitchFamily="34" charset="-120"/>
              </a:rPr>
              <a:t>Alembic</a:t>
            </a:r>
            <a:endParaRPr lang="en-US" sz="2700" dirty="0"/>
          </a:p>
        </p:txBody>
      </p:sp>
      <p:pic>
        <p:nvPicPr>
          <p:cNvPr id="24" name="Image 4" descr="preencoded.png">    </p:cNvPr>
          <p:cNvPicPr>
            <a:picLocks noChangeAspect="1"/>
          </p:cNvPicPr>
          <p:nvPr/>
        </p:nvPicPr>
        <p:blipFill>
          <a:blip r:embed="rId5"/>
          <a:stretch>
            <a:fillRect/>
          </a:stretch>
        </p:blipFill>
        <p:spPr>
          <a:xfrm>
            <a:off x="10985450" y="6144071"/>
            <a:ext cx="533400" cy="533400"/>
          </a:xfrm>
          <a:prstGeom prst="rect">
            <a:avLst/>
          </a:prstGeom>
        </p:spPr>
      </p:pic>
      <p:sp>
        <p:nvSpPr>
          <p:cNvPr id="25" name="Text 18"/>
          <p:cNvSpPr/>
          <p:nvPr/>
        </p:nvSpPr>
        <p:spPr>
          <a:xfrm>
            <a:off x="6934736" y="6753671"/>
            <a:ext cx="4584115" cy="611386"/>
          </a:xfrm>
          <a:prstGeom prst="rect">
            <a:avLst/>
          </a:prstGeom>
          <a:noFill/>
          <a:ln/>
        </p:spPr>
        <p:txBody>
          <a:bodyPr wrap="square" lIns="25400" tIns="25400" rIns="25400" bIns="25400" rtlCol="0" anchor="t">
            <a:normAutofit/>
          </a:bodyPr>
          <a:lstStyle/>
          <a:p>
            <a:pPr algn="l" marL="120015" indent="-120015">
              <a:lnSpc>
                <a:spcPct val="145000"/>
              </a:lnSpc>
              <a:buSzPct val="100000"/>
              <a:buChar char="•"/>
              <a:tabLst>
                <a:tab pos="120015" algn="l"/>
              </a:tabLst>
            </a:pPr>
            <a:r>
              <a:rPr lang="en-US" sz="1350" dirty="0">
                <a:solidFill>
                  <a:srgbClr val="FFFFFF"/>
                </a:solidFill>
                <a:latin typeface="-apple-system" pitchFamily="34" charset="0"/>
                <a:ea typeface="-apple-system" pitchFamily="34" charset="-122"/>
                <a:cs typeface="-apple-system" pitchFamily="34" charset="-120"/>
              </a:rPr>
              <a:t>Schema migrations versioned in Git.</a:t>
            </a:r>
            <a:endParaRPr lang="en-US" sz="1350" dirty="0"/>
          </a:p>
          <a:p>
            <a:pPr algn="l" marL="120015" indent="-120015">
              <a:lnSpc>
                <a:spcPct val="145000"/>
              </a:lnSpc>
              <a:buSzPct val="100000"/>
              <a:buChar char="•"/>
              <a:tabLst>
                <a:tab pos="120015" algn="l"/>
              </a:tabLst>
            </a:pPr>
            <a:r>
              <a:rPr lang="en-US" sz="1350" dirty="0">
                <a:solidFill>
                  <a:srgbClr val="FFFFFF"/>
                </a:solidFill>
                <a:latin typeface="-apple-system" pitchFamily="34" charset="0"/>
                <a:ea typeface="-apple-system" pitchFamily="34" charset="-122"/>
                <a:cs typeface="-apple-system" pitchFamily="34" charset="-120"/>
              </a:rPr>
              <a:t>Every table change ships as a migration.</a:t>
            </a:r>
            <a:endParaRPr lang="en-US" sz="1350" dirty="0"/>
          </a:p>
        </p:txBody>
      </p:sp>
      <p:sp>
        <p:nvSpPr>
          <p:cNvPr id="26" name="Shape 19"/>
          <p:cNvSpPr/>
          <p:nvPr/>
        </p:nvSpPr>
        <p:spPr>
          <a:xfrm>
            <a:off x="12052250" y="5877371"/>
            <a:ext cx="5283250" cy="3009454"/>
          </a:xfrm>
          <a:prstGeom prst="roundRect">
            <a:avLst>
              <a:gd name="adj" fmla="val 3165"/>
            </a:avLst>
          </a:prstGeom>
          <a:solidFill>
            <a:srgbClr val="0A0D12"/>
          </a:solidFill>
          <a:ln w="9525">
            <a:solidFill>
              <a:srgbClr val="1A2030"/>
            </a:solidFill>
            <a:prstDash val="solid"/>
          </a:ln>
        </p:spPr>
      </p:sp>
      <p:sp>
        <p:nvSpPr>
          <p:cNvPr id="27" name="Text 20"/>
          <p:cNvSpPr/>
          <p:nvPr/>
        </p:nvSpPr>
        <p:spPr>
          <a:xfrm>
            <a:off x="12404675" y="6191696"/>
            <a:ext cx="4715752"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b="1" spc="-27" kern="0" dirty="0">
                <a:solidFill>
                  <a:srgbClr val="FFFFFF"/>
                </a:solidFill>
                <a:latin typeface="Arial" pitchFamily="34" charset="0"/>
                <a:ea typeface="Arial" pitchFamily="34" charset="-122"/>
                <a:cs typeface="Arial" pitchFamily="34" charset="-120"/>
              </a:rPr>
              <a:t>Streamlit + Plotly</a:t>
            </a:r>
            <a:endParaRPr lang="en-US" sz="2700" dirty="0"/>
          </a:p>
        </p:txBody>
      </p:sp>
      <p:pic>
        <p:nvPicPr>
          <p:cNvPr id="28" name="Image 5" descr="preencoded.png">    </p:cNvPr>
          <p:cNvPicPr>
            <a:picLocks noChangeAspect="1"/>
          </p:cNvPicPr>
          <p:nvPr/>
        </p:nvPicPr>
        <p:blipFill>
          <a:blip r:embed="rId6"/>
          <a:stretch>
            <a:fillRect/>
          </a:stretch>
        </p:blipFill>
        <p:spPr>
          <a:xfrm>
            <a:off x="16525875" y="6153596"/>
            <a:ext cx="533400" cy="533400"/>
          </a:xfrm>
          <a:prstGeom prst="rect">
            <a:avLst/>
          </a:prstGeom>
        </p:spPr>
      </p:pic>
      <p:sp>
        <p:nvSpPr>
          <p:cNvPr id="29" name="Text 21"/>
          <p:cNvSpPr/>
          <p:nvPr/>
        </p:nvSpPr>
        <p:spPr>
          <a:xfrm>
            <a:off x="12494210" y="6763196"/>
            <a:ext cx="4565065" cy="611386"/>
          </a:xfrm>
          <a:prstGeom prst="rect">
            <a:avLst/>
          </a:prstGeom>
          <a:noFill/>
          <a:ln/>
        </p:spPr>
        <p:txBody>
          <a:bodyPr wrap="square" lIns="25400" tIns="25400" rIns="25400" bIns="25400" rtlCol="0" anchor="t">
            <a:normAutofit/>
          </a:bodyPr>
          <a:lstStyle/>
          <a:p>
            <a:pPr algn="l" marL="120015" indent="-120015">
              <a:lnSpc>
                <a:spcPct val="145000"/>
              </a:lnSpc>
              <a:buSzPct val="100000"/>
              <a:buChar char="•"/>
              <a:tabLst>
                <a:tab pos="120015" algn="l"/>
              </a:tabLst>
            </a:pPr>
            <a:r>
              <a:rPr lang="en-US" sz="1350" dirty="0">
                <a:solidFill>
                  <a:srgbClr val="FFFFFF">
                    <a:alpha val="92000"/>
                  </a:srgbClr>
                </a:solidFill>
                <a:latin typeface="-apple-system" pitchFamily="34" charset="0"/>
                <a:ea typeface="-apple-system" pitchFamily="34" charset="-122"/>
                <a:cs typeface="-apple-system" pitchFamily="34" charset="-120"/>
              </a:rPr>
              <a:t>Interactive dashboard layer.</a:t>
            </a:r>
            <a:endParaRPr lang="en-US" sz="1350" dirty="0"/>
          </a:p>
          <a:p>
            <a:pPr algn="l" marL="120015" indent="-120015">
              <a:lnSpc>
                <a:spcPct val="145000"/>
              </a:lnSpc>
              <a:buSzPct val="100000"/>
              <a:buChar char="•"/>
              <a:tabLst>
                <a:tab pos="120015" algn="l"/>
              </a:tabLst>
            </a:pPr>
            <a:r>
              <a:rPr lang="en-US" sz="1350" dirty="0">
                <a:solidFill>
                  <a:srgbClr val="FFFFFF">
                    <a:alpha val="92000"/>
                  </a:srgbClr>
                </a:solidFill>
                <a:latin typeface="-apple-system" pitchFamily="34" charset="0"/>
                <a:ea typeface="-apple-system" pitchFamily="34" charset="-122"/>
                <a:cs typeface="-apple-system" pitchFamily="34" charset="-120"/>
              </a:rPr>
              <a:t>Hits PostgreSQL directly via SQLAlchemy.</a:t>
            </a:r>
            <a:endParaRPr lang="en-US" sz="1350" dirty="0"/>
          </a:p>
        </p:txBody>
      </p:sp>
      <p:sp>
        <p:nvSpPr>
          <p:cNvPr id="30" name="Shape 22"/>
          <p:cNvSpPr/>
          <p:nvPr/>
        </p:nvSpPr>
        <p:spPr>
          <a:xfrm>
            <a:off x="952500" y="9115425"/>
            <a:ext cx="16383000" cy="485775"/>
          </a:xfrm>
          <a:prstGeom prst="roundRect">
            <a:avLst>
              <a:gd name="adj" fmla="val 11765"/>
            </a:avLst>
          </a:prstGeom>
          <a:solidFill>
            <a:srgbClr val="141923"/>
          </a:solidFill>
          <a:ln w="9525">
            <a:solidFill>
              <a:srgbClr val="232A3A"/>
            </a:solidFill>
            <a:prstDash val="solid"/>
          </a:ln>
        </p:spPr>
      </p:sp>
      <p:sp>
        <p:nvSpPr>
          <p:cNvPr id="31" name="Text 23"/>
          <p:cNvSpPr/>
          <p:nvPr/>
        </p:nvSpPr>
        <p:spPr>
          <a:xfrm>
            <a:off x="1171575" y="9258300"/>
            <a:ext cx="16436340" cy="238125"/>
          </a:xfrm>
          <a:prstGeom prst="rect">
            <a:avLst/>
          </a:prstGeom>
          <a:noFill/>
          <a:ln/>
        </p:spPr>
        <p:txBody>
          <a:bodyPr wrap="square" lIns="25400" tIns="25400" rIns="25400" bIns="25400" rtlCol="0" anchor="t">
            <a:normAutofit/>
          </a:bodyPr>
          <a:lstStyle/>
          <a:p>
            <a:pPr algn="l" indent="0" marL="0">
              <a:buNone/>
            </a:pPr>
            <a:r>
              <a:rPr lang="en-US" sz="1200" b="1" spc="168" kern="0" dirty="0">
                <a:solidFill>
                  <a:srgbClr val="E8ECF4"/>
                </a:solidFill>
                <a:latin typeface="Arial" pitchFamily="34" charset="0"/>
                <a:ea typeface="Arial" pitchFamily="34" charset="-122"/>
                <a:cs typeface="Arial" pitchFamily="34" charset="-120"/>
              </a:rPr>
              <a:t>STACK </a:t>
            </a:r>
            <a:pPr algn="l" indent="0" marL="0">
              <a:buNone/>
            </a:pPr>
            <a:r>
              <a:rPr lang="en-US" sz="1200" spc="168" kern="0" dirty="0">
                <a:solidFill>
                  <a:srgbClr val="8A93A6"/>
                </a:solidFill>
                <a:highlight>
                  <a:srgbClr val="141923"/>
                </a:highlight>
                <a:latin typeface="Arial" pitchFamily="34" charset="0"/>
                <a:ea typeface="Arial" pitchFamily="34" charset="-122"/>
                <a:cs typeface="Arial" pitchFamily="34" charset="-120"/>
              </a:rPr>
              <a:t>· POSTGRESQL 16 + SQLALCHEMY + PYTHON LOADERS FOR THE DATA PLANE.</a:t>
            </a:r>
            <a:endParaRPr lang="en-US" sz="1200" dirty="0"/>
          </a:p>
        </p:txBody>
      </p:sp>
      <p:sp>
        <p:nvSpPr>
          <p:cNvPr id="32" name="Shape 24"/>
          <p:cNvSpPr/>
          <p:nvPr/>
        </p:nvSpPr>
        <p:spPr>
          <a:xfrm>
            <a:off x="952500" y="9648825"/>
            <a:ext cx="16383000" cy="9525"/>
          </a:xfrm>
          <a:prstGeom prst="rect">
            <a:avLst/>
          </a:prstGeom>
          <a:solidFill>
            <a:srgbClr val="232A3A"/>
          </a:solidFill>
          <a:ln/>
        </p:spPr>
      </p:sp>
      <p:sp>
        <p:nvSpPr>
          <p:cNvPr id="33" name="Text 25"/>
          <p:cNvSpPr/>
          <p:nvPr/>
        </p:nvSpPr>
        <p:spPr>
          <a:xfrm>
            <a:off x="952500" y="9810750"/>
            <a:ext cx="2288381"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02 / 11 · RIVER · 0:45</a:t>
            </a:r>
            <a:endParaRPr lang="en-US" sz="1200" dirty="0"/>
          </a:p>
        </p:txBody>
      </p:sp>
      <p:sp>
        <p:nvSpPr>
          <p:cNvPr id="34" name="Text 26"/>
          <p:cNvSpPr/>
          <p:nvPr/>
        </p:nvSpPr>
        <p:spPr>
          <a:xfrm>
            <a:off x="14257288" y="9810750"/>
            <a:ext cx="3170558"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PROJECT MANAGEMENT &amp; STACK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1717625"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02 </a:t>
            </a:r>
            <a:pPr algn="l" indent="0" marL="0">
              <a:buNone/>
            </a:pPr>
            <a:r>
              <a:rPr lang="en-US" sz="1350" spc="243" kern="0" dirty="0">
                <a:solidFill>
                  <a:srgbClr val="C3CAD8"/>
                </a:solidFill>
                <a:latin typeface="Arial" pitchFamily="34" charset="0"/>
                <a:ea typeface="Arial" pitchFamily="34" charset="-122"/>
                <a:cs typeface="Arial" pitchFamily="34" charset="-120"/>
              </a:rPr>
              <a:t>/ DATASET</a:t>
            </a:r>
            <a:endParaRPr lang="en-US" sz="1350" dirty="0"/>
          </a:p>
        </p:txBody>
      </p:sp>
      <p:sp>
        <p:nvSpPr>
          <p:cNvPr id="4" name="Text 2"/>
          <p:cNvSpPr/>
          <p:nvPr/>
        </p:nvSpPr>
        <p:spPr>
          <a:xfrm>
            <a:off x="15329892" y="628650"/>
            <a:ext cx="2081808"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SECTION 03 OF 11</a:t>
            </a:r>
            <a:endParaRPr lang="en-US" sz="1350" dirty="0"/>
          </a:p>
        </p:txBody>
      </p:sp>
      <p:sp>
        <p:nvSpPr>
          <p:cNvPr id="5" name="Text 3"/>
          <p:cNvSpPr/>
          <p:nvPr/>
        </p:nvSpPr>
        <p:spPr>
          <a:xfrm>
            <a:off x="952500" y="1600200"/>
            <a:ext cx="16874490" cy="696367"/>
          </a:xfrm>
          <a:prstGeom prst="rect">
            <a:avLst/>
          </a:prstGeom>
          <a:noFill/>
          <a:ln/>
        </p:spPr>
        <p:txBody>
          <a:bodyPr wrap="square" lIns="25400" tIns="25400" rIns="25400" bIns="25400" rtlCol="0" anchor="t">
            <a:normAutofit/>
          </a:bodyPr>
          <a:lstStyle/>
          <a:p>
            <a:pPr algn="l" indent="0" marL="0">
              <a:lnSpc>
                <a:spcPct val="108000"/>
              </a:lnSpc>
              <a:buNone/>
            </a:pPr>
            <a:r>
              <a:rPr lang="en-US" sz="4800" spc="-58" kern="0" dirty="0">
                <a:solidFill>
                  <a:srgbClr val="E8ECF4"/>
                </a:solidFill>
                <a:latin typeface="Arial" pitchFamily="34" charset="0"/>
                <a:ea typeface="Arial" pitchFamily="34" charset="-122"/>
                <a:cs typeface="Arial" pitchFamily="34" charset="-120"/>
              </a:rPr>
              <a:t>A 22-table 3NF schema over the russellmitchell testbed.</a:t>
            </a:r>
            <a:endParaRPr lang="en-US" sz="4800" dirty="0"/>
          </a:p>
        </p:txBody>
      </p:sp>
      <p:sp>
        <p:nvSpPr>
          <p:cNvPr id="6" name="Shape 4"/>
          <p:cNvSpPr/>
          <p:nvPr/>
        </p:nvSpPr>
        <p:spPr>
          <a:xfrm>
            <a:off x="952500" y="2601367"/>
            <a:ext cx="3895725" cy="9525"/>
          </a:xfrm>
          <a:prstGeom prst="rect">
            <a:avLst/>
          </a:prstGeom>
          <a:solidFill>
            <a:srgbClr val="232A3A"/>
          </a:solidFill>
          <a:ln/>
        </p:spPr>
      </p:sp>
      <p:sp>
        <p:nvSpPr>
          <p:cNvPr id="7" name="Text 5"/>
          <p:cNvSpPr/>
          <p:nvPr/>
        </p:nvSpPr>
        <p:spPr>
          <a:xfrm>
            <a:off x="952500" y="2782342"/>
            <a:ext cx="4012597"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57" kern="0" dirty="0">
                <a:solidFill>
                  <a:srgbClr val="E8ECF4"/>
                </a:solidFill>
                <a:latin typeface="Arial" pitchFamily="34" charset="0"/>
                <a:ea typeface="Arial" pitchFamily="34" charset="-122"/>
                <a:cs typeface="Arial" pitchFamily="34" charset="-120"/>
              </a:rPr>
              <a:t>22</a:t>
            </a:r>
            <a:endParaRPr lang="en-US" sz="5700" dirty="0"/>
          </a:p>
        </p:txBody>
      </p:sp>
      <p:sp>
        <p:nvSpPr>
          <p:cNvPr id="8" name="Text 6"/>
          <p:cNvSpPr/>
          <p:nvPr/>
        </p:nvSpPr>
        <p:spPr>
          <a:xfrm>
            <a:off x="952500" y="3601492"/>
            <a:ext cx="4012597" cy="20955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8A93A6"/>
                </a:solidFill>
                <a:latin typeface="Arial" pitchFamily="34" charset="0"/>
                <a:ea typeface="Arial" pitchFamily="34" charset="-122"/>
                <a:cs typeface="Arial" pitchFamily="34" charset="-120"/>
              </a:rPr>
              <a:t>HOSTS IN INVENTORY</a:t>
            </a:r>
            <a:endParaRPr lang="en-US" sz="1200" dirty="0"/>
          </a:p>
        </p:txBody>
      </p:sp>
      <p:sp>
        <p:nvSpPr>
          <p:cNvPr id="9" name="Shape 7"/>
          <p:cNvSpPr/>
          <p:nvPr/>
        </p:nvSpPr>
        <p:spPr>
          <a:xfrm>
            <a:off x="5114925" y="2601367"/>
            <a:ext cx="3895725" cy="9525"/>
          </a:xfrm>
          <a:prstGeom prst="rect">
            <a:avLst/>
          </a:prstGeom>
          <a:solidFill>
            <a:srgbClr val="232A3A"/>
          </a:solidFill>
          <a:ln/>
        </p:spPr>
      </p:sp>
      <p:sp>
        <p:nvSpPr>
          <p:cNvPr id="10" name="Text 8"/>
          <p:cNvSpPr/>
          <p:nvPr/>
        </p:nvSpPr>
        <p:spPr>
          <a:xfrm>
            <a:off x="5114925" y="2782342"/>
            <a:ext cx="4012597"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57" kern="0" dirty="0">
                <a:solidFill>
                  <a:srgbClr val="E8ECF4"/>
                </a:solidFill>
                <a:latin typeface="Arial" pitchFamily="34" charset="0"/>
                <a:ea typeface="Arial" pitchFamily="34" charset="-122"/>
                <a:cs typeface="Arial" pitchFamily="34" charset="-120"/>
              </a:rPr>
              <a:t>8</a:t>
            </a:r>
            <a:endParaRPr lang="en-US" sz="5700" dirty="0"/>
          </a:p>
        </p:txBody>
      </p:sp>
      <p:sp>
        <p:nvSpPr>
          <p:cNvPr id="11" name="Text 9"/>
          <p:cNvSpPr/>
          <p:nvPr/>
        </p:nvSpPr>
        <p:spPr>
          <a:xfrm>
            <a:off x="5114925" y="3601492"/>
            <a:ext cx="4012597" cy="20955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8A93A6"/>
                </a:solidFill>
                <a:latin typeface="Arial" pitchFamily="34" charset="0"/>
                <a:ea typeface="Arial" pitchFamily="34" charset="-122"/>
                <a:cs typeface="Arial" pitchFamily="34" charset="-120"/>
              </a:rPr>
              <a:t>SOURCE LOG FILES</a:t>
            </a:r>
            <a:endParaRPr lang="en-US" sz="1200" dirty="0"/>
          </a:p>
        </p:txBody>
      </p:sp>
      <p:sp>
        <p:nvSpPr>
          <p:cNvPr id="12" name="Shape 10"/>
          <p:cNvSpPr/>
          <p:nvPr/>
        </p:nvSpPr>
        <p:spPr>
          <a:xfrm>
            <a:off x="9277350" y="2601367"/>
            <a:ext cx="3895725" cy="9525"/>
          </a:xfrm>
          <a:prstGeom prst="rect">
            <a:avLst/>
          </a:prstGeom>
          <a:solidFill>
            <a:srgbClr val="232A3A"/>
          </a:solidFill>
          <a:ln/>
        </p:spPr>
      </p:sp>
      <p:sp>
        <p:nvSpPr>
          <p:cNvPr id="13" name="Text 11"/>
          <p:cNvSpPr/>
          <p:nvPr/>
        </p:nvSpPr>
        <p:spPr>
          <a:xfrm>
            <a:off x="9277350" y="2782342"/>
            <a:ext cx="4012597"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57" kern="0" dirty="0">
                <a:solidFill>
                  <a:srgbClr val="E8ECF4"/>
                </a:solidFill>
                <a:latin typeface="Arial" pitchFamily="34" charset="0"/>
                <a:ea typeface="Arial" pitchFamily="34" charset="-122"/>
                <a:cs typeface="Arial" pitchFamily="34" charset="-120"/>
              </a:rPr>
              <a:t>61,862</a:t>
            </a:r>
            <a:endParaRPr lang="en-US" sz="5700" dirty="0"/>
          </a:p>
        </p:txBody>
      </p:sp>
      <p:sp>
        <p:nvSpPr>
          <p:cNvPr id="14" name="Text 12"/>
          <p:cNvSpPr/>
          <p:nvPr/>
        </p:nvSpPr>
        <p:spPr>
          <a:xfrm>
            <a:off x="9277350" y="3601492"/>
            <a:ext cx="4012597" cy="20955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8A93A6"/>
                </a:solidFill>
                <a:latin typeface="Arial" pitchFamily="34" charset="0"/>
                <a:ea typeface="Arial" pitchFamily="34" charset="-122"/>
                <a:cs typeface="Arial" pitchFamily="34" charset="-120"/>
              </a:rPr>
              <a:t>LABELED ATTACK LINES</a:t>
            </a:r>
            <a:endParaRPr lang="en-US" sz="1200" dirty="0"/>
          </a:p>
        </p:txBody>
      </p:sp>
      <p:sp>
        <p:nvSpPr>
          <p:cNvPr id="15" name="Shape 13"/>
          <p:cNvSpPr/>
          <p:nvPr/>
        </p:nvSpPr>
        <p:spPr>
          <a:xfrm>
            <a:off x="13439775" y="2601367"/>
            <a:ext cx="3895725" cy="9525"/>
          </a:xfrm>
          <a:prstGeom prst="rect">
            <a:avLst/>
          </a:prstGeom>
          <a:solidFill>
            <a:srgbClr val="232A3A"/>
          </a:solidFill>
          <a:ln/>
        </p:spPr>
      </p:sp>
      <p:sp>
        <p:nvSpPr>
          <p:cNvPr id="16" name="Text 14"/>
          <p:cNvSpPr/>
          <p:nvPr/>
        </p:nvSpPr>
        <p:spPr>
          <a:xfrm>
            <a:off x="13439775" y="2782342"/>
            <a:ext cx="4012597" cy="762000"/>
          </a:xfrm>
          <a:prstGeom prst="rect">
            <a:avLst/>
          </a:prstGeom>
          <a:noFill/>
          <a:ln/>
        </p:spPr>
        <p:txBody>
          <a:bodyPr wrap="square" lIns="25400" tIns="25400" rIns="25400" bIns="25400" rtlCol="0" anchor="t">
            <a:normAutofit/>
          </a:bodyPr>
          <a:lstStyle/>
          <a:p>
            <a:pPr algn="l" indent="0" marL="0">
              <a:lnSpc>
                <a:spcPct val="100000"/>
              </a:lnSpc>
              <a:buNone/>
            </a:pPr>
            <a:r>
              <a:rPr lang="en-US" sz="5700" spc="-57" kern="0" dirty="0">
                <a:solidFill>
                  <a:srgbClr val="E8ECF4"/>
                </a:solidFill>
                <a:latin typeface="Arial" pitchFamily="34" charset="0"/>
                <a:ea typeface="Arial" pitchFamily="34" charset="-122"/>
                <a:cs typeface="Arial" pitchFamily="34" charset="-120"/>
              </a:rPr>
              <a:t>~439K</a:t>
            </a:r>
            <a:endParaRPr lang="en-US" sz="5700" dirty="0"/>
          </a:p>
        </p:txBody>
      </p:sp>
      <p:sp>
        <p:nvSpPr>
          <p:cNvPr id="17" name="Text 15"/>
          <p:cNvSpPr/>
          <p:nvPr/>
        </p:nvSpPr>
        <p:spPr>
          <a:xfrm>
            <a:off x="13439775" y="3601492"/>
            <a:ext cx="4012597" cy="209550"/>
          </a:xfrm>
          <a:prstGeom prst="rect">
            <a:avLst/>
          </a:prstGeom>
          <a:noFill/>
          <a:ln/>
        </p:spPr>
        <p:txBody>
          <a:bodyPr wrap="square" lIns="25400" tIns="25400" rIns="25400" bIns="25400" rtlCol="0" anchor="t">
            <a:normAutofit/>
          </a:bodyPr>
          <a:lstStyle/>
          <a:p>
            <a:pPr algn="l" indent="0" marL="0">
              <a:buNone/>
            </a:pPr>
            <a:r>
              <a:rPr lang="en-US" sz="1200" spc="216" kern="0" dirty="0">
                <a:solidFill>
                  <a:srgbClr val="8A93A6"/>
                </a:solidFill>
                <a:latin typeface="Arial" pitchFamily="34" charset="0"/>
                <a:ea typeface="Arial" pitchFamily="34" charset="-122"/>
                <a:cs typeface="Arial" pitchFamily="34" charset="-120"/>
              </a:rPr>
              <a:t>LOADED ROWS</a:t>
            </a:r>
            <a:endParaRPr lang="en-US" sz="1200" dirty="0"/>
          </a:p>
        </p:txBody>
      </p:sp>
      <p:sp>
        <p:nvSpPr>
          <p:cNvPr id="18" name="Text 16"/>
          <p:cNvSpPr/>
          <p:nvPr/>
        </p:nvSpPr>
        <p:spPr>
          <a:xfrm>
            <a:off x="952500" y="4192042"/>
            <a:ext cx="8570610" cy="209550"/>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FF5A4E"/>
                </a:solidFill>
                <a:latin typeface="Arial" pitchFamily="34" charset="0"/>
                <a:ea typeface="Arial" pitchFamily="34" charset="-122"/>
                <a:cs typeface="Arial" pitchFamily="34" charset="-120"/>
              </a:rPr>
              <a:t>SOURCE DATA, THREE DOMAINS</a:t>
            </a:r>
            <a:endParaRPr lang="en-US" sz="1200" dirty="0"/>
          </a:p>
        </p:txBody>
      </p:sp>
      <p:sp>
        <p:nvSpPr>
          <p:cNvPr id="19" name="Shape 17"/>
          <p:cNvSpPr/>
          <p:nvPr/>
        </p:nvSpPr>
        <p:spPr>
          <a:xfrm>
            <a:off x="952500" y="5160615"/>
            <a:ext cx="8320980" cy="9525"/>
          </a:xfrm>
          <a:prstGeom prst="rect">
            <a:avLst/>
          </a:prstGeom>
          <a:solidFill>
            <a:srgbClr val="232A3A"/>
          </a:solidFill>
          <a:ln/>
        </p:spPr>
      </p:sp>
      <p:sp>
        <p:nvSpPr>
          <p:cNvPr id="20" name="Text 18"/>
          <p:cNvSpPr/>
          <p:nvPr/>
        </p:nvSpPr>
        <p:spPr>
          <a:xfrm>
            <a:off x="1219200" y="4668292"/>
            <a:ext cx="8303910" cy="397073"/>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E8ECF4"/>
                </a:solidFill>
                <a:latin typeface="-apple-system" pitchFamily="34" charset="0"/>
                <a:ea typeface="-apple-system" pitchFamily="34" charset="-122"/>
                <a:cs typeface="-apple-system" pitchFamily="34" charset="-120"/>
              </a:rPr>
              <a:t>Host inventory</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7 tables, including </a:t>
            </a:r>
            <a:pPr algn="l" indent="0" marL="0">
              <a:lnSpc>
                <a:spcPct val="145000"/>
              </a:lnSpc>
              <a:buNone/>
            </a:pPr>
            <a:r>
              <a:rPr lang="en-US" sz="1794" dirty="0">
                <a:solidFill>
                  <a:srgbClr val="E8ECF4"/>
                </a:solidFill>
                <a:highlight>
                  <a:srgbClr val="1C2230"/>
                </a:highlight>
                <a:latin typeface="Arial" pitchFamily="34" charset="0"/>
                <a:ea typeface="Arial" pitchFamily="34" charset="-122"/>
                <a:cs typeface="Arial" pitchFamily="34" charset="-120"/>
              </a:rPr>
              <a:t>host</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a:t>
            </a:r>
            <a:pPr algn="l" indent="0" marL="0">
              <a:lnSpc>
                <a:spcPct val="145000"/>
              </a:lnSpc>
              <a:buNone/>
            </a:pPr>
            <a:r>
              <a:rPr lang="en-US" sz="1794" dirty="0">
                <a:solidFill>
                  <a:srgbClr val="E8ECF4"/>
                </a:solidFill>
                <a:highlight>
                  <a:srgbClr val="1C2230"/>
                </a:highlight>
                <a:latin typeface="Arial" pitchFamily="34" charset="0"/>
                <a:ea typeface="Arial" pitchFamily="34" charset="-122"/>
                <a:cs typeface="Arial" pitchFamily="34" charset="-120"/>
              </a:rPr>
              <a:t>fqdn</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a:t>
            </a:r>
            <a:pPr algn="l" indent="0" marL="0">
              <a:lnSpc>
                <a:spcPct val="145000"/>
              </a:lnSpc>
              <a:buNone/>
            </a:pPr>
            <a:r>
              <a:rPr lang="en-US" sz="1794" dirty="0">
                <a:solidFill>
                  <a:srgbClr val="E8ECF4"/>
                </a:solidFill>
                <a:highlight>
                  <a:srgbClr val="1C2230"/>
                </a:highlight>
                <a:latin typeface="Arial" pitchFamily="34" charset="0"/>
                <a:ea typeface="Arial" pitchFamily="34" charset="-122"/>
                <a:cs typeface="Arial" pitchFamily="34" charset="-120"/>
              </a:rPr>
              <a:t>ip_address</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a:t>
            </a:r>
            <a:pPr algn="l" indent="0" marL="0">
              <a:lnSpc>
                <a:spcPct val="145000"/>
              </a:lnSpc>
              <a:buNone/>
            </a:pPr>
            <a:r>
              <a:rPr lang="en-US" sz="1794" dirty="0">
                <a:solidFill>
                  <a:srgbClr val="E8ECF4"/>
                </a:solidFill>
                <a:highlight>
                  <a:srgbClr val="1C2230"/>
                </a:highlight>
                <a:latin typeface="Arial" pitchFamily="34" charset="0"/>
                <a:ea typeface="Arial" pitchFamily="34" charset="-122"/>
                <a:cs typeface="Arial" pitchFamily="34" charset="-120"/>
              </a:rPr>
              <a:t>distribution</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a:t>
            </a:r>
            <a:endParaRPr lang="en-US" sz="1950" dirty="0"/>
          </a:p>
        </p:txBody>
      </p:sp>
      <p:sp>
        <p:nvSpPr>
          <p:cNvPr id="21" name="Shape 19"/>
          <p:cNvSpPr/>
          <p:nvPr/>
        </p:nvSpPr>
        <p:spPr>
          <a:xfrm>
            <a:off x="952500" y="6154787"/>
            <a:ext cx="8320980" cy="9525"/>
          </a:xfrm>
          <a:prstGeom prst="rect">
            <a:avLst/>
          </a:prstGeom>
          <a:solidFill>
            <a:srgbClr val="232A3A"/>
          </a:solidFill>
          <a:ln/>
        </p:spPr>
      </p:sp>
      <p:sp>
        <p:nvSpPr>
          <p:cNvPr id="22" name="Text 20"/>
          <p:cNvSpPr/>
          <p:nvPr/>
        </p:nvSpPr>
        <p:spPr>
          <a:xfrm>
            <a:off x="1219200" y="5303490"/>
            <a:ext cx="8303910"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E8ECF4"/>
                </a:solidFill>
                <a:latin typeface="-apple-system" pitchFamily="34" charset="0"/>
                <a:ea typeface="-apple-system" pitchFamily="34" charset="-122"/>
                <a:cs typeface="-apple-system" pitchFamily="34" charset="-120"/>
              </a:rPr>
              <a:t>Audit events</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10 tables, with </a:t>
            </a:r>
            <a:pPr algn="l" indent="0" marL="0">
              <a:lnSpc>
                <a:spcPct val="145000"/>
              </a:lnSpc>
              <a:buNone/>
            </a:pPr>
            <a:r>
              <a:rPr lang="en-US" sz="1794" dirty="0">
                <a:solidFill>
                  <a:srgbClr val="E8ECF4"/>
                </a:solidFill>
                <a:highlight>
                  <a:srgbClr val="1C2230"/>
                </a:highlight>
                <a:latin typeface="Arial" pitchFamily="34" charset="0"/>
                <a:ea typeface="Arial" pitchFamily="34" charset="-122"/>
                <a:cs typeface="Arial" pitchFamily="34" charset="-120"/>
              </a:rPr>
              <a:t>audit_event </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as the supertype and 8 subtype tables for the audit-type families.</a:t>
            </a:r>
            <a:endParaRPr lang="en-US" sz="1950" dirty="0"/>
          </a:p>
        </p:txBody>
      </p:sp>
      <p:sp>
        <p:nvSpPr>
          <p:cNvPr id="23" name="Text 21"/>
          <p:cNvSpPr/>
          <p:nvPr/>
        </p:nvSpPr>
        <p:spPr>
          <a:xfrm>
            <a:off x="1219200" y="6297662"/>
            <a:ext cx="8303910" cy="756047"/>
          </a:xfrm>
          <a:prstGeom prst="rect">
            <a:avLst/>
          </a:prstGeom>
          <a:noFill/>
          <a:ln/>
        </p:spPr>
        <p:txBody>
          <a:bodyPr wrap="square" lIns="25400" tIns="25400" rIns="25400" bIns="25400" rtlCol="0" anchor="t">
            <a:normAutofit/>
          </a:bodyPr>
          <a:lstStyle/>
          <a:p>
            <a:pPr algn="l" indent="0" marL="0">
              <a:lnSpc>
                <a:spcPct val="145000"/>
              </a:lnSpc>
              <a:buNone/>
            </a:pPr>
            <a:r>
              <a:rPr lang="en-US" sz="1950" b="1" dirty="0">
                <a:solidFill>
                  <a:srgbClr val="E8ECF4"/>
                </a:solidFill>
                <a:latin typeface="-apple-system" pitchFamily="34" charset="0"/>
                <a:ea typeface="-apple-system" pitchFamily="34" charset="-122"/>
                <a:cs typeface="-apple-system" pitchFamily="34" charset="-120"/>
              </a:rPr>
              <a:t>Attack labels</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5 tables, including </a:t>
            </a:r>
            <a:pPr algn="l" indent="0" marL="0">
              <a:lnSpc>
                <a:spcPct val="145000"/>
              </a:lnSpc>
              <a:buNone/>
            </a:pPr>
            <a:r>
              <a:rPr lang="en-US" sz="1794" dirty="0">
                <a:solidFill>
                  <a:srgbClr val="E8ECF4"/>
                </a:solidFill>
                <a:highlight>
                  <a:srgbClr val="1C2230"/>
                </a:highlight>
                <a:latin typeface="Arial" pitchFamily="34" charset="0"/>
                <a:ea typeface="Arial" pitchFamily="34" charset="-122"/>
                <a:cs typeface="Arial" pitchFamily="34" charset="-120"/>
              </a:rPr>
              <a:t>attack_phase</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a:t>
            </a:r>
            <a:pPr algn="l" indent="0" marL="0">
              <a:lnSpc>
                <a:spcPct val="145000"/>
              </a:lnSpc>
              <a:buNone/>
            </a:pPr>
            <a:r>
              <a:rPr lang="en-US" sz="1794" dirty="0">
                <a:solidFill>
                  <a:srgbClr val="E8ECF4"/>
                </a:solidFill>
                <a:highlight>
                  <a:srgbClr val="1C2230"/>
                </a:highlight>
                <a:latin typeface="Arial" pitchFamily="34" charset="0"/>
                <a:ea typeface="Arial" pitchFamily="34" charset="-122"/>
                <a:cs typeface="Arial" pitchFamily="34" charset="-120"/>
              </a:rPr>
              <a:t>attack_label</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a:t>
            </a:r>
            <a:pPr algn="l" indent="0" marL="0">
              <a:lnSpc>
                <a:spcPct val="145000"/>
              </a:lnSpc>
              <a:buNone/>
            </a:pPr>
            <a:r>
              <a:rPr lang="en-US" sz="1794" dirty="0">
                <a:solidFill>
                  <a:srgbClr val="E8ECF4"/>
                </a:solidFill>
                <a:highlight>
                  <a:srgbClr val="1C2230"/>
                </a:highlight>
                <a:latin typeface="Arial" pitchFamily="34" charset="0"/>
                <a:ea typeface="Arial" pitchFamily="34" charset="-122"/>
                <a:cs typeface="Arial" pitchFamily="34" charset="-120"/>
              </a:rPr>
              <a:t>labeled_line</a:t>
            </a:r>
            <a:pPr algn="l" indent="0" marL="0">
              <a:lnSpc>
                <a:spcPct val="145000"/>
              </a:lnSpc>
              <a:buNone/>
            </a:pPr>
            <a:r>
              <a:rPr lang="en-US" sz="1950" dirty="0">
                <a:solidFill>
                  <a:srgbClr val="C3CAD8"/>
                </a:solidFill>
                <a:latin typeface="-apple-system" pitchFamily="34" charset="0"/>
                <a:ea typeface="-apple-system" pitchFamily="34" charset="-122"/>
                <a:cs typeface="-apple-system" pitchFamily="34" charset="-120"/>
              </a:rPr>
              <a:t>, plus a per-rule annotation table.</a:t>
            </a:r>
            <a:endParaRPr lang="en-US" sz="1950" dirty="0"/>
          </a:p>
        </p:txBody>
      </p:sp>
      <p:sp>
        <p:nvSpPr>
          <p:cNvPr id="24" name="Shape 22"/>
          <p:cNvSpPr/>
          <p:nvPr/>
        </p:nvSpPr>
        <p:spPr>
          <a:xfrm>
            <a:off x="9806880" y="4192042"/>
            <a:ext cx="7528471" cy="5409158"/>
          </a:xfrm>
          <a:prstGeom prst="roundRect">
            <a:avLst>
              <a:gd name="adj" fmla="val 1057"/>
            </a:avLst>
          </a:prstGeom>
          <a:solidFill>
            <a:srgbClr val="141923"/>
          </a:solidFill>
          <a:ln w="9525">
            <a:solidFill>
              <a:srgbClr val="232A3A"/>
            </a:solidFill>
            <a:prstDash val="solid"/>
          </a:ln>
        </p:spPr>
      </p:sp>
      <p:sp>
        <p:nvSpPr>
          <p:cNvPr id="25" name="Text 23"/>
          <p:cNvSpPr/>
          <p:nvPr/>
        </p:nvSpPr>
        <p:spPr>
          <a:xfrm>
            <a:off x="10064055" y="5858024"/>
            <a:ext cx="7224544" cy="19050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8A93A6"/>
                </a:solidFill>
                <a:latin typeface="Arial" pitchFamily="34" charset="0"/>
                <a:ea typeface="Arial" pitchFamily="34" charset="-122"/>
                <a:cs typeface="Arial" pitchFamily="34" charset="-120"/>
              </a:rPr>
              <a:t>STORY SETUP</a:t>
            </a:r>
            <a:endParaRPr lang="en-US" sz="1050" dirty="0"/>
          </a:p>
        </p:txBody>
      </p:sp>
      <p:sp>
        <p:nvSpPr>
          <p:cNvPr id="26" name="Text 24"/>
          <p:cNvSpPr/>
          <p:nvPr/>
        </p:nvSpPr>
        <p:spPr>
          <a:xfrm>
            <a:off x="10064055" y="6181874"/>
            <a:ext cx="7224544" cy="1362819"/>
          </a:xfrm>
          <a:prstGeom prst="rect">
            <a:avLst/>
          </a:prstGeom>
          <a:noFill/>
          <a:ln/>
        </p:spPr>
        <p:txBody>
          <a:bodyPr wrap="square" lIns="25400" tIns="25400" rIns="25400" bIns="25400" rtlCol="0" anchor="t">
            <a:normAutofit/>
          </a:bodyPr>
          <a:lstStyle/>
          <a:p>
            <a:pPr algn="l" indent="0" marL="0">
              <a:lnSpc>
                <a:spcPct val="122000"/>
              </a:lnSpc>
              <a:buNone/>
            </a:pPr>
            <a:r>
              <a:rPr lang="en-US" sz="2850" dirty="0">
                <a:solidFill>
                  <a:srgbClr val="E8ECF4"/>
                </a:solidFill>
                <a:latin typeface="Arial" pitchFamily="34" charset="0"/>
                <a:ea typeface="Arial" pitchFamily="34" charset="-122"/>
                <a:cs typeface="Arial" pitchFamily="34" charset="-120"/>
              </a:rPr>
              <a:t>An </a:t>
            </a:r>
            <a:pPr algn="l" indent="0" marL="0">
              <a:lnSpc>
                <a:spcPct val="122000"/>
              </a:lnSpc>
              <a:buNone/>
            </a:pPr>
            <a:r>
              <a:rPr lang="en-US" sz="2622" dirty="0">
                <a:solidFill>
                  <a:srgbClr val="E8ECF4"/>
                </a:solidFill>
                <a:highlight>
                  <a:srgbClr val="1C2230"/>
                </a:highlight>
                <a:latin typeface="Arial" pitchFamily="34" charset="0"/>
                <a:ea typeface="Arial" pitchFamily="34" charset="-122"/>
                <a:cs typeface="Arial" pitchFamily="34" charset="-120"/>
              </a:rPr>
              <a:t>access.log.2 </a:t>
            </a:r>
            <a:pPr algn="l" indent="0" marL="0">
              <a:lnSpc>
                <a:spcPct val="122000"/>
              </a:lnSpc>
              <a:buNone/>
            </a:pPr>
            <a:r>
              <a:rPr lang="en-US" sz="2850" dirty="0">
                <a:solidFill>
                  <a:srgbClr val="E8ECF4"/>
                </a:solidFill>
                <a:latin typeface="Arial" pitchFamily="34" charset="0"/>
                <a:ea typeface="Arial" pitchFamily="34" charset="-122"/>
                <a:cs typeface="Arial" pitchFamily="34" charset="-120"/>
              </a:rPr>
              <a:t>foothold leads into the </a:t>
            </a:r>
            <a:pPr algn="l" indent="0" marL="0">
              <a:lnSpc>
                <a:spcPct val="122000"/>
              </a:lnSpc>
              <a:buNone/>
            </a:pPr>
            <a:r>
              <a:rPr lang="en-US" sz="2622" dirty="0">
                <a:solidFill>
                  <a:srgbClr val="E8ECF4"/>
                </a:solidFill>
                <a:highlight>
                  <a:srgbClr val="1C2230"/>
                </a:highlight>
                <a:latin typeface="Arial" pitchFamily="34" charset="0"/>
                <a:ea typeface="Arial" pitchFamily="34" charset="-122"/>
                <a:cs typeface="Arial" pitchFamily="34" charset="-120"/>
              </a:rPr>
              <a:t>audit.log su </a:t>
            </a:r>
            <a:pPr algn="l" indent="0" marL="0">
              <a:lnSpc>
                <a:spcPct val="122000"/>
              </a:lnSpc>
              <a:buNone/>
            </a:pPr>
            <a:r>
              <a:rPr lang="en-US" sz="2850" dirty="0">
                <a:solidFill>
                  <a:srgbClr val="E8ECF4"/>
                </a:solidFill>
                <a:latin typeface="Arial" pitchFamily="34" charset="0"/>
                <a:ea typeface="Arial" pitchFamily="34" charset="-122"/>
                <a:cs typeface="Arial" pitchFamily="34" charset="-120"/>
              </a:rPr>
              <a:t>then </a:t>
            </a:r>
            <a:pPr algn="l" indent="0" marL="0">
              <a:lnSpc>
                <a:spcPct val="122000"/>
              </a:lnSpc>
              <a:buNone/>
            </a:pPr>
            <a:r>
              <a:rPr lang="en-US" sz="2622" dirty="0">
                <a:solidFill>
                  <a:srgbClr val="E8ECF4"/>
                </a:solidFill>
                <a:highlight>
                  <a:srgbClr val="1C2230"/>
                </a:highlight>
                <a:latin typeface="Arial" pitchFamily="34" charset="0"/>
                <a:ea typeface="Arial" pitchFamily="34" charset="-122"/>
                <a:cs typeface="Arial" pitchFamily="34" charset="-120"/>
              </a:rPr>
              <a:t>sudo </a:t>
            </a:r>
            <a:pPr algn="l" indent="0" marL="0">
              <a:lnSpc>
                <a:spcPct val="122000"/>
              </a:lnSpc>
              <a:buNone/>
            </a:pPr>
            <a:r>
              <a:rPr lang="en-US" sz="2850" dirty="0">
                <a:solidFill>
                  <a:srgbClr val="E8ECF4"/>
                </a:solidFill>
                <a:latin typeface="Arial" pitchFamily="34" charset="0"/>
                <a:ea typeface="Arial" pitchFamily="34" charset="-122"/>
                <a:cs typeface="Arial" pitchFamily="34" charset="-120"/>
              </a:rPr>
              <a:t>chain on </a:t>
            </a:r>
            <a:pPr algn="l" indent="0" marL="0">
              <a:lnSpc>
                <a:spcPct val="122000"/>
              </a:lnSpc>
              <a:buNone/>
            </a:pPr>
            <a:r>
              <a:rPr lang="en-US" sz="2622" dirty="0">
                <a:solidFill>
                  <a:srgbClr val="E8ECF4"/>
                </a:solidFill>
                <a:highlight>
                  <a:srgbClr val="1C2230"/>
                </a:highlight>
                <a:latin typeface="Arial" pitchFamily="34" charset="0"/>
                <a:ea typeface="Arial" pitchFamily="34" charset="-122"/>
                <a:cs typeface="Arial" pitchFamily="34" charset="-120"/>
              </a:rPr>
              <a:t>intranet_server</a:t>
            </a:r>
            <a:pPr algn="l" indent="0" marL="0">
              <a:lnSpc>
                <a:spcPct val="122000"/>
              </a:lnSpc>
              <a:buNone/>
            </a:pPr>
            <a:r>
              <a:rPr lang="en-US" sz="2850" dirty="0">
                <a:solidFill>
                  <a:srgbClr val="E8ECF4"/>
                </a:solidFill>
                <a:latin typeface="Arial" pitchFamily="34" charset="0"/>
                <a:ea typeface="Arial" pitchFamily="34" charset="-122"/>
                <a:cs typeface="Arial" pitchFamily="34" charset="-120"/>
              </a:rPr>
              <a:t>.</a:t>
            </a:r>
            <a:endParaRPr lang="en-US" sz="2850" dirty="0"/>
          </a:p>
        </p:txBody>
      </p:sp>
      <p:sp>
        <p:nvSpPr>
          <p:cNvPr id="27" name="Text 25"/>
          <p:cNvSpPr/>
          <p:nvPr/>
        </p:nvSpPr>
        <p:spPr>
          <a:xfrm>
            <a:off x="10064055" y="7678043"/>
            <a:ext cx="7224544" cy="295275"/>
          </a:xfrm>
          <a:prstGeom prst="rect">
            <a:avLst/>
          </a:prstGeom>
          <a:noFill/>
          <a:ln/>
        </p:spPr>
        <p:txBody>
          <a:bodyPr wrap="square" lIns="25400" tIns="25400" rIns="25400" bIns="25400" rtlCol="0" anchor="t">
            <a:normAutofit/>
          </a:bodyPr>
          <a:lstStyle/>
          <a:p>
            <a:pPr algn="l" indent="0" marL="0">
              <a:lnSpc>
                <a:spcPct val="150000"/>
              </a:lnSpc>
              <a:buNone/>
            </a:pPr>
            <a:r>
              <a:rPr lang="en-US" sz="1350" spc="189" kern="0" dirty="0">
                <a:solidFill>
                  <a:srgbClr val="8A93A6"/>
                </a:solidFill>
                <a:latin typeface="Arial" pitchFamily="34" charset="0"/>
                <a:ea typeface="Arial" pitchFamily="34" charset="-122"/>
                <a:cs typeface="Arial" pitchFamily="34" charset="-120"/>
              </a:rPr>
              <a:t>TWO LOG FAMILIES. ONE HOST. NINE AUDIT EVENTS.</a:t>
            </a:r>
            <a:endParaRPr lang="en-US" sz="1350" dirty="0"/>
          </a:p>
        </p:txBody>
      </p:sp>
      <p:sp>
        <p:nvSpPr>
          <p:cNvPr id="28" name="Shape 26"/>
          <p:cNvSpPr/>
          <p:nvPr/>
        </p:nvSpPr>
        <p:spPr>
          <a:xfrm>
            <a:off x="952500" y="9648825"/>
            <a:ext cx="16383000" cy="9525"/>
          </a:xfrm>
          <a:prstGeom prst="rect">
            <a:avLst/>
          </a:prstGeom>
          <a:solidFill>
            <a:srgbClr val="232A3A"/>
          </a:solidFill>
          <a:ln/>
        </p:spPr>
      </p:sp>
      <p:sp>
        <p:nvSpPr>
          <p:cNvPr id="29" name="Text 27"/>
          <p:cNvSpPr/>
          <p:nvPr/>
        </p:nvSpPr>
        <p:spPr>
          <a:xfrm>
            <a:off x="952500" y="9810750"/>
            <a:ext cx="241131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03 / 11 · ISHAAN · 1:00</a:t>
            </a:r>
            <a:endParaRPr lang="en-US" sz="1200" dirty="0"/>
          </a:p>
        </p:txBody>
      </p:sp>
      <p:sp>
        <p:nvSpPr>
          <p:cNvPr id="30" name="Text 28"/>
          <p:cNvSpPr/>
          <p:nvPr/>
        </p:nvSpPr>
        <p:spPr>
          <a:xfrm>
            <a:off x="14956334" y="9810750"/>
            <a:ext cx="2455366"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DATASET &amp; STORY SETUP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3225284"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03 </a:t>
            </a:r>
            <a:pPr algn="l" indent="0" marL="0">
              <a:buNone/>
            </a:pPr>
            <a:r>
              <a:rPr lang="en-US" sz="1350" spc="243" kern="0" dirty="0">
                <a:solidFill>
                  <a:srgbClr val="C3CAD8"/>
                </a:solidFill>
                <a:latin typeface="Arial" pitchFamily="34" charset="0"/>
                <a:ea typeface="Arial" pitchFamily="34" charset="-122"/>
                <a:cs typeface="Arial" pitchFamily="34" charset="-120"/>
              </a:rPr>
              <a:t>/ CONCEPTUAL SCHEMA</a:t>
            </a:r>
            <a:endParaRPr lang="en-US" sz="1350" dirty="0"/>
          </a:p>
        </p:txBody>
      </p:sp>
      <p:sp>
        <p:nvSpPr>
          <p:cNvPr id="4" name="Text 2"/>
          <p:cNvSpPr/>
          <p:nvPr/>
        </p:nvSpPr>
        <p:spPr>
          <a:xfrm>
            <a:off x="15329892" y="628650"/>
            <a:ext cx="2081808"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SECTION 04 OF 11</a:t>
            </a:r>
            <a:endParaRPr lang="en-US" sz="1350" dirty="0"/>
          </a:p>
        </p:txBody>
      </p:sp>
      <p:sp>
        <p:nvSpPr>
          <p:cNvPr id="5" name="Text 3"/>
          <p:cNvSpPr/>
          <p:nvPr/>
        </p:nvSpPr>
        <p:spPr>
          <a:xfrm>
            <a:off x="952500" y="1600200"/>
            <a:ext cx="16874490" cy="531763"/>
          </a:xfrm>
          <a:prstGeom prst="rect">
            <a:avLst/>
          </a:prstGeom>
          <a:noFill/>
          <a:ln/>
        </p:spPr>
        <p:txBody>
          <a:bodyPr wrap="square" lIns="25400" tIns="25400" rIns="25400" bIns="25400" rtlCol="0" anchor="t">
            <a:normAutofit/>
          </a:bodyPr>
          <a:lstStyle/>
          <a:p>
            <a:pPr algn="l" indent="0" marL="0">
              <a:lnSpc>
                <a:spcPct val="108000"/>
              </a:lnSpc>
              <a:buNone/>
            </a:pPr>
            <a:r>
              <a:rPr lang="en-US" sz="3600" spc="-43" kern="0" dirty="0">
                <a:solidFill>
                  <a:srgbClr val="E8ECF4"/>
                </a:solidFill>
                <a:latin typeface="Arial" pitchFamily="34" charset="0"/>
                <a:ea typeface="Arial" pitchFamily="34" charset="-122"/>
                <a:cs typeface="Arial" pitchFamily="34" charset="-120"/>
              </a:rPr>
              <a:t>A 22-table 3NF schema over the russellmitchell testbed.</a:t>
            </a:r>
            <a:endParaRPr lang="en-US" sz="3600" dirty="0"/>
          </a:p>
        </p:txBody>
      </p:sp>
      <p:sp>
        <p:nvSpPr>
          <p:cNvPr id="6" name="Shape 4"/>
          <p:cNvSpPr/>
          <p:nvPr/>
        </p:nvSpPr>
        <p:spPr>
          <a:xfrm>
            <a:off x="952500" y="2303413"/>
            <a:ext cx="10665619" cy="7297787"/>
          </a:xfrm>
          <a:prstGeom prst="roundRect">
            <a:avLst>
              <a:gd name="adj" fmla="val 1044"/>
            </a:avLst>
          </a:prstGeom>
          <a:solidFill>
            <a:srgbClr val="141923"/>
          </a:solidFill>
          <a:ln w="9525">
            <a:solidFill>
              <a:srgbClr val="232A3A"/>
            </a:solidFill>
            <a:prstDash val="solid"/>
          </a:ln>
        </p:spPr>
      </p:sp>
      <p:sp>
        <p:nvSpPr>
          <p:cNvPr id="7" name="Text 5"/>
          <p:cNvSpPr/>
          <p:nvPr/>
        </p:nvSpPr>
        <p:spPr>
          <a:xfrm>
            <a:off x="1209675" y="2522488"/>
            <a:ext cx="10455807" cy="19050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8A93A6"/>
                </a:solidFill>
                <a:latin typeface="Arial" pitchFamily="34" charset="0"/>
                <a:ea typeface="Arial" pitchFamily="34" charset="-122"/>
                <a:cs typeface="Arial" pitchFamily="34" charset="-120"/>
              </a:rPr>
              <a:t>CONCEPTUAL 3NF SCHEMA · EER DIAGRAM</a:t>
            </a:r>
            <a:endParaRPr lang="en-US" sz="1050" dirty="0"/>
          </a:p>
        </p:txBody>
      </p:sp>
      <p:pic>
        <p:nvPicPr>
          <p:cNvPr id="8" name="Image 0" descr="preencoded.png">    </p:cNvPr>
          <p:cNvPicPr>
            <a:picLocks noChangeAspect="1"/>
          </p:cNvPicPr>
          <p:nvPr/>
        </p:nvPicPr>
        <p:blipFill>
          <a:blip r:embed="rId1"/>
          <a:srcRect l="0" r="0" t="0" b="0"/>
          <a:stretch/>
        </p:blipFill>
        <p:spPr>
          <a:xfrm>
            <a:off x="2170063" y="2808238"/>
            <a:ext cx="8230344" cy="6573738"/>
          </a:xfrm>
          <a:prstGeom prst="rect">
            <a:avLst/>
          </a:prstGeom>
        </p:spPr>
      </p:pic>
      <p:sp>
        <p:nvSpPr>
          <p:cNvPr id="9" name="Shape 6"/>
          <p:cNvSpPr/>
          <p:nvPr/>
        </p:nvSpPr>
        <p:spPr>
          <a:xfrm>
            <a:off x="11865769" y="2303413"/>
            <a:ext cx="5469731" cy="7297787"/>
          </a:xfrm>
          <a:prstGeom prst="roundRect">
            <a:avLst>
              <a:gd name="adj" fmla="val 1045"/>
            </a:avLst>
          </a:prstGeom>
          <a:solidFill>
            <a:srgbClr val="141923"/>
          </a:solidFill>
          <a:ln w="9525">
            <a:solidFill>
              <a:srgbClr val="232A3A"/>
            </a:solidFill>
            <a:prstDash val="solid"/>
          </a:ln>
        </p:spPr>
      </p:sp>
      <p:sp>
        <p:nvSpPr>
          <p:cNvPr id="10" name="Text 7"/>
          <p:cNvSpPr/>
          <p:nvPr/>
        </p:nvSpPr>
        <p:spPr>
          <a:xfrm>
            <a:off x="12122944" y="2541538"/>
            <a:ext cx="5104043" cy="209550"/>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A93A6"/>
                </a:solidFill>
                <a:latin typeface="Arial" pitchFamily="34" charset="0"/>
                <a:ea typeface="Arial" pitchFamily="34" charset="-122"/>
                <a:cs typeface="Arial" pitchFamily="34" charset="-120"/>
              </a:rPr>
              <a:t>SCHEMA SUMMARY</a:t>
            </a:r>
            <a:endParaRPr lang="en-US" sz="1050" dirty="0"/>
          </a:p>
        </p:txBody>
      </p:sp>
      <p:sp>
        <p:nvSpPr>
          <p:cNvPr id="11" name="Text 8"/>
          <p:cNvSpPr/>
          <p:nvPr/>
        </p:nvSpPr>
        <p:spPr>
          <a:xfrm>
            <a:off x="12122944" y="2884438"/>
            <a:ext cx="1651695"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spc="-69" kern="0" dirty="0">
                <a:solidFill>
                  <a:srgbClr val="E8ECF4"/>
                </a:solidFill>
                <a:latin typeface="Arial" pitchFamily="34" charset="0"/>
                <a:ea typeface="Arial" pitchFamily="34" charset="-122"/>
                <a:cs typeface="Arial" pitchFamily="34" charset="-120"/>
              </a:rPr>
              <a:t>22</a:t>
            </a:r>
            <a:endParaRPr lang="en-US" sz="3450" dirty="0"/>
          </a:p>
        </p:txBody>
      </p:sp>
      <p:sp>
        <p:nvSpPr>
          <p:cNvPr id="12" name="Text 9"/>
          <p:cNvSpPr/>
          <p:nvPr/>
        </p:nvSpPr>
        <p:spPr>
          <a:xfrm>
            <a:off x="12122944" y="3379738"/>
            <a:ext cx="1651695"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A93A6"/>
                </a:solidFill>
                <a:latin typeface="Arial" pitchFamily="34" charset="0"/>
                <a:ea typeface="Arial" pitchFamily="34" charset="-122"/>
                <a:cs typeface="Arial" pitchFamily="34" charset="-120"/>
              </a:rPr>
              <a:t>TABLES</a:t>
            </a:r>
            <a:endParaRPr lang="en-US" sz="825" dirty="0"/>
          </a:p>
        </p:txBody>
      </p:sp>
      <p:sp>
        <p:nvSpPr>
          <p:cNvPr id="13" name="Text 10"/>
          <p:cNvSpPr/>
          <p:nvPr/>
        </p:nvSpPr>
        <p:spPr>
          <a:xfrm>
            <a:off x="13812738" y="2884438"/>
            <a:ext cx="1651843"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spc="-69" kern="0" dirty="0">
                <a:solidFill>
                  <a:srgbClr val="E8ECF4"/>
                </a:solidFill>
                <a:latin typeface="Arial" pitchFamily="34" charset="0"/>
                <a:ea typeface="Arial" pitchFamily="34" charset="-122"/>
                <a:cs typeface="Arial" pitchFamily="34" charset="-120"/>
              </a:rPr>
              <a:t>3</a:t>
            </a:r>
            <a:endParaRPr lang="en-US" sz="3450" dirty="0"/>
          </a:p>
        </p:txBody>
      </p:sp>
      <p:sp>
        <p:nvSpPr>
          <p:cNvPr id="14" name="Text 11"/>
          <p:cNvSpPr/>
          <p:nvPr/>
        </p:nvSpPr>
        <p:spPr>
          <a:xfrm>
            <a:off x="13812738" y="3379738"/>
            <a:ext cx="1651843"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A93A6"/>
                </a:solidFill>
                <a:latin typeface="Arial" pitchFamily="34" charset="0"/>
                <a:ea typeface="Arial" pitchFamily="34" charset="-122"/>
                <a:cs typeface="Arial" pitchFamily="34" charset="-120"/>
              </a:rPr>
              <a:t>DOMAINS</a:t>
            </a:r>
            <a:endParaRPr lang="en-US" sz="825" dirty="0"/>
          </a:p>
        </p:txBody>
      </p:sp>
      <p:sp>
        <p:nvSpPr>
          <p:cNvPr id="15" name="Text 12"/>
          <p:cNvSpPr/>
          <p:nvPr/>
        </p:nvSpPr>
        <p:spPr>
          <a:xfrm>
            <a:off x="15502682" y="2884438"/>
            <a:ext cx="1651843" cy="476250"/>
          </a:xfrm>
          <a:prstGeom prst="rect">
            <a:avLst/>
          </a:prstGeom>
          <a:noFill/>
          <a:ln/>
        </p:spPr>
        <p:txBody>
          <a:bodyPr wrap="square" lIns="25400" tIns="25400" rIns="25400" bIns="25400" rtlCol="0" anchor="t">
            <a:normAutofit/>
          </a:bodyPr>
          <a:lstStyle/>
          <a:p>
            <a:pPr algn="l" indent="0" marL="0">
              <a:lnSpc>
                <a:spcPct val="100000"/>
              </a:lnSpc>
              <a:buNone/>
            </a:pPr>
            <a:r>
              <a:rPr lang="en-US" sz="3450" spc="-69" kern="0" dirty="0">
                <a:solidFill>
                  <a:srgbClr val="E8ECF4"/>
                </a:solidFill>
                <a:latin typeface="Arial" pitchFamily="34" charset="0"/>
                <a:ea typeface="Arial" pitchFamily="34" charset="-122"/>
                <a:cs typeface="Arial" pitchFamily="34" charset="-120"/>
              </a:rPr>
              <a:t>3NF</a:t>
            </a:r>
            <a:endParaRPr lang="en-US" sz="3450" dirty="0"/>
          </a:p>
        </p:txBody>
      </p:sp>
      <p:sp>
        <p:nvSpPr>
          <p:cNvPr id="16" name="Text 13"/>
          <p:cNvSpPr/>
          <p:nvPr/>
        </p:nvSpPr>
        <p:spPr>
          <a:xfrm>
            <a:off x="15502682" y="3379738"/>
            <a:ext cx="1651843"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A93A6"/>
                </a:solidFill>
                <a:latin typeface="Arial" pitchFamily="34" charset="0"/>
                <a:ea typeface="Arial" pitchFamily="34" charset="-122"/>
                <a:cs typeface="Arial" pitchFamily="34" charset="-120"/>
              </a:rPr>
              <a:t>NORMAL FORM</a:t>
            </a:r>
            <a:endParaRPr lang="en-US" sz="825" dirty="0"/>
          </a:p>
        </p:txBody>
      </p:sp>
      <p:sp>
        <p:nvSpPr>
          <p:cNvPr id="17" name="Text 14"/>
          <p:cNvSpPr/>
          <p:nvPr/>
        </p:nvSpPr>
        <p:spPr>
          <a:xfrm>
            <a:off x="12122944" y="3722638"/>
            <a:ext cx="5104043" cy="152400"/>
          </a:xfrm>
          <a:prstGeom prst="rect">
            <a:avLst/>
          </a:prstGeom>
          <a:noFill/>
          <a:ln/>
        </p:spPr>
        <p:txBody>
          <a:bodyPr wrap="square" lIns="25400" tIns="25400" rIns="25400" bIns="25400" rtlCol="0" anchor="t">
            <a:normAutofit/>
          </a:bodyPr>
          <a:lstStyle/>
          <a:p>
            <a:pPr algn="l" indent="0" marL="0">
              <a:buNone/>
            </a:pPr>
            <a:r>
              <a:rPr lang="en-US" sz="825" spc="182" kern="0" dirty="0">
                <a:solidFill>
                  <a:srgbClr val="8A93A6"/>
                </a:solidFill>
                <a:latin typeface="Arial" pitchFamily="34" charset="0"/>
                <a:ea typeface="Arial" pitchFamily="34" charset="-122"/>
                <a:cs typeface="Arial" pitchFamily="34" charset="-120"/>
              </a:rPr>
              <a:t>DOMAINS</a:t>
            </a:r>
            <a:endParaRPr lang="en-US" sz="825" dirty="0"/>
          </a:p>
        </p:txBody>
      </p:sp>
      <p:sp>
        <p:nvSpPr>
          <p:cNvPr id="18" name="Text 15"/>
          <p:cNvSpPr/>
          <p:nvPr/>
        </p:nvSpPr>
        <p:spPr>
          <a:xfrm>
            <a:off x="12122944" y="3932188"/>
            <a:ext cx="5104043" cy="46077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E8ECF4"/>
                </a:solidFill>
                <a:latin typeface="Arial" pitchFamily="34" charset="0"/>
                <a:ea typeface="Arial" pitchFamily="34" charset="-122"/>
                <a:cs typeface="Arial" pitchFamily="34" charset="-120"/>
              </a:rPr>
              <a:t>Host inventory </a:t>
            </a:r>
            <a:pPr algn="l" indent="0" marL="0">
              <a:lnSpc>
                <a:spcPct val="155000"/>
              </a:lnSpc>
              <a:buNone/>
            </a:pPr>
            <a:r>
              <a:rPr lang="en-US" sz="1050" dirty="0">
                <a:solidFill>
                  <a:srgbClr val="C3CAD8"/>
                </a:solidFill>
                <a:latin typeface="Arial" pitchFamily="34" charset="0"/>
                <a:ea typeface="Arial" pitchFamily="34" charset="-122"/>
                <a:cs typeface="Arial" pitchFamily="34" charset="-120"/>
              </a:rPr>
              <a:t>· 7 tables </a:t>
            </a:r>
            <a:pPr algn="l" indent="0" marL="0">
              <a:lnSpc>
                <a:spcPct val="155000"/>
              </a:lnSpc>
              <a:buNone/>
            </a:pPr>
            <a:r>
              <a:rPr lang="en-US" sz="900" dirty="0">
                <a:solidFill>
                  <a:srgbClr val="8A93A6"/>
                </a:solidFill>
                <a:latin typeface="Arial" pitchFamily="34" charset="0"/>
                <a:ea typeface="Arial" pitchFamily="34" charset="-122"/>
                <a:cs typeface="Arial" pitchFamily="34" charset="-120"/>
              </a:rPr>
              <a:t>host, fqdn, ip_address, distribution, …</a:t>
            </a:r>
            <a:endParaRPr lang="en-US" sz="1050" dirty="0"/>
          </a:p>
        </p:txBody>
      </p:sp>
      <p:sp>
        <p:nvSpPr>
          <p:cNvPr id="19" name="Text 16"/>
          <p:cNvSpPr/>
          <p:nvPr/>
        </p:nvSpPr>
        <p:spPr>
          <a:xfrm>
            <a:off x="12122944" y="4450110"/>
            <a:ext cx="5104043" cy="46077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E8ECF4"/>
                </a:solidFill>
                <a:latin typeface="Arial" pitchFamily="34" charset="0"/>
                <a:ea typeface="Arial" pitchFamily="34" charset="-122"/>
                <a:cs typeface="Arial" pitchFamily="34" charset="-120"/>
              </a:rPr>
              <a:t>Audit events </a:t>
            </a:r>
            <a:pPr algn="l" indent="0" marL="0">
              <a:lnSpc>
                <a:spcPct val="155000"/>
              </a:lnSpc>
              <a:buNone/>
            </a:pPr>
            <a:r>
              <a:rPr lang="en-US" sz="1050" dirty="0">
                <a:solidFill>
                  <a:srgbClr val="C3CAD8"/>
                </a:solidFill>
                <a:latin typeface="Arial" pitchFamily="34" charset="0"/>
                <a:ea typeface="Arial" pitchFamily="34" charset="-122"/>
                <a:cs typeface="Arial" pitchFamily="34" charset="-120"/>
              </a:rPr>
              <a:t>· 10 tables </a:t>
            </a:r>
            <a:pPr algn="l" indent="0" marL="0">
              <a:lnSpc>
                <a:spcPct val="155000"/>
              </a:lnSpc>
              <a:buNone/>
            </a:pPr>
            <a:r>
              <a:rPr lang="en-US" sz="900" dirty="0">
                <a:solidFill>
                  <a:srgbClr val="8A93A6"/>
                </a:solidFill>
                <a:latin typeface="Arial" pitchFamily="34" charset="0"/>
                <a:ea typeface="Arial" pitchFamily="34" charset="-122"/>
                <a:cs typeface="Arial" pitchFamily="34" charset="-120"/>
              </a:rPr>
              <a:t>audit_event supertype + 8 subtypes, audit_message</a:t>
            </a:r>
            <a:endParaRPr lang="en-US" sz="1050" dirty="0"/>
          </a:p>
        </p:txBody>
      </p:sp>
      <p:sp>
        <p:nvSpPr>
          <p:cNvPr id="20" name="Text 17"/>
          <p:cNvSpPr/>
          <p:nvPr/>
        </p:nvSpPr>
        <p:spPr>
          <a:xfrm>
            <a:off x="12122944" y="4968032"/>
            <a:ext cx="5104043" cy="460772"/>
          </a:xfrm>
          <a:prstGeom prst="rect">
            <a:avLst/>
          </a:prstGeom>
          <a:noFill/>
          <a:ln/>
        </p:spPr>
        <p:txBody>
          <a:bodyPr wrap="square" lIns="25400" tIns="25400" rIns="25400" bIns="25400" rtlCol="0" anchor="t">
            <a:normAutofit/>
          </a:bodyPr>
          <a:lstStyle/>
          <a:p>
            <a:pPr algn="l" indent="0" marL="0">
              <a:lnSpc>
                <a:spcPct val="155000"/>
              </a:lnSpc>
              <a:buNone/>
            </a:pPr>
            <a:r>
              <a:rPr lang="en-US" sz="1050" b="1" dirty="0">
                <a:solidFill>
                  <a:srgbClr val="E8ECF4"/>
                </a:solidFill>
                <a:latin typeface="Arial" pitchFamily="34" charset="0"/>
                <a:ea typeface="Arial" pitchFamily="34" charset="-122"/>
                <a:cs typeface="Arial" pitchFamily="34" charset="-120"/>
              </a:rPr>
              <a:t>Attack labels </a:t>
            </a:r>
            <a:pPr algn="l" indent="0" marL="0">
              <a:lnSpc>
                <a:spcPct val="155000"/>
              </a:lnSpc>
              <a:buNone/>
            </a:pPr>
            <a:r>
              <a:rPr lang="en-US" sz="1050" dirty="0">
                <a:solidFill>
                  <a:srgbClr val="C3CAD8"/>
                </a:solidFill>
                <a:latin typeface="Arial" pitchFamily="34" charset="0"/>
                <a:ea typeface="Arial" pitchFamily="34" charset="-122"/>
                <a:cs typeface="Arial" pitchFamily="34" charset="-120"/>
              </a:rPr>
              <a:t>· 5 tables </a:t>
            </a:r>
            <a:pPr algn="l" indent="0" marL="0">
              <a:lnSpc>
                <a:spcPct val="155000"/>
              </a:lnSpc>
              <a:buNone/>
            </a:pPr>
            <a:r>
              <a:rPr lang="en-US" sz="900" dirty="0">
                <a:solidFill>
                  <a:srgbClr val="8A93A6"/>
                </a:solidFill>
                <a:latin typeface="Arial" pitchFamily="34" charset="0"/>
                <a:ea typeface="Arial" pitchFamily="34" charset="-122"/>
                <a:cs typeface="Arial" pitchFamily="34" charset="-120"/>
              </a:rPr>
              <a:t>attack_phase, attack_label, labeled_line, labeled_line_label, labeled_line_rule</a:t>
            </a:r>
            <a:endParaRPr lang="en-US" sz="1050" dirty="0"/>
          </a:p>
        </p:txBody>
      </p:sp>
      <p:sp>
        <p:nvSpPr>
          <p:cNvPr id="21" name="Shape 18"/>
          <p:cNvSpPr/>
          <p:nvPr/>
        </p:nvSpPr>
        <p:spPr>
          <a:xfrm>
            <a:off x="12122944" y="9105900"/>
            <a:ext cx="4955381" cy="9525"/>
          </a:xfrm>
          <a:prstGeom prst="rect">
            <a:avLst/>
          </a:prstGeom>
          <a:solidFill>
            <a:srgbClr val="232A3A"/>
          </a:solidFill>
          <a:ln/>
        </p:spPr>
      </p:sp>
      <p:sp>
        <p:nvSpPr>
          <p:cNvPr id="22" name="Text 19"/>
          <p:cNvSpPr/>
          <p:nvPr/>
        </p:nvSpPr>
        <p:spPr>
          <a:xfrm>
            <a:off x="12122944" y="9248775"/>
            <a:ext cx="5104043" cy="152400"/>
          </a:xfrm>
          <a:prstGeom prst="rect">
            <a:avLst/>
          </a:prstGeom>
          <a:noFill/>
          <a:ln/>
        </p:spPr>
        <p:txBody>
          <a:bodyPr wrap="square" lIns="25400" tIns="25400" rIns="25400" bIns="25400" rtlCol="0" anchor="t">
            <a:normAutofit/>
          </a:bodyPr>
          <a:lstStyle/>
          <a:p>
            <a:pPr algn="l" indent="0" marL="0">
              <a:buNone/>
            </a:pPr>
            <a:r>
              <a:rPr lang="en-US" sz="825" spc="149" kern="0" dirty="0">
                <a:solidFill>
                  <a:srgbClr val="8A93A6"/>
                </a:solidFill>
                <a:latin typeface="Arial" pitchFamily="34" charset="0"/>
                <a:ea typeface="Arial" pitchFamily="34" charset="-122"/>
                <a:cs typeface="Arial" pitchFamily="34" charset="-120"/>
              </a:rPr>
              <a:t>CHEN NOTATION · PKS UNDERLINED · FK CONSTRAINTS ARROWED</a:t>
            </a:r>
            <a:endParaRPr lang="en-US" sz="825" dirty="0"/>
          </a:p>
        </p:txBody>
      </p:sp>
      <p:sp>
        <p:nvSpPr>
          <p:cNvPr id="23" name="Shape 20"/>
          <p:cNvSpPr/>
          <p:nvPr/>
        </p:nvSpPr>
        <p:spPr>
          <a:xfrm>
            <a:off x="952500" y="9648825"/>
            <a:ext cx="16383000" cy="9525"/>
          </a:xfrm>
          <a:prstGeom prst="rect">
            <a:avLst/>
          </a:prstGeom>
          <a:solidFill>
            <a:srgbClr val="232A3A"/>
          </a:solidFill>
          <a:ln/>
        </p:spPr>
      </p:sp>
      <p:sp>
        <p:nvSpPr>
          <p:cNvPr id="24" name="Text 21"/>
          <p:cNvSpPr/>
          <p:nvPr/>
        </p:nvSpPr>
        <p:spPr>
          <a:xfrm>
            <a:off x="952500" y="9810750"/>
            <a:ext cx="241131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04 / 11 · ISHAAN · 0:55</a:t>
            </a:r>
            <a:endParaRPr lang="en-US" sz="1200" dirty="0"/>
          </a:p>
        </p:txBody>
      </p:sp>
      <p:sp>
        <p:nvSpPr>
          <p:cNvPr id="25" name="Text 22"/>
          <p:cNvSpPr/>
          <p:nvPr/>
        </p:nvSpPr>
        <p:spPr>
          <a:xfrm>
            <a:off x="14826853" y="9810750"/>
            <a:ext cx="2584847"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CONCEPTUAL 3NF SCHEMA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2509540"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04 </a:t>
            </a:r>
            <a:pPr algn="l" indent="0" marL="0">
              <a:buNone/>
            </a:pPr>
            <a:r>
              <a:rPr lang="en-US" sz="1350" spc="243" kern="0" dirty="0">
                <a:solidFill>
                  <a:srgbClr val="C3CAD8"/>
                </a:solidFill>
                <a:latin typeface="Arial" pitchFamily="34" charset="0"/>
                <a:ea typeface="Arial" pitchFamily="34" charset="-122"/>
                <a:cs typeface="Arial" pitchFamily="34" charset="-120"/>
              </a:rPr>
              <a:t>/ SQL PORTFOLIO</a:t>
            </a:r>
            <a:endParaRPr lang="en-US" sz="1350" dirty="0"/>
          </a:p>
        </p:txBody>
      </p:sp>
      <p:sp>
        <p:nvSpPr>
          <p:cNvPr id="4" name="Text 2"/>
          <p:cNvSpPr/>
          <p:nvPr/>
        </p:nvSpPr>
        <p:spPr>
          <a:xfrm>
            <a:off x="15329892" y="628650"/>
            <a:ext cx="2081808"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SECTION 05 OF 11</a:t>
            </a:r>
            <a:endParaRPr lang="en-US" sz="1350" dirty="0"/>
          </a:p>
        </p:txBody>
      </p:sp>
      <p:sp>
        <p:nvSpPr>
          <p:cNvPr id="5" name="Text 3"/>
          <p:cNvSpPr/>
          <p:nvPr/>
        </p:nvSpPr>
        <p:spPr>
          <a:xfrm>
            <a:off x="952500" y="1600200"/>
            <a:ext cx="16874490" cy="593527"/>
          </a:xfrm>
          <a:prstGeom prst="rect">
            <a:avLst/>
          </a:prstGeom>
          <a:noFill/>
          <a:ln/>
        </p:spPr>
        <p:txBody>
          <a:bodyPr wrap="square" lIns="25400" tIns="25400" rIns="25400" bIns="25400" rtlCol="0" anchor="t">
            <a:normAutofit/>
          </a:bodyPr>
          <a:lstStyle/>
          <a:p>
            <a:pPr algn="l" indent="0" marL="0">
              <a:lnSpc>
                <a:spcPct val="108000"/>
              </a:lnSpc>
              <a:buNone/>
            </a:pPr>
            <a:r>
              <a:rPr lang="en-US" sz="4050" spc="-49" kern="0" dirty="0">
                <a:solidFill>
                  <a:srgbClr val="E8ECF4"/>
                </a:solidFill>
                <a:latin typeface="Arial" pitchFamily="34" charset="0"/>
                <a:ea typeface="Arial" pitchFamily="34" charset="-122"/>
                <a:cs typeface="Arial" pitchFamily="34" charset="-120"/>
              </a:rPr>
              <a:t>23 queries in the repo. The slides spotlight four.</a:t>
            </a:r>
            <a:endParaRPr lang="en-US" sz="4050" dirty="0"/>
          </a:p>
        </p:txBody>
      </p:sp>
      <p:sp>
        <p:nvSpPr>
          <p:cNvPr id="6" name="Text 4"/>
          <p:cNvSpPr/>
          <p:nvPr/>
        </p:nvSpPr>
        <p:spPr>
          <a:xfrm>
            <a:off x="952500" y="2308027"/>
            <a:ext cx="14716125" cy="3810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C3CAD8"/>
                </a:solidFill>
                <a:latin typeface="-apple-system" pitchFamily="34" charset="0"/>
                <a:ea typeface="-apple-system" pitchFamily="34" charset="-122"/>
                <a:cs typeface="-apple-system" pitchFamily="34" charset="-120"/>
              </a:rPr>
              <a:t>Full portfolio lives in GitHub and report section 6. The spotlight rows below are the deep dives that drive the next four slides.</a:t>
            </a:r>
            <a:endParaRPr lang="en-US" sz="1800" dirty="0"/>
          </a:p>
        </p:txBody>
      </p:sp>
      <p:sp>
        <p:nvSpPr>
          <p:cNvPr id="7" name="Shape 5"/>
          <p:cNvSpPr/>
          <p:nvPr/>
        </p:nvSpPr>
        <p:spPr>
          <a:xfrm>
            <a:off x="952500" y="3331964"/>
            <a:ext cx="2343150" cy="9525"/>
          </a:xfrm>
          <a:prstGeom prst="rect">
            <a:avLst/>
          </a:prstGeom>
          <a:solidFill>
            <a:srgbClr val="2C3548"/>
          </a:solidFill>
          <a:ln/>
        </p:spPr>
      </p:sp>
      <p:sp>
        <p:nvSpPr>
          <p:cNvPr id="8" name="Text 6"/>
          <p:cNvSpPr/>
          <p:nvPr/>
        </p:nvSpPr>
        <p:spPr>
          <a:xfrm>
            <a:off x="1123950" y="3031927"/>
            <a:ext cx="2076450" cy="204788"/>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5D6577"/>
                </a:solidFill>
                <a:latin typeface="Arial" pitchFamily="34" charset="0"/>
                <a:ea typeface="Arial" pitchFamily="34" charset="-122"/>
                <a:cs typeface="Arial" pitchFamily="34" charset="-120"/>
              </a:rPr>
              <a:t>AUTHOR</a:t>
            </a:r>
            <a:endParaRPr lang="en-US" sz="1050" dirty="0"/>
          </a:p>
        </p:txBody>
      </p:sp>
      <p:sp>
        <p:nvSpPr>
          <p:cNvPr id="9" name="Shape 7"/>
          <p:cNvSpPr/>
          <p:nvPr/>
        </p:nvSpPr>
        <p:spPr>
          <a:xfrm>
            <a:off x="3295650" y="3331964"/>
            <a:ext cx="7574905" cy="9525"/>
          </a:xfrm>
          <a:prstGeom prst="rect">
            <a:avLst/>
          </a:prstGeom>
          <a:solidFill>
            <a:srgbClr val="2C3548"/>
          </a:solidFill>
          <a:ln/>
        </p:spPr>
      </p:sp>
      <p:sp>
        <p:nvSpPr>
          <p:cNvPr id="10" name="Text 8"/>
          <p:cNvSpPr/>
          <p:nvPr/>
        </p:nvSpPr>
        <p:spPr>
          <a:xfrm>
            <a:off x="3467100" y="3031927"/>
            <a:ext cx="7459252" cy="204788"/>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5D6577"/>
                </a:solidFill>
                <a:latin typeface="Arial" pitchFamily="34" charset="0"/>
                <a:ea typeface="Arial" pitchFamily="34" charset="-122"/>
                <a:cs typeface="Arial" pitchFamily="34" charset="-120"/>
              </a:rPr>
              <a:t>QUERY</a:t>
            </a:r>
            <a:endParaRPr lang="en-US" sz="1050" dirty="0"/>
          </a:p>
        </p:txBody>
      </p:sp>
      <p:sp>
        <p:nvSpPr>
          <p:cNvPr id="11" name="Shape 9"/>
          <p:cNvSpPr/>
          <p:nvPr/>
        </p:nvSpPr>
        <p:spPr>
          <a:xfrm>
            <a:off x="10870555" y="3331964"/>
            <a:ext cx="6464945" cy="9525"/>
          </a:xfrm>
          <a:prstGeom prst="rect">
            <a:avLst/>
          </a:prstGeom>
          <a:solidFill>
            <a:srgbClr val="2C3548"/>
          </a:solidFill>
          <a:ln/>
        </p:spPr>
      </p:sp>
      <p:sp>
        <p:nvSpPr>
          <p:cNvPr id="12" name="Text 10"/>
          <p:cNvSpPr/>
          <p:nvPr/>
        </p:nvSpPr>
        <p:spPr>
          <a:xfrm>
            <a:off x="11042005" y="3031927"/>
            <a:ext cx="6315993" cy="204788"/>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5D6577"/>
                </a:solidFill>
                <a:latin typeface="Arial" pitchFamily="34" charset="0"/>
                <a:ea typeface="Arial" pitchFamily="34" charset="-122"/>
                <a:cs typeface="Arial" pitchFamily="34" charset="-120"/>
              </a:rPr>
              <a:t>TECHNIQUE TAGS</a:t>
            </a:r>
            <a:endParaRPr lang="en-US" sz="1050" dirty="0"/>
          </a:p>
        </p:txBody>
      </p:sp>
      <p:sp>
        <p:nvSpPr>
          <p:cNvPr id="13" name="Shape 11"/>
          <p:cNvSpPr/>
          <p:nvPr/>
        </p:nvSpPr>
        <p:spPr>
          <a:xfrm>
            <a:off x="952500" y="3341489"/>
            <a:ext cx="2343150" cy="1971675"/>
          </a:xfrm>
          <a:prstGeom prst="rect">
            <a:avLst/>
          </a:prstGeom>
          <a:solidFill>
            <a:srgbClr val="4EA8FF">
              <a:alpha val="5000"/>
            </a:srgbClr>
          </a:solidFill>
          <a:ln/>
        </p:spPr>
      </p:sp>
      <p:sp>
        <p:nvSpPr>
          <p:cNvPr id="14" name="Shape 12"/>
          <p:cNvSpPr/>
          <p:nvPr/>
        </p:nvSpPr>
        <p:spPr>
          <a:xfrm>
            <a:off x="952500" y="5303639"/>
            <a:ext cx="2343150" cy="9525"/>
          </a:xfrm>
          <a:prstGeom prst="rect">
            <a:avLst/>
          </a:prstGeom>
          <a:solidFill>
            <a:srgbClr val="232A3A"/>
          </a:solidFill>
          <a:ln/>
        </p:spPr>
      </p:sp>
      <p:sp>
        <p:nvSpPr>
          <p:cNvPr id="15" name="Text 13"/>
          <p:cNvSpPr/>
          <p:nvPr/>
        </p:nvSpPr>
        <p:spPr>
          <a:xfrm>
            <a:off x="1123950" y="3493889"/>
            <a:ext cx="1981200" cy="1695450"/>
          </a:xfrm>
          <a:prstGeom prst="rect">
            <a:avLst/>
          </a:prstGeom>
          <a:noFill/>
          <a:ln/>
        </p:spPr>
        <p:txBody>
          <a:bodyPr wrap="square" lIns="25400" tIns="25400" rIns="25400" bIns="25400" rtlCol="0" anchor="t">
            <a:normAutofit/>
          </a:bodyPr>
          <a:lstStyle/>
          <a:p>
            <a:pPr algn="l" indent="0" marL="0">
              <a:buNone/>
            </a:pPr>
            <a:r>
              <a:rPr lang="en-US" sz="2100" dirty="0">
                <a:solidFill>
                  <a:srgbClr val="E8ECF4"/>
                </a:solidFill>
                <a:latin typeface="Arial" pitchFamily="34" charset="0"/>
                <a:ea typeface="Arial" pitchFamily="34" charset="-122"/>
                <a:cs typeface="Arial" pitchFamily="34" charset="-120"/>
              </a:rPr>
              <a:t>River</a:t>
            </a:r>
            <a:endParaRPr lang="en-US" sz="2100" dirty="0"/>
          </a:p>
        </p:txBody>
      </p:sp>
      <p:sp>
        <p:nvSpPr>
          <p:cNvPr id="16" name="Shape 14"/>
          <p:cNvSpPr/>
          <p:nvPr/>
        </p:nvSpPr>
        <p:spPr>
          <a:xfrm>
            <a:off x="3295650" y="3341489"/>
            <a:ext cx="7574905" cy="771525"/>
          </a:xfrm>
          <a:prstGeom prst="rect">
            <a:avLst/>
          </a:prstGeom>
          <a:solidFill>
            <a:srgbClr val="4EA8FF">
              <a:alpha val="5000"/>
            </a:srgbClr>
          </a:solidFill>
          <a:ln/>
        </p:spPr>
      </p:sp>
      <p:sp>
        <p:nvSpPr>
          <p:cNvPr id="17" name="Shape 15"/>
          <p:cNvSpPr/>
          <p:nvPr/>
        </p:nvSpPr>
        <p:spPr>
          <a:xfrm>
            <a:off x="3295650" y="4103489"/>
            <a:ext cx="7574905" cy="9525"/>
          </a:xfrm>
          <a:prstGeom prst="rect">
            <a:avLst/>
          </a:prstGeom>
          <a:solidFill>
            <a:srgbClr val="232A3A"/>
          </a:solidFill>
          <a:ln/>
        </p:spPr>
      </p:sp>
      <p:sp>
        <p:nvSpPr>
          <p:cNvPr id="18" name="Text 16"/>
          <p:cNvSpPr/>
          <p:nvPr/>
        </p:nvSpPr>
        <p:spPr>
          <a:xfrm>
            <a:off x="3467100" y="3498652"/>
            <a:ext cx="2770770" cy="266700"/>
          </a:xfrm>
          <a:prstGeom prst="rect">
            <a:avLst/>
          </a:prstGeom>
          <a:noFill/>
          <a:ln/>
        </p:spPr>
        <p:txBody>
          <a:bodyPr wrap="square" lIns="0" tIns="0" rIns="0" bIns="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Foothold-to-escalation journey</a:t>
            </a:r>
            <a:endParaRPr lang="en-US" sz="1575" dirty="0"/>
          </a:p>
        </p:txBody>
      </p:sp>
      <p:sp>
        <p:nvSpPr>
          <p:cNvPr id="19" name="Text 17"/>
          <p:cNvSpPr/>
          <p:nvPr/>
        </p:nvSpPr>
        <p:spPr>
          <a:xfrm>
            <a:off x="3467100" y="3784402"/>
            <a:ext cx="744896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C1FF"/>
                </a:solidFill>
                <a:latin typeface="Arial" pitchFamily="34" charset="0"/>
                <a:ea typeface="Arial" pitchFamily="34" charset="-122"/>
                <a:cs typeface="Arial" pitchFamily="34" charset="-120"/>
              </a:rPr>
              <a:t>river_foothold_to_escalate_journey.sql</a:t>
            </a:r>
            <a:endParaRPr lang="en-US" sz="1200" dirty="0"/>
          </a:p>
        </p:txBody>
      </p:sp>
      <p:sp>
        <p:nvSpPr>
          <p:cNvPr id="20" name="Shape 18"/>
          <p:cNvSpPr/>
          <p:nvPr/>
        </p:nvSpPr>
        <p:spPr>
          <a:xfrm>
            <a:off x="10870555" y="3341489"/>
            <a:ext cx="6464945" cy="771525"/>
          </a:xfrm>
          <a:prstGeom prst="rect">
            <a:avLst/>
          </a:prstGeom>
          <a:solidFill>
            <a:srgbClr val="4EA8FF">
              <a:alpha val="5000"/>
            </a:srgbClr>
          </a:solidFill>
          <a:ln/>
        </p:spPr>
      </p:sp>
      <p:sp>
        <p:nvSpPr>
          <p:cNvPr id="21" name="Shape 19"/>
          <p:cNvSpPr/>
          <p:nvPr/>
        </p:nvSpPr>
        <p:spPr>
          <a:xfrm>
            <a:off x="10870555" y="4103489"/>
            <a:ext cx="6464945" cy="9525"/>
          </a:xfrm>
          <a:prstGeom prst="rect">
            <a:avLst/>
          </a:prstGeom>
          <a:solidFill>
            <a:srgbClr val="232A3A"/>
          </a:solidFill>
          <a:ln/>
        </p:spPr>
      </p:sp>
      <p:sp>
        <p:nvSpPr>
          <p:cNvPr id="22" name="Shape 20"/>
          <p:cNvSpPr/>
          <p:nvPr/>
        </p:nvSpPr>
        <p:spPr>
          <a:xfrm>
            <a:off x="11042005" y="3517702"/>
            <a:ext cx="508397" cy="247650"/>
          </a:xfrm>
          <a:prstGeom prst="roundRect">
            <a:avLst>
              <a:gd name="adj" fmla="val 11538"/>
            </a:avLst>
          </a:prstGeom>
          <a:solidFill>
            <a:srgbClr val="FF5A4E">
              <a:alpha val="18000"/>
            </a:srgbClr>
          </a:solidFill>
          <a:ln w="9525">
            <a:solidFill>
              <a:srgbClr val="FF5A4E">
                <a:alpha val="55000"/>
              </a:srgbClr>
            </a:solidFill>
            <a:prstDash val="solid"/>
          </a:ln>
        </p:spPr>
      </p:sp>
      <p:sp>
        <p:nvSpPr>
          <p:cNvPr id="23" name="Text 21"/>
          <p:cNvSpPr/>
          <p:nvPr/>
        </p:nvSpPr>
        <p:spPr>
          <a:xfrm>
            <a:off x="11146780" y="3565327"/>
            <a:ext cx="375047"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FFFFFF"/>
                </a:solidFill>
                <a:latin typeface="Arial" pitchFamily="34" charset="0"/>
                <a:ea typeface="Arial" pitchFamily="34" charset="-122"/>
                <a:cs typeface="Arial" pitchFamily="34" charset="-120"/>
              </a:rPr>
              <a:t>CTE</a:t>
            </a:r>
            <a:endParaRPr lang="en-US" sz="1050" dirty="0"/>
          </a:p>
        </p:txBody>
      </p:sp>
      <p:sp>
        <p:nvSpPr>
          <p:cNvPr id="24" name="Shape 22"/>
          <p:cNvSpPr/>
          <p:nvPr/>
        </p:nvSpPr>
        <p:spPr>
          <a:xfrm>
            <a:off x="11607552" y="3517702"/>
            <a:ext cx="1337667" cy="247650"/>
          </a:xfrm>
          <a:prstGeom prst="roundRect">
            <a:avLst>
              <a:gd name="adj" fmla="val 11538"/>
            </a:avLst>
          </a:prstGeom>
          <a:solidFill>
            <a:srgbClr val="FF5A4E">
              <a:alpha val="18000"/>
            </a:srgbClr>
          </a:solidFill>
          <a:ln w="9525">
            <a:solidFill>
              <a:srgbClr val="FF5A4E">
                <a:alpha val="55000"/>
              </a:srgbClr>
            </a:solidFill>
            <a:prstDash val="solid"/>
          </a:ln>
        </p:spPr>
      </p:sp>
      <p:sp>
        <p:nvSpPr>
          <p:cNvPr id="25" name="Text 23"/>
          <p:cNvSpPr/>
          <p:nvPr/>
        </p:nvSpPr>
        <p:spPr>
          <a:xfrm>
            <a:off x="11712327" y="3565327"/>
            <a:ext cx="1204317"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FFFFFF"/>
                </a:solidFill>
                <a:latin typeface="Arial" pitchFamily="34" charset="0"/>
                <a:ea typeface="Arial" pitchFamily="34" charset="-122"/>
                <a:cs typeface="Arial" pitchFamily="34" charset="-120"/>
              </a:rPr>
              <a:t>NTILE WINDOW</a:t>
            </a:r>
            <a:endParaRPr lang="en-US" sz="1050" dirty="0"/>
          </a:p>
        </p:txBody>
      </p:sp>
      <p:sp>
        <p:nvSpPr>
          <p:cNvPr id="26" name="Shape 24"/>
          <p:cNvSpPr/>
          <p:nvPr/>
        </p:nvSpPr>
        <p:spPr>
          <a:xfrm>
            <a:off x="3295650" y="4703564"/>
            <a:ext cx="7574905" cy="9525"/>
          </a:xfrm>
          <a:prstGeom prst="rect">
            <a:avLst/>
          </a:prstGeom>
          <a:solidFill>
            <a:srgbClr val="232A3A"/>
          </a:solidFill>
          <a:ln/>
        </p:spPr>
      </p:sp>
      <p:sp>
        <p:nvSpPr>
          <p:cNvPr id="27" name="Text 25"/>
          <p:cNvSpPr/>
          <p:nvPr/>
        </p:nvSpPr>
        <p:spPr>
          <a:xfrm>
            <a:off x="3467100" y="4265414"/>
            <a:ext cx="7459252" cy="323850"/>
          </a:xfrm>
          <a:prstGeom prst="rect">
            <a:avLst/>
          </a:prstGeom>
          <a:noFill/>
          <a:ln/>
        </p:spPr>
        <p:txBody>
          <a:bodyPr wrap="square" lIns="25400" tIns="25400" rIns="25400" bIns="2540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Foothold accumulation across access.log.2</a:t>
            </a:r>
            <a:endParaRPr lang="en-US" sz="1575" dirty="0"/>
          </a:p>
        </p:txBody>
      </p:sp>
      <p:sp>
        <p:nvSpPr>
          <p:cNvPr id="28" name="Shape 26"/>
          <p:cNvSpPr/>
          <p:nvPr/>
        </p:nvSpPr>
        <p:spPr>
          <a:xfrm>
            <a:off x="10870555" y="4703564"/>
            <a:ext cx="6464945" cy="9525"/>
          </a:xfrm>
          <a:prstGeom prst="rect">
            <a:avLst/>
          </a:prstGeom>
          <a:solidFill>
            <a:srgbClr val="232A3A"/>
          </a:solidFill>
          <a:ln/>
        </p:spPr>
      </p:sp>
      <p:sp>
        <p:nvSpPr>
          <p:cNvPr id="29" name="Shape 27"/>
          <p:cNvSpPr/>
          <p:nvPr/>
        </p:nvSpPr>
        <p:spPr>
          <a:xfrm>
            <a:off x="11042005" y="4289227"/>
            <a:ext cx="1542008" cy="247650"/>
          </a:xfrm>
          <a:prstGeom prst="roundRect">
            <a:avLst>
              <a:gd name="adj" fmla="val 11538"/>
            </a:avLst>
          </a:prstGeom>
          <a:solidFill>
            <a:srgbClr val="1A2030"/>
          </a:solidFill>
          <a:ln w="9525">
            <a:solidFill>
              <a:srgbClr val="2C3548"/>
            </a:solidFill>
            <a:prstDash val="solid"/>
          </a:ln>
        </p:spPr>
      </p:sp>
      <p:sp>
        <p:nvSpPr>
          <p:cNvPr id="30" name="Text 28"/>
          <p:cNvSpPr/>
          <p:nvPr/>
        </p:nvSpPr>
        <p:spPr>
          <a:xfrm>
            <a:off x="11146780" y="4336852"/>
            <a:ext cx="1408658"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CUMULATIVE SUM</a:t>
            </a:r>
            <a:endParaRPr lang="en-US" sz="1050" dirty="0"/>
          </a:p>
        </p:txBody>
      </p:sp>
      <p:sp>
        <p:nvSpPr>
          <p:cNvPr id="31" name="Shape 29"/>
          <p:cNvSpPr/>
          <p:nvPr/>
        </p:nvSpPr>
        <p:spPr>
          <a:xfrm>
            <a:off x="12641163" y="4289227"/>
            <a:ext cx="858738" cy="247650"/>
          </a:xfrm>
          <a:prstGeom prst="roundRect">
            <a:avLst>
              <a:gd name="adj" fmla="val 11538"/>
            </a:avLst>
          </a:prstGeom>
          <a:solidFill>
            <a:srgbClr val="1A2030"/>
          </a:solidFill>
          <a:ln w="9525">
            <a:solidFill>
              <a:srgbClr val="2C3548"/>
            </a:solidFill>
            <a:prstDash val="solid"/>
          </a:ln>
        </p:spPr>
      </p:sp>
      <p:sp>
        <p:nvSpPr>
          <p:cNvPr id="32" name="Text 30"/>
          <p:cNvSpPr/>
          <p:nvPr/>
        </p:nvSpPr>
        <p:spPr>
          <a:xfrm>
            <a:off x="12745938" y="4336852"/>
            <a:ext cx="725388"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WINDOW</a:t>
            </a:r>
            <a:endParaRPr lang="en-US" sz="1050" dirty="0"/>
          </a:p>
        </p:txBody>
      </p:sp>
      <p:sp>
        <p:nvSpPr>
          <p:cNvPr id="33" name="Shape 31"/>
          <p:cNvSpPr/>
          <p:nvPr/>
        </p:nvSpPr>
        <p:spPr>
          <a:xfrm>
            <a:off x="3295650" y="5303639"/>
            <a:ext cx="7574905" cy="9525"/>
          </a:xfrm>
          <a:prstGeom prst="rect">
            <a:avLst/>
          </a:prstGeom>
          <a:solidFill>
            <a:srgbClr val="232A3A"/>
          </a:solidFill>
          <a:ln/>
        </p:spPr>
      </p:sp>
      <p:sp>
        <p:nvSpPr>
          <p:cNvPr id="34" name="Text 32"/>
          <p:cNvSpPr/>
          <p:nvPr/>
        </p:nvSpPr>
        <p:spPr>
          <a:xfrm>
            <a:off x="3467100" y="4865489"/>
            <a:ext cx="7459252" cy="323850"/>
          </a:xfrm>
          <a:prstGeom prst="rect">
            <a:avLst/>
          </a:prstGeom>
          <a:noFill/>
          <a:ln/>
        </p:spPr>
        <p:txBody>
          <a:bodyPr wrap="square" lIns="25400" tIns="25400" rIns="25400" bIns="2540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Source spread per host, host and label baselines</a:t>
            </a:r>
            <a:endParaRPr lang="en-US" sz="1575" dirty="0"/>
          </a:p>
        </p:txBody>
      </p:sp>
      <p:sp>
        <p:nvSpPr>
          <p:cNvPr id="35" name="Shape 33"/>
          <p:cNvSpPr/>
          <p:nvPr/>
        </p:nvSpPr>
        <p:spPr>
          <a:xfrm>
            <a:off x="10870555" y="5303639"/>
            <a:ext cx="6464945" cy="9525"/>
          </a:xfrm>
          <a:prstGeom prst="rect">
            <a:avLst/>
          </a:prstGeom>
          <a:solidFill>
            <a:srgbClr val="232A3A"/>
          </a:solidFill>
          <a:ln/>
        </p:spPr>
      </p:sp>
      <p:sp>
        <p:nvSpPr>
          <p:cNvPr id="36" name="Shape 34"/>
          <p:cNvSpPr/>
          <p:nvPr/>
        </p:nvSpPr>
        <p:spPr>
          <a:xfrm>
            <a:off x="11042005" y="4889302"/>
            <a:ext cx="622846" cy="247650"/>
          </a:xfrm>
          <a:prstGeom prst="roundRect">
            <a:avLst>
              <a:gd name="adj" fmla="val 11538"/>
            </a:avLst>
          </a:prstGeom>
          <a:solidFill>
            <a:srgbClr val="1A2030"/>
          </a:solidFill>
          <a:ln w="9525">
            <a:solidFill>
              <a:srgbClr val="2C3548"/>
            </a:solidFill>
            <a:prstDash val="solid"/>
          </a:ln>
        </p:spPr>
      </p:sp>
      <p:sp>
        <p:nvSpPr>
          <p:cNvPr id="37" name="Text 35"/>
          <p:cNvSpPr/>
          <p:nvPr/>
        </p:nvSpPr>
        <p:spPr>
          <a:xfrm>
            <a:off x="11146780" y="4936927"/>
            <a:ext cx="489496"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RANK</a:t>
            </a:r>
            <a:endParaRPr lang="en-US" sz="1050" dirty="0"/>
          </a:p>
        </p:txBody>
      </p:sp>
      <p:sp>
        <p:nvSpPr>
          <p:cNvPr id="38" name="Shape 36"/>
          <p:cNvSpPr/>
          <p:nvPr/>
        </p:nvSpPr>
        <p:spPr>
          <a:xfrm>
            <a:off x="11722001" y="4889302"/>
            <a:ext cx="772418" cy="247650"/>
          </a:xfrm>
          <a:prstGeom prst="roundRect">
            <a:avLst>
              <a:gd name="adj" fmla="val 11538"/>
            </a:avLst>
          </a:prstGeom>
          <a:solidFill>
            <a:srgbClr val="1A2030"/>
          </a:solidFill>
          <a:ln w="9525">
            <a:solidFill>
              <a:srgbClr val="2C3548"/>
            </a:solidFill>
            <a:prstDash val="solid"/>
          </a:ln>
        </p:spPr>
      </p:sp>
      <p:sp>
        <p:nvSpPr>
          <p:cNvPr id="39" name="Text 37"/>
          <p:cNvSpPr/>
          <p:nvPr/>
        </p:nvSpPr>
        <p:spPr>
          <a:xfrm>
            <a:off x="11826776" y="4936927"/>
            <a:ext cx="639068"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JOIN ≥3</a:t>
            </a:r>
            <a:endParaRPr lang="en-US" sz="1050" dirty="0"/>
          </a:p>
        </p:txBody>
      </p:sp>
      <p:sp>
        <p:nvSpPr>
          <p:cNvPr id="40" name="Shape 38"/>
          <p:cNvSpPr/>
          <p:nvPr/>
        </p:nvSpPr>
        <p:spPr>
          <a:xfrm>
            <a:off x="12551569" y="4889302"/>
            <a:ext cx="663178" cy="247650"/>
          </a:xfrm>
          <a:prstGeom prst="roundRect">
            <a:avLst>
              <a:gd name="adj" fmla="val 11538"/>
            </a:avLst>
          </a:prstGeom>
          <a:solidFill>
            <a:srgbClr val="1A2030"/>
          </a:solidFill>
          <a:ln w="9525">
            <a:solidFill>
              <a:srgbClr val="2C3548"/>
            </a:solidFill>
            <a:prstDash val="solid"/>
          </a:ln>
        </p:spPr>
      </p:sp>
      <p:sp>
        <p:nvSpPr>
          <p:cNvPr id="41" name="Text 39"/>
          <p:cNvSpPr/>
          <p:nvPr/>
        </p:nvSpPr>
        <p:spPr>
          <a:xfrm>
            <a:off x="12656344" y="4936927"/>
            <a:ext cx="529828"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BASIC</a:t>
            </a:r>
            <a:endParaRPr lang="en-US" sz="1050" dirty="0"/>
          </a:p>
        </p:txBody>
      </p:sp>
      <p:sp>
        <p:nvSpPr>
          <p:cNvPr id="42" name="Shape 40"/>
          <p:cNvSpPr/>
          <p:nvPr/>
        </p:nvSpPr>
        <p:spPr>
          <a:xfrm>
            <a:off x="952500" y="5313164"/>
            <a:ext cx="2343150" cy="1971675"/>
          </a:xfrm>
          <a:prstGeom prst="rect">
            <a:avLst/>
          </a:prstGeom>
          <a:solidFill>
            <a:srgbClr val="4EA8FF">
              <a:alpha val="5000"/>
            </a:srgbClr>
          </a:solidFill>
          <a:ln/>
        </p:spPr>
      </p:sp>
      <p:sp>
        <p:nvSpPr>
          <p:cNvPr id="43" name="Shape 41"/>
          <p:cNvSpPr/>
          <p:nvPr/>
        </p:nvSpPr>
        <p:spPr>
          <a:xfrm>
            <a:off x="952500" y="7275314"/>
            <a:ext cx="2343150" cy="9525"/>
          </a:xfrm>
          <a:prstGeom prst="rect">
            <a:avLst/>
          </a:prstGeom>
          <a:solidFill>
            <a:srgbClr val="232A3A"/>
          </a:solidFill>
          <a:ln/>
        </p:spPr>
      </p:sp>
      <p:sp>
        <p:nvSpPr>
          <p:cNvPr id="44" name="Text 42"/>
          <p:cNvSpPr/>
          <p:nvPr/>
        </p:nvSpPr>
        <p:spPr>
          <a:xfrm>
            <a:off x="1123950" y="5465564"/>
            <a:ext cx="1981200" cy="1695450"/>
          </a:xfrm>
          <a:prstGeom prst="rect">
            <a:avLst/>
          </a:prstGeom>
          <a:noFill/>
          <a:ln/>
        </p:spPr>
        <p:txBody>
          <a:bodyPr wrap="square" lIns="25400" tIns="25400" rIns="25400" bIns="25400" rtlCol="0" anchor="t">
            <a:normAutofit/>
          </a:bodyPr>
          <a:lstStyle/>
          <a:p>
            <a:pPr algn="l" indent="0" marL="0">
              <a:buNone/>
            </a:pPr>
            <a:r>
              <a:rPr lang="en-US" sz="2100" dirty="0">
                <a:solidFill>
                  <a:srgbClr val="E8ECF4"/>
                </a:solidFill>
                <a:latin typeface="Arial" pitchFamily="34" charset="0"/>
                <a:ea typeface="Arial" pitchFamily="34" charset="-122"/>
                <a:cs typeface="Arial" pitchFamily="34" charset="-120"/>
              </a:rPr>
              <a:t>Ishaan</a:t>
            </a:r>
            <a:endParaRPr lang="en-US" sz="2100" dirty="0"/>
          </a:p>
        </p:txBody>
      </p:sp>
      <p:sp>
        <p:nvSpPr>
          <p:cNvPr id="45" name="Shape 43"/>
          <p:cNvSpPr/>
          <p:nvPr/>
        </p:nvSpPr>
        <p:spPr>
          <a:xfrm>
            <a:off x="3295650" y="5313164"/>
            <a:ext cx="7574905" cy="771525"/>
          </a:xfrm>
          <a:prstGeom prst="rect">
            <a:avLst/>
          </a:prstGeom>
          <a:solidFill>
            <a:srgbClr val="4EA8FF">
              <a:alpha val="5000"/>
            </a:srgbClr>
          </a:solidFill>
          <a:ln/>
        </p:spPr>
      </p:sp>
      <p:sp>
        <p:nvSpPr>
          <p:cNvPr id="46" name="Shape 44"/>
          <p:cNvSpPr/>
          <p:nvPr/>
        </p:nvSpPr>
        <p:spPr>
          <a:xfrm>
            <a:off x="3295650" y="6075164"/>
            <a:ext cx="7574905" cy="9525"/>
          </a:xfrm>
          <a:prstGeom prst="rect">
            <a:avLst/>
          </a:prstGeom>
          <a:solidFill>
            <a:srgbClr val="232A3A"/>
          </a:solidFill>
          <a:ln/>
        </p:spPr>
      </p:sp>
      <p:sp>
        <p:nvSpPr>
          <p:cNvPr id="47" name="Text 45"/>
          <p:cNvSpPr/>
          <p:nvPr/>
        </p:nvSpPr>
        <p:spPr>
          <a:xfrm>
            <a:off x="3467100" y="5470327"/>
            <a:ext cx="2986147" cy="266700"/>
          </a:xfrm>
          <a:prstGeom prst="rect">
            <a:avLst/>
          </a:prstGeom>
          <a:noFill/>
          <a:ln/>
        </p:spPr>
        <p:txBody>
          <a:bodyPr wrap="square" lIns="0" tIns="0" rIns="0" bIns="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Audit types in privilege escalation</a:t>
            </a:r>
            <a:endParaRPr lang="en-US" sz="1575" dirty="0"/>
          </a:p>
        </p:txBody>
      </p:sp>
      <p:sp>
        <p:nvSpPr>
          <p:cNvPr id="48" name="Text 46"/>
          <p:cNvSpPr/>
          <p:nvPr/>
        </p:nvSpPr>
        <p:spPr>
          <a:xfrm>
            <a:off x="3467100" y="5756077"/>
            <a:ext cx="744896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C1FF"/>
                </a:solidFill>
                <a:latin typeface="Arial" pitchFamily="34" charset="0"/>
                <a:ea typeface="Arial" pitchFamily="34" charset="-122"/>
                <a:cs typeface="Arial" pitchFamily="34" charset="-120"/>
              </a:rPr>
              <a:t>ishaan_audit_types_in_privilege_escalation.sql</a:t>
            </a:r>
            <a:endParaRPr lang="en-US" sz="1200" dirty="0"/>
          </a:p>
        </p:txBody>
      </p:sp>
      <p:sp>
        <p:nvSpPr>
          <p:cNvPr id="49" name="Shape 47"/>
          <p:cNvSpPr/>
          <p:nvPr/>
        </p:nvSpPr>
        <p:spPr>
          <a:xfrm>
            <a:off x="10870555" y="5313164"/>
            <a:ext cx="6464945" cy="771525"/>
          </a:xfrm>
          <a:prstGeom prst="rect">
            <a:avLst/>
          </a:prstGeom>
          <a:solidFill>
            <a:srgbClr val="4EA8FF">
              <a:alpha val="5000"/>
            </a:srgbClr>
          </a:solidFill>
          <a:ln/>
        </p:spPr>
      </p:sp>
      <p:sp>
        <p:nvSpPr>
          <p:cNvPr id="50" name="Shape 48"/>
          <p:cNvSpPr/>
          <p:nvPr/>
        </p:nvSpPr>
        <p:spPr>
          <a:xfrm>
            <a:off x="10870555" y="6075164"/>
            <a:ext cx="6464945" cy="9525"/>
          </a:xfrm>
          <a:prstGeom prst="rect">
            <a:avLst/>
          </a:prstGeom>
          <a:solidFill>
            <a:srgbClr val="232A3A"/>
          </a:solidFill>
          <a:ln/>
        </p:spPr>
      </p:sp>
      <p:sp>
        <p:nvSpPr>
          <p:cNvPr id="51" name="Shape 49"/>
          <p:cNvSpPr/>
          <p:nvPr/>
        </p:nvSpPr>
        <p:spPr>
          <a:xfrm>
            <a:off x="11042005" y="5489377"/>
            <a:ext cx="747861" cy="247650"/>
          </a:xfrm>
          <a:prstGeom prst="roundRect">
            <a:avLst>
              <a:gd name="adj" fmla="val 11538"/>
            </a:avLst>
          </a:prstGeom>
          <a:solidFill>
            <a:srgbClr val="FF5A4E">
              <a:alpha val="18000"/>
            </a:srgbClr>
          </a:solidFill>
          <a:ln w="9525">
            <a:solidFill>
              <a:srgbClr val="FF5A4E">
                <a:alpha val="55000"/>
              </a:srgbClr>
            </a:solidFill>
            <a:prstDash val="solid"/>
          </a:ln>
        </p:spPr>
      </p:sp>
      <p:sp>
        <p:nvSpPr>
          <p:cNvPr id="52" name="Text 50"/>
          <p:cNvSpPr/>
          <p:nvPr/>
        </p:nvSpPr>
        <p:spPr>
          <a:xfrm>
            <a:off x="11146780" y="5537002"/>
            <a:ext cx="614511"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FFFFFF"/>
                </a:solidFill>
                <a:latin typeface="Arial" pitchFamily="34" charset="0"/>
                <a:ea typeface="Arial" pitchFamily="34" charset="-122"/>
                <a:cs typeface="Arial" pitchFamily="34" charset="-120"/>
              </a:rPr>
              <a:t>EXISTS</a:t>
            </a:r>
            <a:endParaRPr lang="en-US" sz="1050" dirty="0"/>
          </a:p>
        </p:txBody>
      </p:sp>
      <p:sp>
        <p:nvSpPr>
          <p:cNvPr id="53" name="Shape 51"/>
          <p:cNvSpPr/>
          <p:nvPr/>
        </p:nvSpPr>
        <p:spPr>
          <a:xfrm>
            <a:off x="11847016" y="5489377"/>
            <a:ext cx="1040904" cy="247650"/>
          </a:xfrm>
          <a:prstGeom prst="roundRect">
            <a:avLst>
              <a:gd name="adj" fmla="val 11538"/>
            </a:avLst>
          </a:prstGeom>
          <a:solidFill>
            <a:srgbClr val="FF5A4E">
              <a:alpha val="18000"/>
            </a:srgbClr>
          </a:solidFill>
          <a:ln w="9525">
            <a:solidFill>
              <a:srgbClr val="FF5A4E">
                <a:alpha val="55000"/>
              </a:srgbClr>
            </a:solidFill>
            <a:prstDash val="solid"/>
          </a:ln>
        </p:spPr>
      </p:sp>
      <p:sp>
        <p:nvSpPr>
          <p:cNvPr id="54" name="Text 52"/>
          <p:cNvSpPr/>
          <p:nvPr/>
        </p:nvSpPr>
        <p:spPr>
          <a:xfrm>
            <a:off x="11951791" y="5537002"/>
            <a:ext cx="907554"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FFFFFF"/>
                </a:solidFill>
                <a:latin typeface="Arial" pitchFamily="34" charset="0"/>
                <a:ea typeface="Arial" pitchFamily="34" charset="-122"/>
                <a:cs typeface="Arial" pitchFamily="34" charset="-120"/>
              </a:rPr>
              <a:t>SUBQUERY</a:t>
            </a:r>
            <a:endParaRPr lang="en-US" sz="1050" dirty="0"/>
          </a:p>
        </p:txBody>
      </p:sp>
      <p:sp>
        <p:nvSpPr>
          <p:cNvPr id="55" name="Shape 53"/>
          <p:cNvSpPr/>
          <p:nvPr/>
        </p:nvSpPr>
        <p:spPr>
          <a:xfrm>
            <a:off x="3295650" y="6675239"/>
            <a:ext cx="7574905" cy="9525"/>
          </a:xfrm>
          <a:prstGeom prst="rect">
            <a:avLst/>
          </a:prstGeom>
          <a:solidFill>
            <a:srgbClr val="232A3A"/>
          </a:solidFill>
          <a:ln/>
        </p:spPr>
      </p:sp>
      <p:sp>
        <p:nvSpPr>
          <p:cNvPr id="56" name="Text 54"/>
          <p:cNvSpPr/>
          <p:nvPr/>
        </p:nvSpPr>
        <p:spPr>
          <a:xfrm>
            <a:off x="3467100" y="6237089"/>
            <a:ext cx="7459252" cy="323850"/>
          </a:xfrm>
          <a:prstGeom prst="rect">
            <a:avLst/>
          </a:prstGeom>
          <a:noFill/>
          <a:ln/>
        </p:spPr>
        <p:txBody>
          <a:bodyPr wrap="square" lIns="25400" tIns="25400" rIns="25400" bIns="2540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Detection rules ranked, top rule per label</a:t>
            </a:r>
            <a:endParaRPr lang="en-US" sz="1575" dirty="0"/>
          </a:p>
        </p:txBody>
      </p:sp>
      <p:sp>
        <p:nvSpPr>
          <p:cNvPr id="57" name="Shape 55"/>
          <p:cNvSpPr/>
          <p:nvPr/>
        </p:nvSpPr>
        <p:spPr>
          <a:xfrm>
            <a:off x="10870555" y="6675239"/>
            <a:ext cx="6464945" cy="9525"/>
          </a:xfrm>
          <a:prstGeom prst="rect">
            <a:avLst/>
          </a:prstGeom>
          <a:solidFill>
            <a:srgbClr val="232A3A"/>
          </a:solidFill>
          <a:ln/>
        </p:spPr>
      </p:sp>
      <p:sp>
        <p:nvSpPr>
          <p:cNvPr id="58" name="Shape 56"/>
          <p:cNvSpPr/>
          <p:nvPr/>
        </p:nvSpPr>
        <p:spPr>
          <a:xfrm>
            <a:off x="11042005" y="6260902"/>
            <a:ext cx="1319659" cy="247650"/>
          </a:xfrm>
          <a:prstGeom prst="roundRect">
            <a:avLst>
              <a:gd name="adj" fmla="val 11538"/>
            </a:avLst>
          </a:prstGeom>
          <a:solidFill>
            <a:srgbClr val="1A2030"/>
          </a:solidFill>
          <a:ln w="9525">
            <a:solidFill>
              <a:srgbClr val="2C3548"/>
            </a:solidFill>
            <a:prstDash val="solid"/>
          </a:ln>
        </p:spPr>
      </p:sp>
      <p:sp>
        <p:nvSpPr>
          <p:cNvPr id="59" name="Text 57"/>
          <p:cNvSpPr/>
          <p:nvPr/>
        </p:nvSpPr>
        <p:spPr>
          <a:xfrm>
            <a:off x="11146780" y="6308527"/>
            <a:ext cx="1186309"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RANK WINDOW</a:t>
            </a:r>
            <a:endParaRPr lang="en-US" sz="1050" dirty="0"/>
          </a:p>
        </p:txBody>
      </p:sp>
      <p:sp>
        <p:nvSpPr>
          <p:cNvPr id="60" name="Shape 58"/>
          <p:cNvSpPr/>
          <p:nvPr/>
        </p:nvSpPr>
        <p:spPr>
          <a:xfrm>
            <a:off x="12418814" y="6260902"/>
            <a:ext cx="2096839" cy="247650"/>
          </a:xfrm>
          <a:prstGeom prst="roundRect">
            <a:avLst>
              <a:gd name="adj" fmla="val 11538"/>
            </a:avLst>
          </a:prstGeom>
          <a:solidFill>
            <a:srgbClr val="1A2030"/>
          </a:solidFill>
          <a:ln w="9525">
            <a:solidFill>
              <a:srgbClr val="2C3548"/>
            </a:solidFill>
            <a:prstDash val="solid"/>
          </a:ln>
        </p:spPr>
      </p:sp>
      <p:sp>
        <p:nvSpPr>
          <p:cNvPr id="61" name="Text 59"/>
          <p:cNvSpPr/>
          <p:nvPr/>
        </p:nvSpPr>
        <p:spPr>
          <a:xfrm>
            <a:off x="12523589" y="6308527"/>
            <a:ext cx="1963489"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CORRELATED SUBQUERY</a:t>
            </a:r>
            <a:endParaRPr lang="en-US" sz="1050" dirty="0"/>
          </a:p>
        </p:txBody>
      </p:sp>
      <p:sp>
        <p:nvSpPr>
          <p:cNvPr id="62" name="Shape 60"/>
          <p:cNvSpPr/>
          <p:nvPr/>
        </p:nvSpPr>
        <p:spPr>
          <a:xfrm>
            <a:off x="3295650" y="7275314"/>
            <a:ext cx="7574905" cy="9525"/>
          </a:xfrm>
          <a:prstGeom prst="rect">
            <a:avLst/>
          </a:prstGeom>
          <a:solidFill>
            <a:srgbClr val="232A3A"/>
          </a:solidFill>
          <a:ln/>
        </p:spPr>
      </p:sp>
      <p:sp>
        <p:nvSpPr>
          <p:cNvPr id="63" name="Text 61"/>
          <p:cNvSpPr/>
          <p:nvPr/>
        </p:nvSpPr>
        <p:spPr>
          <a:xfrm>
            <a:off x="3467100" y="6837164"/>
            <a:ext cx="7459252" cy="323850"/>
          </a:xfrm>
          <a:prstGeom prst="rect">
            <a:avLst/>
          </a:prstGeom>
          <a:noFill/>
          <a:ln/>
        </p:spPr>
        <p:txBody>
          <a:bodyPr wrap="square" lIns="25400" tIns="25400" rIns="25400" bIns="2540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Phase and rule baseline counts</a:t>
            </a:r>
            <a:endParaRPr lang="en-US" sz="1575" dirty="0"/>
          </a:p>
        </p:txBody>
      </p:sp>
      <p:sp>
        <p:nvSpPr>
          <p:cNvPr id="64" name="Shape 62"/>
          <p:cNvSpPr/>
          <p:nvPr/>
        </p:nvSpPr>
        <p:spPr>
          <a:xfrm>
            <a:off x="10870555" y="7275314"/>
            <a:ext cx="6464945" cy="9525"/>
          </a:xfrm>
          <a:prstGeom prst="rect">
            <a:avLst/>
          </a:prstGeom>
          <a:solidFill>
            <a:srgbClr val="232A3A"/>
          </a:solidFill>
          <a:ln/>
        </p:spPr>
      </p:sp>
      <p:sp>
        <p:nvSpPr>
          <p:cNvPr id="65" name="Shape 63"/>
          <p:cNvSpPr/>
          <p:nvPr/>
        </p:nvSpPr>
        <p:spPr>
          <a:xfrm>
            <a:off x="11042005" y="6860977"/>
            <a:ext cx="663178" cy="247650"/>
          </a:xfrm>
          <a:prstGeom prst="roundRect">
            <a:avLst>
              <a:gd name="adj" fmla="val 11538"/>
            </a:avLst>
          </a:prstGeom>
          <a:solidFill>
            <a:srgbClr val="1A2030"/>
          </a:solidFill>
          <a:ln w="9525">
            <a:solidFill>
              <a:srgbClr val="2C3548"/>
            </a:solidFill>
            <a:prstDash val="solid"/>
          </a:ln>
        </p:spPr>
      </p:sp>
      <p:sp>
        <p:nvSpPr>
          <p:cNvPr id="66" name="Text 64"/>
          <p:cNvSpPr/>
          <p:nvPr/>
        </p:nvSpPr>
        <p:spPr>
          <a:xfrm>
            <a:off x="11146780" y="6908602"/>
            <a:ext cx="529828"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BASIC</a:t>
            </a:r>
            <a:endParaRPr lang="en-US" sz="1050" dirty="0"/>
          </a:p>
        </p:txBody>
      </p:sp>
      <p:sp>
        <p:nvSpPr>
          <p:cNvPr id="67" name="Shape 65"/>
          <p:cNvSpPr/>
          <p:nvPr/>
        </p:nvSpPr>
        <p:spPr>
          <a:xfrm>
            <a:off x="952500" y="7284839"/>
            <a:ext cx="2343150" cy="2152650"/>
          </a:xfrm>
          <a:prstGeom prst="rect">
            <a:avLst/>
          </a:prstGeom>
          <a:solidFill>
            <a:srgbClr val="4EA8FF">
              <a:alpha val="5000"/>
            </a:srgbClr>
          </a:solidFill>
          <a:ln/>
        </p:spPr>
      </p:sp>
      <p:sp>
        <p:nvSpPr>
          <p:cNvPr id="68" name="Shape 66"/>
          <p:cNvSpPr/>
          <p:nvPr/>
        </p:nvSpPr>
        <p:spPr>
          <a:xfrm>
            <a:off x="952500" y="9427964"/>
            <a:ext cx="2343150" cy="9525"/>
          </a:xfrm>
          <a:prstGeom prst="rect">
            <a:avLst/>
          </a:prstGeom>
          <a:solidFill>
            <a:srgbClr val="232A3A"/>
          </a:solidFill>
          <a:ln/>
        </p:spPr>
      </p:sp>
      <p:sp>
        <p:nvSpPr>
          <p:cNvPr id="69" name="Text 67"/>
          <p:cNvSpPr/>
          <p:nvPr/>
        </p:nvSpPr>
        <p:spPr>
          <a:xfrm>
            <a:off x="1123950" y="7437239"/>
            <a:ext cx="1981200" cy="1876425"/>
          </a:xfrm>
          <a:prstGeom prst="rect">
            <a:avLst/>
          </a:prstGeom>
          <a:noFill/>
          <a:ln/>
        </p:spPr>
        <p:txBody>
          <a:bodyPr wrap="square" lIns="25400" tIns="25400" rIns="25400" bIns="25400" rtlCol="0" anchor="t">
            <a:normAutofit/>
          </a:bodyPr>
          <a:lstStyle/>
          <a:p>
            <a:pPr algn="l" indent="0" marL="0">
              <a:buNone/>
            </a:pPr>
            <a:r>
              <a:rPr lang="en-US" sz="2100" dirty="0">
                <a:solidFill>
                  <a:srgbClr val="E8ECF4"/>
                </a:solidFill>
                <a:latin typeface="Arial" pitchFamily="34" charset="0"/>
                <a:ea typeface="Arial" pitchFamily="34" charset="-122"/>
                <a:cs typeface="Arial" pitchFamily="34" charset="-120"/>
              </a:rPr>
              <a:t>Naman</a:t>
            </a:r>
            <a:endParaRPr lang="en-US" sz="2100" dirty="0"/>
          </a:p>
        </p:txBody>
      </p:sp>
      <p:sp>
        <p:nvSpPr>
          <p:cNvPr id="70" name="Shape 68"/>
          <p:cNvSpPr/>
          <p:nvPr/>
        </p:nvSpPr>
        <p:spPr>
          <a:xfrm>
            <a:off x="3295650" y="7284839"/>
            <a:ext cx="7574905" cy="771525"/>
          </a:xfrm>
          <a:prstGeom prst="rect">
            <a:avLst/>
          </a:prstGeom>
          <a:solidFill>
            <a:srgbClr val="4EA8FF">
              <a:alpha val="5000"/>
            </a:srgbClr>
          </a:solidFill>
          <a:ln/>
        </p:spPr>
      </p:sp>
      <p:sp>
        <p:nvSpPr>
          <p:cNvPr id="71" name="Shape 69"/>
          <p:cNvSpPr/>
          <p:nvPr/>
        </p:nvSpPr>
        <p:spPr>
          <a:xfrm>
            <a:off x="3295650" y="8046839"/>
            <a:ext cx="7574905" cy="9525"/>
          </a:xfrm>
          <a:prstGeom prst="rect">
            <a:avLst/>
          </a:prstGeom>
          <a:solidFill>
            <a:srgbClr val="232A3A"/>
          </a:solidFill>
          <a:ln/>
        </p:spPr>
      </p:sp>
      <p:sp>
        <p:nvSpPr>
          <p:cNvPr id="72" name="Text 70"/>
          <p:cNvSpPr/>
          <p:nvPr/>
        </p:nvSpPr>
        <p:spPr>
          <a:xfrm>
            <a:off x="3467100" y="7442002"/>
            <a:ext cx="3421192" cy="266700"/>
          </a:xfrm>
          <a:prstGeom prst="rect">
            <a:avLst/>
          </a:prstGeom>
          <a:noFill/>
          <a:ln/>
        </p:spPr>
        <p:txBody>
          <a:bodyPr wrap="square" lIns="0" tIns="0" rIns="0" bIns="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EXPLAIN ANALYZE + composite index</a:t>
            </a:r>
            <a:endParaRPr lang="en-US" sz="1575" dirty="0"/>
          </a:p>
        </p:txBody>
      </p:sp>
      <p:sp>
        <p:nvSpPr>
          <p:cNvPr id="73" name="Text 71"/>
          <p:cNvSpPr/>
          <p:nvPr/>
        </p:nvSpPr>
        <p:spPr>
          <a:xfrm>
            <a:off x="3467100" y="7727752"/>
            <a:ext cx="744896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C1FF"/>
                </a:solidFill>
                <a:latin typeface="Arial" pitchFamily="34" charset="0"/>
                <a:ea typeface="Arial" pitchFamily="34" charset="-122"/>
                <a:cs typeface="Arial" pitchFamily="34" charset="-120"/>
              </a:rPr>
              <a:t>naman_explain_index_improvement.sql</a:t>
            </a:r>
            <a:endParaRPr lang="en-US" sz="1200" dirty="0"/>
          </a:p>
        </p:txBody>
      </p:sp>
      <p:sp>
        <p:nvSpPr>
          <p:cNvPr id="74" name="Shape 72"/>
          <p:cNvSpPr/>
          <p:nvPr/>
        </p:nvSpPr>
        <p:spPr>
          <a:xfrm>
            <a:off x="10870555" y="7284839"/>
            <a:ext cx="6464945" cy="771525"/>
          </a:xfrm>
          <a:prstGeom prst="rect">
            <a:avLst/>
          </a:prstGeom>
          <a:solidFill>
            <a:srgbClr val="4EA8FF">
              <a:alpha val="5000"/>
            </a:srgbClr>
          </a:solidFill>
          <a:ln/>
        </p:spPr>
      </p:sp>
      <p:sp>
        <p:nvSpPr>
          <p:cNvPr id="75" name="Shape 73"/>
          <p:cNvSpPr/>
          <p:nvPr/>
        </p:nvSpPr>
        <p:spPr>
          <a:xfrm>
            <a:off x="10870555" y="8046839"/>
            <a:ext cx="6464945" cy="9525"/>
          </a:xfrm>
          <a:prstGeom prst="rect">
            <a:avLst/>
          </a:prstGeom>
          <a:solidFill>
            <a:srgbClr val="232A3A"/>
          </a:solidFill>
          <a:ln/>
        </p:spPr>
      </p:sp>
      <p:sp>
        <p:nvSpPr>
          <p:cNvPr id="76" name="Shape 74"/>
          <p:cNvSpPr/>
          <p:nvPr/>
        </p:nvSpPr>
        <p:spPr>
          <a:xfrm>
            <a:off x="11042005" y="7461052"/>
            <a:ext cx="1560463" cy="247650"/>
          </a:xfrm>
          <a:prstGeom prst="roundRect">
            <a:avLst>
              <a:gd name="adj" fmla="val 11538"/>
            </a:avLst>
          </a:prstGeom>
          <a:solidFill>
            <a:srgbClr val="FF5A4E">
              <a:alpha val="18000"/>
            </a:srgbClr>
          </a:solidFill>
          <a:ln w="9525">
            <a:solidFill>
              <a:srgbClr val="FF5A4E">
                <a:alpha val="55000"/>
              </a:srgbClr>
            </a:solidFill>
            <a:prstDash val="solid"/>
          </a:ln>
        </p:spPr>
      </p:sp>
      <p:sp>
        <p:nvSpPr>
          <p:cNvPr id="77" name="Text 75"/>
          <p:cNvSpPr/>
          <p:nvPr/>
        </p:nvSpPr>
        <p:spPr>
          <a:xfrm>
            <a:off x="11146780" y="7508677"/>
            <a:ext cx="1427113"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FFFFFF"/>
                </a:solidFill>
                <a:latin typeface="Arial" pitchFamily="34" charset="0"/>
                <a:ea typeface="Arial" pitchFamily="34" charset="-122"/>
                <a:cs typeface="Arial" pitchFamily="34" charset="-120"/>
              </a:rPr>
              <a:t>EXPLAIN ANALYZE</a:t>
            </a:r>
            <a:endParaRPr lang="en-US" sz="1050" dirty="0"/>
          </a:p>
        </p:txBody>
      </p:sp>
      <p:sp>
        <p:nvSpPr>
          <p:cNvPr id="78" name="Shape 76"/>
          <p:cNvSpPr/>
          <p:nvPr/>
        </p:nvSpPr>
        <p:spPr>
          <a:xfrm>
            <a:off x="12659618" y="7461052"/>
            <a:ext cx="670471" cy="247650"/>
          </a:xfrm>
          <a:prstGeom prst="roundRect">
            <a:avLst>
              <a:gd name="adj" fmla="val 11538"/>
            </a:avLst>
          </a:prstGeom>
          <a:solidFill>
            <a:srgbClr val="FF5A4E">
              <a:alpha val="18000"/>
            </a:srgbClr>
          </a:solidFill>
          <a:ln w="9525">
            <a:solidFill>
              <a:srgbClr val="FF5A4E">
                <a:alpha val="55000"/>
              </a:srgbClr>
            </a:solidFill>
            <a:prstDash val="solid"/>
          </a:ln>
        </p:spPr>
      </p:sp>
      <p:sp>
        <p:nvSpPr>
          <p:cNvPr id="79" name="Text 77"/>
          <p:cNvSpPr/>
          <p:nvPr/>
        </p:nvSpPr>
        <p:spPr>
          <a:xfrm>
            <a:off x="12764393" y="7508677"/>
            <a:ext cx="537121"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FFFFFF"/>
                </a:solidFill>
                <a:latin typeface="Arial" pitchFamily="34" charset="0"/>
                <a:ea typeface="Arial" pitchFamily="34" charset="-122"/>
                <a:cs typeface="Arial" pitchFamily="34" charset="-120"/>
              </a:rPr>
              <a:t>INDEX</a:t>
            </a:r>
            <a:endParaRPr lang="en-US" sz="1050" dirty="0"/>
          </a:p>
        </p:txBody>
      </p:sp>
      <p:sp>
        <p:nvSpPr>
          <p:cNvPr id="80" name="Shape 78"/>
          <p:cNvSpPr/>
          <p:nvPr/>
        </p:nvSpPr>
        <p:spPr>
          <a:xfrm>
            <a:off x="3295650" y="8827889"/>
            <a:ext cx="7574905" cy="9525"/>
          </a:xfrm>
          <a:prstGeom prst="rect">
            <a:avLst/>
          </a:prstGeom>
          <a:solidFill>
            <a:srgbClr val="232A3A"/>
          </a:solidFill>
          <a:ln/>
        </p:spPr>
      </p:sp>
      <p:sp>
        <p:nvSpPr>
          <p:cNvPr id="81" name="Text 79"/>
          <p:cNvSpPr/>
          <p:nvPr/>
        </p:nvSpPr>
        <p:spPr>
          <a:xfrm>
            <a:off x="3467100" y="8213527"/>
            <a:ext cx="1059210" cy="266700"/>
          </a:xfrm>
          <a:prstGeom prst="rect">
            <a:avLst/>
          </a:prstGeom>
          <a:noFill/>
          <a:ln/>
        </p:spPr>
        <p:txBody>
          <a:bodyPr wrap="square" lIns="0" tIns="0" rIns="0" bIns="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Saved view</a:t>
            </a:r>
            <a:endParaRPr lang="en-US" sz="1575" dirty="0"/>
          </a:p>
        </p:txBody>
      </p:sp>
      <p:sp>
        <p:nvSpPr>
          <p:cNvPr id="82" name="Shape 80"/>
          <p:cNvSpPr/>
          <p:nvPr/>
        </p:nvSpPr>
        <p:spPr>
          <a:xfrm>
            <a:off x="4497139" y="8213527"/>
            <a:ext cx="2718643" cy="257175"/>
          </a:xfrm>
          <a:prstGeom prst="roundRect">
            <a:avLst>
              <a:gd name="adj" fmla="val 14815"/>
            </a:avLst>
          </a:prstGeom>
          <a:solidFill>
            <a:srgbClr val="1C2230"/>
          </a:solidFill>
          <a:ln w="9525">
            <a:solidFill>
              <a:srgbClr val="2C3548"/>
            </a:solidFill>
            <a:prstDash val="solid"/>
          </a:ln>
        </p:spPr>
      </p:sp>
      <p:sp>
        <p:nvSpPr>
          <p:cNvPr id="83" name="Text 81"/>
          <p:cNvSpPr/>
          <p:nvPr/>
        </p:nvSpPr>
        <p:spPr>
          <a:xfrm>
            <a:off x="4582864" y="8242102"/>
            <a:ext cx="2628753" cy="238125"/>
          </a:xfrm>
          <a:prstGeom prst="rect">
            <a:avLst/>
          </a:prstGeom>
          <a:noFill/>
          <a:ln/>
        </p:spPr>
        <p:txBody>
          <a:bodyPr wrap="square" lIns="25400" tIns="25400" rIns="25400" bIns="25400" rtlCol="0" anchor="t">
            <a:normAutofit/>
          </a:bodyPr>
          <a:lstStyle/>
          <a:p>
            <a:pPr algn="l" indent="0" marL="0">
              <a:buNone/>
            </a:pPr>
            <a:r>
              <a:rPr lang="en-US" sz="1449" dirty="0">
                <a:solidFill>
                  <a:srgbClr val="E8ECF4"/>
                </a:solidFill>
                <a:latin typeface="Arial" pitchFamily="34" charset="0"/>
                <a:ea typeface="Arial" pitchFamily="34" charset="-122"/>
                <a:cs typeface="Arial" pitchFamily="34" charset="-120"/>
              </a:rPr>
              <a:t>v_privilege_escalation_timeline</a:t>
            </a:r>
            <a:endParaRPr lang="en-US" sz="1449" dirty="0"/>
          </a:p>
        </p:txBody>
      </p:sp>
      <p:sp>
        <p:nvSpPr>
          <p:cNvPr id="84" name="Text 82"/>
          <p:cNvSpPr/>
          <p:nvPr/>
        </p:nvSpPr>
        <p:spPr>
          <a:xfrm>
            <a:off x="3467100" y="8508802"/>
            <a:ext cx="7448965" cy="209550"/>
          </a:xfrm>
          <a:prstGeom prst="rect">
            <a:avLst/>
          </a:prstGeom>
          <a:noFill/>
          <a:ln/>
        </p:spPr>
        <p:txBody>
          <a:bodyPr wrap="square" lIns="25400" tIns="25400" rIns="25400" bIns="25400" rtlCol="0" anchor="t">
            <a:normAutofit/>
          </a:bodyPr>
          <a:lstStyle/>
          <a:p>
            <a:pPr algn="l" indent="0" marL="0">
              <a:buNone/>
            </a:pPr>
            <a:r>
              <a:rPr lang="en-US" sz="1200" dirty="0">
                <a:solidFill>
                  <a:srgbClr val="7EC1FF"/>
                </a:solidFill>
                <a:latin typeface="Arial" pitchFamily="34" charset="0"/>
                <a:ea typeface="Arial" pitchFamily="34" charset="-122"/>
                <a:cs typeface="Arial" pitchFamily="34" charset="-120"/>
              </a:rPr>
              <a:t>naman_view_privilege_escalation_timeline.sql</a:t>
            </a:r>
            <a:endParaRPr lang="en-US" sz="1200" dirty="0"/>
          </a:p>
        </p:txBody>
      </p:sp>
      <p:sp>
        <p:nvSpPr>
          <p:cNvPr id="85" name="Shape 83"/>
          <p:cNvSpPr/>
          <p:nvPr/>
        </p:nvSpPr>
        <p:spPr>
          <a:xfrm>
            <a:off x="10870555" y="8827889"/>
            <a:ext cx="6464945" cy="9525"/>
          </a:xfrm>
          <a:prstGeom prst="rect">
            <a:avLst/>
          </a:prstGeom>
          <a:solidFill>
            <a:srgbClr val="232A3A"/>
          </a:solidFill>
          <a:ln/>
        </p:spPr>
      </p:sp>
      <p:sp>
        <p:nvSpPr>
          <p:cNvPr id="86" name="Shape 84"/>
          <p:cNvSpPr/>
          <p:nvPr/>
        </p:nvSpPr>
        <p:spPr>
          <a:xfrm>
            <a:off x="11042005" y="8232577"/>
            <a:ext cx="1136303" cy="247650"/>
          </a:xfrm>
          <a:prstGeom prst="roundRect">
            <a:avLst>
              <a:gd name="adj" fmla="val 11538"/>
            </a:avLst>
          </a:prstGeom>
          <a:solidFill>
            <a:srgbClr val="1A2030"/>
          </a:solidFill>
          <a:ln w="9525">
            <a:solidFill>
              <a:srgbClr val="2C3548"/>
            </a:solidFill>
            <a:prstDash val="solid"/>
          </a:ln>
        </p:spPr>
      </p:sp>
      <p:sp>
        <p:nvSpPr>
          <p:cNvPr id="87" name="Text 85"/>
          <p:cNvSpPr/>
          <p:nvPr/>
        </p:nvSpPr>
        <p:spPr>
          <a:xfrm>
            <a:off x="11146780" y="8280202"/>
            <a:ext cx="1002953"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SAVED VIEW</a:t>
            </a:r>
            <a:endParaRPr lang="en-US" sz="1050" dirty="0"/>
          </a:p>
        </p:txBody>
      </p:sp>
      <p:sp>
        <p:nvSpPr>
          <p:cNvPr id="88" name="Shape 86"/>
          <p:cNvSpPr/>
          <p:nvPr/>
        </p:nvSpPr>
        <p:spPr>
          <a:xfrm>
            <a:off x="12235458" y="8232577"/>
            <a:ext cx="772418" cy="247650"/>
          </a:xfrm>
          <a:prstGeom prst="roundRect">
            <a:avLst>
              <a:gd name="adj" fmla="val 11538"/>
            </a:avLst>
          </a:prstGeom>
          <a:solidFill>
            <a:srgbClr val="1A2030"/>
          </a:solidFill>
          <a:ln w="9525">
            <a:solidFill>
              <a:srgbClr val="2C3548"/>
            </a:solidFill>
            <a:prstDash val="solid"/>
          </a:ln>
        </p:spPr>
      </p:sp>
      <p:sp>
        <p:nvSpPr>
          <p:cNvPr id="89" name="Text 87"/>
          <p:cNvSpPr/>
          <p:nvPr/>
        </p:nvSpPr>
        <p:spPr>
          <a:xfrm>
            <a:off x="12340233" y="8280202"/>
            <a:ext cx="639068"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JOIN ≥8</a:t>
            </a:r>
            <a:endParaRPr lang="en-US" sz="1050" dirty="0"/>
          </a:p>
        </p:txBody>
      </p:sp>
      <p:sp>
        <p:nvSpPr>
          <p:cNvPr id="90" name="Shape 88"/>
          <p:cNvSpPr/>
          <p:nvPr/>
        </p:nvSpPr>
        <p:spPr>
          <a:xfrm>
            <a:off x="3295650" y="9427964"/>
            <a:ext cx="7574905" cy="9525"/>
          </a:xfrm>
          <a:prstGeom prst="rect">
            <a:avLst/>
          </a:prstGeom>
          <a:solidFill>
            <a:srgbClr val="232A3A"/>
          </a:solidFill>
          <a:ln/>
        </p:spPr>
      </p:sp>
      <p:sp>
        <p:nvSpPr>
          <p:cNvPr id="91" name="Text 89"/>
          <p:cNvSpPr/>
          <p:nvPr/>
        </p:nvSpPr>
        <p:spPr>
          <a:xfrm>
            <a:off x="3467100" y="8989814"/>
            <a:ext cx="7459252" cy="323850"/>
          </a:xfrm>
          <a:prstGeom prst="rect">
            <a:avLst/>
          </a:prstGeom>
          <a:noFill/>
          <a:ln/>
        </p:spPr>
        <p:txBody>
          <a:bodyPr wrap="square" lIns="25400" tIns="25400" rIns="25400" bIns="25400" rtlCol="0" anchor="t">
            <a:normAutofit/>
          </a:bodyPr>
          <a:lstStyle/>
          <a:p>
            <a:pPr algn="l" indent="0" marL="0">
              <a:buNone/>
            </a:pPr>
            <a:r>
              <a:rPr lang="en-US" sz="1575" dirty="0">
                <a:solidFill>
                  <a:srgbClr val="E8ECF4"/>
                </a:solidFill>
                <a:latin typeface="-apple-system" pitchFamily="34" charset="0"/>
                <a:ea typeface="-apple-system" pitchFamily="34" charset="-122"/>
                <a:cs typeface="-apple-system" pitchFamily="34" charset="-120"/>
              </a:rPr>
              <a:t>Audit-type density per phase, service baselines</a:t>
            </a:r>
            <a:endParaRPr lang="en-US" sz="1575" dirty="0"/>
          </a:p>
        </p:txBody>
      </p:sp>
      <p:sp>
        <p:nvSpPr>
          <p:cNvPr id="92" name="Shape 90"/>
          <p:cNvSpPr/>
          <p:nvPr/>
        </p:nvSpPr>
        <p:spPr>
          <a:xfrm>
            <a:off x="10870555" y="9427964"/>
            <a:ext cx="6464945" cy="9525"/>
          </a:xfrm>
          <a:prstGeom prst="rect">
            <a:avLst/>
          </a:prstGeom>
          <a:solidFill>
            <a:srgbClr val="232A3A"/>
          </a:solidFill>
          <a:ln/>
        </p:spPr>
      </p:sp>
      <p:sp>
        <p:nvSpPr>
          <p:cNvPr id="93" name="Shape 91"/>
          <p:cNvSpPr/>
          <p:nvPr/>
        </p:nvSpPr>
        <p:spPr>
          <a:xfrm>
            <a:off x="11042005" y="9013627"/>
            <a:ext cx="1220391" cy="247650"/>
          </a:xfrm>
          <a:prstGeom prst="roundRect">
            <a:avLst>
              <a:gd name="adj" fmla="val 11538"/>
            </a:avLst>
          </a:prstGeom>
          <a:solidFill>
            <a:srgbClr val="1A2030"/>
          </a:solidFill>
          <a:ln w="9525">
            <a:solidFill>
              <a:srgbClr val="2C3548"/>
            </a:solidFill>
            <a:prstDash val="solid"/>
          </a:ln>
        </p:spPr>
      </p:sp>
      <p:sp>
        <p:nvSpPr>
          <p:cNvPr id="94" name="Text 92"/>
          <p:cNvSpPr/>
          <p:nvPr/>
        </p:nvSpPr>
        <p:spPr>
          <a:xfrm>
            <a:off x="11146780" y="9061252"/>
            <a:ext cx="1087041"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DENSE_RANK</a:t>
            </a:r>
            <a:endParaRPr lang="en-US" sz="1050" dirty="0"/>
          </a:p>
        </p:txBody>
      </p:sp>
      <p:sp>
        <p:nvSpPr>
          <p:cNvPr id="95" name="Shape 93"/>
          <p:cNvSpPr/>
          <p:nvPr/>
        </p:nvSpPr>
        <p:spPr>
          <a:xfrm>
            <a:off x="12319546" y="9013627"/>
            <a:ext cx="858738" cy="247650"/>
          </a:xfrm>
          <a:prstGeom prst="roundRect">
            <a:avLst>
              <a:gd name="adj" fmla="val 11538"/>
            </a:avLst>
          </a:prstGeom>
          <a:solidFill>
            <a:srgbClr val="1A2030"/>
          </a:solidFill>
          <a:ln w="9525">
            <a:solidFill>
              <a:srgbClr val="2C3548"/>
            </a:solidFill>
            <a:prstDash val="solid"/>
          </a:ln>
        </p:spPr>
      </p:sp>
      <p:sp>
        <p:nvSpPr>
          <p:cNvPr id="96" name="Text 94"/>
          <p:cNvSpPr/>
          <p:nvPr/>
        </p:nvSpPr>
        <p:spPr>
          <a:xfrm>
            <a:off x="12424321" y="9061252"/>
            <a:ext cx="725388"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WINDOW</a:t>
            </a:r>
            <a:endParaRPr lang="en-US" sz="1050" dirty="0"/>
          </a:p>
        </p:txBody>
      </p:sp>
      <p:sp>
        <p:nvSpPr>
          <p:cNvPr id="97" name="Shape 95"/>
          <p:cNvSpPr/>
          <p:nvPr/>
        </p:nvSpPr>
        <p:spPr>
          <a:xfrm>
            <a:off x="13235434" y="9013627"/>
            <a:ext cx="663178" cy="247650"/>
          </a:xfrm>
          <a:prstGeom prst="roundRect">
            <a:avLst>
              <a:gd name="adj" fmla="val 11538"/>
            </a:avLst>
          </a:prstGeom>
          <a:solidFill>
            <a:srgbClr val="1A2030"/>
          </a:solidFill>
          <a:ln w="9525">
            <a:solidFill>
              <a:srgbClr val="2C3548"/>
            </a:solidFill>
            <a:prstDash val="solid"/>
          </a:ln>
        </p:spPr>
      </p:sp>
      <p:sp>
        <p:nvSpPr>
          <p:cNvPr id="98" name="Text 96"/>
          <p:cNvSpPr/>
          <p:nvPr/>
        </p:nvSpPr>
        <p:spPr>
          <a:xfrm>
            <a:off x="13340209" y="9061252"/>
            <a:ext cx="529828" cy="190500"/>
          </a:xfrm>
          <a:prstGeom prst="rect">
            <a:avLst/>
          </a:prstGeom>
          <a:noFill/>
          <a:ln/>
        </p:spPr>
        <p:txBody>
          <a:bodyPr wrap="square" lIns="25400" tIns="25400" rIns="25400" bIns="25400" rtlCol="0" anchor="t">
            <a:normAutofit/>
          </a:bodyPr>
          <a:lstStyle/>
          <a:p>
            <a:pPr algn="l" indent="0" marL="0">
              <a:buNone/>
            </a:pPr>
            <a:r>
              <a:rPr lang="en-US" sz="1050" spc="84" kern="0" dirty="0">
                <a:solidFill>
                  <a:srgbClr val="C3CAD8"/>
                </a:solidFill>
                <a:latin typeface="Arial" pitchFamily="34" charset="0"/>
                <a:ea typeface="Arial" pitchFamily="34" charset="-122"/>
                <a:cs typeface="Arial" pitchFamily="34" charset="-120"/>
              </a:rPr>
              <a:t>BASIC</a:t>
            </a:r>
            <a:endParaRPr lang="en-US" sz="1050" dirty="0"/>
          </a:p>
        </p:txBody>
      </p:sp>
      <p:sp>
        <p:nvSpPr>
          <p:cNvPr id="99" name="Shape 97"/>
          <p:cNvSpPr/>
          <p:nvPr/>
        </p:nvSpPr>
        <p:spPr>
          <a:xfrm>
            <a:off x="952500" y="9648825"/>
            <a:ext cx="16383000" cy="9525"/>
          </a:xfrm>
          <a:prstGeom prst="rect">
            <a:avLst/>
          </a:prstGeom>
          <a:solidFill>
            <a:srgbClr val="232A3A"/>
          </a:solidFill>
          <a:ln/>
        </p:spPr>
      </p:sp>
      <p:sp>
        <p:nvSpPr>
          <p:cNvPr id="100" name="Text 98"/>
          <p:cNvSpPr/>
          <p:nvPr/>
        </p:nvSpPr>
        <p:spPr>
          <a:xfrm>
            <a:off x="952500" y="9810750"/>
            <a:ext cx="5654671"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05 / 11 · RIVER · 0:50 · </a:t>
            </a:r>
            <a:pPr algn="l" indent="0" marL="0">
              <a:buNone/>
            </a:pPr>
            <a:r>
              <a:rPr lang="en-US" sz="1200" spc="168" kern="0" dirty="0">
                <a:solidFill>
                  <a:srgbClr val="FF5A4E"/>
                </a:solidFill>
                <a:latin typeface="Arial" pitchFamily="34" charset="0"/>
                <a:ea typeface="Arial" pitchFamily="34" charset="-122"/>
                <a:cs typeface="Arial" pitchFamily="34" charset="-120"/>
              </a:rPr>
              <a:t>● </a:t>
            </a:r>
            <a:pPr algn="l" indent="0" marL="0">
              <a:buNone/>
            </a:pPr>
            <a:r>
              <a:rPr lang="en-US" sz="1200" spc="168" kern="0" dirty="0">
                <a:solidFill>
                  <a:srgbClr val="8A93A6"/>
                </a:solidFill>
                <a:latin typeface="Arial" pitchFamily="34" charset="0"/>
                <a:ea typeface="Arial" pitchFamily="34" charset="-122"/>
                <a:cs typeface="Arial" pitchFamily="34" charset="-120"/>
              </a:rPr>
              <a:t>SPOTLIGHT ON SLIDES 6 TO 9</a:t>
            </a:r>
            <a:endParaRPr lang="en-US" sz="1200" dirty="0"/>
          </a:p>
        </p:txBody>
      </p:sp>
      <p:sp>
        <p:nvSpPr>
          <p:cNvPr id="101" name="Text 99"/>
          <p:cNvSpPr/>
          <p:nvPr/>
        </p:nvSpPr>
        <p:spPr>
          <a:xfrm>
            <a:off x="11083677" y="9810750"/>
            <a:ext cx="6439378"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23 QUERY ITEMS · 7 BASIC + 16 ADVANCED · 6 SQL CATEGORIES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4508193"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DEEP DIVE 01 </a:t>
            </a:r>
            <a:pPr algn="l" indent="0" marL="0">
              <a:buNone/>
            </a:pPr>
            <a:r>
              <a:rPr lang="en-US" sz="1350" spc="243" kern="0" dirty="0">
                <a:solidFill>
                  <a:srgbClr val="C3CAD8"/>
                </a:solidFill>
                <a:latin typeface="Arial" pitchFamily="34" charset="0"/>
                <a:ea typeface="Arial" pitchFamily="34" charset="-122"/>
                <a:cs typeface="Arial" pitchFamily="34" charset="-120"/>
              </a:rPr>
              <a:t>/ CTE + NTILE WINDOW</a:t>
            </a:r>
            <a:endParaRPr lang="en-US" sz="1350" dirty="0"/>
          </a:p>
        </p:txBody>
      </p:sp>
      <p:sp>
        <p:nvSpPr>
          <p:cNvPr id="4" name="Text 2"/>
          <p:cNvSpPr/>
          <p:nvPr/>
        </p:nvSpPr>
        <p:spPr>
          <a:xfrm>
            <a:off x="11251704" y="628650"/>
            <a:ext cx="6266310"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RIVER · </a:t>
            </a:r>
            <a:pPr algn="l" indent="0" marL="0">
              <a:buNone/>
            </a:pPr>
            <a:r>
              <a:rPr lang="en-US" sz="1242" spc="243" kern="0" dirty="0">
                <a:solidFill>
                  <a:srgbClr val="E8ECF4"/>
                </a:solidFill>
                <a:latin typeface="Arial" pitchFamily="34" charset="0"/>
                <a:ea typeface="Arial" pitchFamily="34" charset="-122"/>
                <a:cs typeface="Arial" pitchFamily="34" charset="-120"/>
              </a:rPr>
              <a:t>RIVER_FOOTHOLD_TO_ESCALATE_JOURNEY.SQL</a:t>
            </a:r>
            <a:endParaRPr lang="en-US" sz="1350" dirty="0"/>
          </a:p>
        </p:txBody>
      </p:sp>
      <p:sp>
        <p:nvSpPr>
          <p:cNvPr id="5" name="Text 3"/>
          <p:cNvSpPr/>
          <p:nvPr/>
        </p:nvSpPr>
        <p:spPr>
          <a:xfrm>
            <a:off x="952500" y="1600200"/>
            <a:ext cx="16874490" cy="1359098"/>
          </a:xfrm>
          <a:prstGeom prst="rect">
            <a:avLst/>
          </a:prstGeom>
          <a:noFill/>
          <a:ln/>
        </p:spPr>
        <p:txBody>
          <a:bodyPr wrap="square" lIns="25400" tIns="25400" rIns="25400" bIns="25400" rtlCol="0" anchor="t">
            <a:normAutofit/>
          </a:bodyPr>
          <a:lstStyle/>
          <a:p>
            <a:pPr algn="l" indent="0" marL="0">
              <a:lnSpc>
                <a:spcPct val="108000"/>
              </a:lnSpc>
              <a:buNone/>
            </a:pPr>
            <a:r>
              <a:rPr lang="en-US" sz="4800" spc="-58" kern="0" dirty="0">
                <a:solidFill>
                  <a:srgbClr val="E8ECF4"/>
                </a:solidFill>
                <a:latin typeface="Arial" pitchFamily="34" charset="0"/>
                <a:ea typeface="Arial" pitchFamily="34" charset="-122"/>
                <a:cs typeface="Arial" pitchFamily="34" charset="-120"/>
              </a:rPr>
              <a:t>Where in </a:t>
            </a:r>
            <a:pPr algn="l" indent="0" marL="0">
              <a:lnSpc>
                <a:spcPct val="108000"/>
              </a:lnSpc>
              <a:buNone/>
            </a:pPr>
            <a:r>
              <a:rPr lang="en-US" sz="4416" spc="-58" kern="0" dirty="0">
                <a:solidFill>
                  <a:srgbClr val="E8ECF4"/>
                </a:solidFill>
                <a:highlight>
                  <a:srgbClr val="1C2230"/>
                </a:highlight>
                <a:latin typeface="Arial" pitchFamily="34" charset="0"/>
                <a:ea typeface="Arial" pitchFamily="34" charset="-122"/>
                <a:cs typeface="Arial" pitchFamily="34" charset="-120"/>
              </a:rPr>
              <a:t>access.log.2 </a:t>
            </a:r>
            <a:pPr algn="l" indent="0" marL="0">
              <a:lnSpc>
                <a:spcPct val="108000"/>
              </a:lnSpc>
              <a:buNone/>
            </a:pPr>
            <a:r>
              <a:rPr lang="en-US" sz="4800" spc="-58" kern="0" dirty="0">
                <a:solidFill>
                  <a:srgbClr val="E8ECF4"/>
                </a:solidFill>
                <a:latin typeface="Arial" pitchFamily="34" charset="0"/>
                <a:ea typeface="Arial" pitchFamily="34" charset="-122"/>
                <a:cs typeface="Arial" pitchFamily="34" charset="-120"/>
              </a:rPr>
              <a:t>does the foothold turn into escalation evidence?</a:t>
            </a:r>
            <a:endParaRPr lang="en-US" sz="4800" dirty="0"/>
          </a:p>
        </p:txBody>
      </p:sp>
      <p:sp>
        <p:nvSpPr>
          <p:cNvPr id="6" name="Shape 4"/>
          <p:cNvSpPr/>
          <p:nvPr/>
        </p:nvSpPr>
        <p:spPr>
          <a:xfrm>
            <a:off x="952500" y="3264098"/>
            <a:ext cx="6703665" cy="4992439"/>
          </a:xfrm>
          <a:prstGeom prst="roundRect">
            <a:avLst>
              <a:gd name="adj" fmla="val 1145"/>
            </a:avLst>
          </a:prstGeom>
          <a:solidFill>
            <a:srgbClr val="1C2230"/>
          </a:solidFill>
          <a:ln w="9525">
            <a:solidFill>
              <a:srgbClr val="2C3548"/>
            </a:solidFill>
            <a:prstDash val="solid"/>
          </a:ln>
        </p:spPr>
      </p:sp>
      <p:sp>
        <p:nvSpPr>
          <p:cNvPr id="7" name="Text 5"/>
          <p:cNvSpPr/>
          <p:nvPr/>
        </p:nvSpPr>
        <p:spPr>
          <a:xfrm>
            <a:off x="1228725" y="3502223"/>
            <a:ext cx="6352325" cy="4554289"/>
          </a:xfrm>
          <a:prstGeom prst="rect">
            <a:avLst/>
          </a:prstGeom>
          <a:noFill/>
          <a:ln/>
        </p:spPr>
        <p:txBody>
          <a:bodyPr wrap="square" lIns="25400" tIns="25400" rIns="25400" bIns="25400" rtlCol="0" anchor="t">
            <a:normAutofit/>
          </a:bodyPr>
          <a:lstStyle/>
          <a:p>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WITH</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E8ECF4"/>
                </a:solidFill>
                <a:latin typeface="Arial" pitchFamily="34" charset="0"/>
                <a:ea typeface="Arial" pitchFamily="34" charset="-122"/>
                <a:cs typeface="Arial" pitchFamily="34" charset="-120"/>
              </a:rPr>
              <a:t>access_labels</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AS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SELECT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ll.line_number,</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al.label_name,</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ap.phase_name,</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7EC1FF"/>
                </a:solidFill>
                <a:latin typeface="Arial" pitchFamily="34" charset="0"/>
                <a:ea typeface="Arial" pitchFamily="34" charset="-122"/>
                <a:cs typeface="Arial" pitchFamily="34" charset="-120"/>
              </a:rPr>
              <a:t>NTILE</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a:t>
            </a:r>
            <a:pPr algn="l" indent="0" marL="0">
              <a:lnSpc>
                <a:spcPct val="155000"/>
              </a:lnSpc>
              <a:buNone/>
            </a:pPr>
            <a:r>
              <a:rPr lang="en-US" sz="1350" dirty="0">
                <a:solidFill>
                  <a:srgbClr val="F7C97A"/>
                </a:solidFill>
                <a:latin typeface="Arial" pitchFamily="34" charset="0"/>
                <a:ea typeface="Arial" pitchFamily="34" charset="-122"/>
                <a:cs typeface="Arial" pitchFamily="34" charset="-120"/>
              </a:rPr>
              <a:t>3</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OVER</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ORDER BY</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ll.line_number)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AS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journey_third</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FROM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labeled_line ll</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JOIN</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labeled_line_label lll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ON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lll.labeled_line_id = ll.labeled_line_id</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JOIN</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attack_label al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ON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al.label_id = lll.label_id</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JOIN</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attack_phase ap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ON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ap.phase_id = al.phase_id</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WHERE</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ll.source_host = </a:t>
            </a:r>
            <a:pPr algn="l" indent="0" marL="0">
              <a:lnSpc>
                <a:spcPct val="155000"/>
              </a:lnSpc>
              <a:buNone/>
            </a:pPr>
            <a:r>
              <a:rPr lang="en-US" sz="1350" dirty="0">
                <a:solidFill>
                  <a:srgbClr val="7DDCA0"/>
                </a:solidFill>
                <a:latin typeface="Arial" pitchFamily="34" charset="0"/>
                <a:ea typeface="Arial" pitchFamily="34" charset="-122"/>
                <a:cs typeface="Arial" pitchFamily="34" charset="-120"/>
              </a:rPr>
              <a:t>'intranet_server'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AND</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ll.source_log  = </a:t>
            </a:r>
            <a:pPr algn="l" indent="0" marL="0">
              <a:lnSpc>
                <a:spcPct val="155000"/>
              </a:lnSpc>
              <a:buNone/>
            </a:pPr>
            <a:r>
              <a:rPr lang="en-US" sz="1350" dirty="0">
                <a:solidFill>
                  <a:srgbClr val="7DDCA0"/>
                </a:solidFill>
                <a:latin typeface="Arial" pitchFamily="34" charset="0"/>
                <a:ea typeface="Arial" pitchFamily="34" charset="-122"/>
                <a:cs typeface="Arial" pitchFamily="34" charset="-120"/>
              </a:rPr>
              <a:t>'access.log.2'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AND</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ap.phase_name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IN</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7DDCA0"/>
                </a:solidFill>
                <a:latin typeface="Arial" pitchFamily="34" charset="0"/>
                <a:ea typeface="Arial" pitchFamily="34" charset="-122"/>
                <a:cs typeface="Arial" pitchFamily="34" charset="-120"/>
              </a:rPr>
              <a:t>'initial_access'</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7DDCA0"/>
                </a:solidFill>
                <a:latin typeface="Arial" pitchFamily="34" charset="0"/>
                <a:ea typeface="Arial" pitchFamily="34" charset="-122"/>
                <a:cs typeface="Arial" pitchFamily="34" charset="-120"/>
              </a:rPr>
              <a:t>'privilege_escalation' </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a:t>
            </a:r>
            <a:endParaRPr lang="en-US" sz="1350" dirty="0"/>
          </a:p>
          <a:p>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endParaRPr lang="en-US" sz="1350" dirty="0"/>
          </a:p>
          <a:p>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SELECT</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journey_third, phase_name, </a:t>
            </a:r>
            <a:pPr algn="l" indent="0" marL="0">
              <a:lnSpc>
                <a:spcPct val="155000"/>
              </a:lnSpc>
              <a:buNone/>
            </a:pPr>
            <a:r>
              <a:rPr lang="en-US" sz="1350" dirty="0">
                <a:solidFill>
                  <a:srgbClr val="7EC1FF"/>
                </a:solidFill>
                <a:latin typeface="Arial" pitchFamily="34" charset="0"/>
                <a:ea typeface="Arial" pitchFamily="34" charset="-122"/>
                <a:cs typeface="Arial" pitchFamily="34" charset="-120"/>
              </a:rPr>
              <a:t>COUNT</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AS</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labeled_lines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FROM</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access_labels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GROUP BY</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journey_third, phase_name </a:t>
            </a:r>
            <a:pPr algn="l" indent="0" marL="0">
              <a:lnSpc>
                <a:spcPct val="155000"/>
              </a:lnSpc>
              <a:buNone/>
            </a:pPr>
            <a:r>
              <a:rPr lang="en-US" sz="1350" dirty="0">
                <a:solidFill>
                  <a:srgbClr val="FF8FB3"/>
                </a:solidFill>
                <a:latin typeface="Arial" pitchFamily="34" charset="0"/>
                <a:ea typeface="Arial" pitchFamily="34" charset="-122"/>
                <a:cs typeface="Arial" pitchFamily="34" charset="-120"/>
              </a:rPr>
              <a:t>ORDER BY</a:t>
            </a:r>
            <a:pPr algn="l" indent="0" marL="0">
              <a:lnSpc>
                <a:spcPct val="155000"/>
              </a:lnSpc>
              <a:buNone/>
            </a:pPr>
            <a:r>
              <a:rPr lang="en-US" sz="1350" dirty="0">
                <a:solidFill>
                  <a:srgbClr val="E8ECF4"/>
                </a:solidFill>
                <a:highlight>
                  <a:srgbClr val="1C2230"/>
                </a:highlight>
                <a:latin typeface="Arial" pitchFamily="34" charset="0"/>
                <a:ea typeface="Arial" pitchFamily="34" charset="-122"/>
                <a:cs typeface="Arial" pitchFamily="34" charset="-120"/>
              </a:rPr>
              <a:t> journey_third, phase_name;</a:t>
            </a:r>
            <a:endParaRPr lang="en-US" sz="1350" dirty="0"/>
          </a:p>
        </p:txBody>
      </p:sp>
      <p:sp>
        <p:nvSpPr>
          <p:cNvPr id="8" name="Shape 6"/>
          <p:cNvSpPr/>
          <p:nvPr/>
        </p:nvSpPr>
        <p:spPr>
          <a:xfrm>
            <a:off x="952500" y="8561338"/>
            <a:ext cx="2120205" cy="9525"/>
          </a:xfrm>
          <a:prstGeom prst="rect">
            <a:avLst/>
          </a:prstGeom>
          <a:solidFill>
            <a:srgbClr val="2C3548"/>
          </a:solidFill>
          <a:ln/>
        </p:spPr>
      </p:sp>
      <p:sp>
        <p:nvSpPr>
          <p:cNvPr id="9" name="Text 7"/>
          <p:cNvSpPr/>
          <p:nvPr/>
        </p:nvSpPr>
        <p:spPr>
          <a:xfrm>
            <a:off x="952500" y="8704213"/>
            <a:ext cx="2196405"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METHOD</a:t>
            </a:r>
            <a:endParaRPr lang="en-US" sz="975" dirty="0"/>
          </a:p>
        </p:txBody>
      </p:sp>
      <p:sp>
        <p:nvSpPr>
          <p:cNvPr id="10" name="Text 8"/>
          <p:cNvSpPr/>
          <p:nvPr/>
        </p:nvSpPr>
        <p:spPr>
          <a:xfrm>
            <a:off x="952500" y="8923288"/>
            <a:ext cx="2196405"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dirty="0">
                <a:solidFill>
                  <a:srgbClr val="E8ECF4"/>
                </a:solidFill>
                <a:latin typeface="Arial" pitchFamily="34" charset="0"/>
                <a:ea typeface="Arial" pitchFamily="34" charset="-122"/>
                <a:cs typeface="Arial" pitchFamily="34" charset="-120"/>
              </a:rPr>
              <a:t>NTILE(3)</a:t>
            </a:r>
            <a:endParaRPr lang="en-US" sz="1800" dirty="0"/>
          </a:p>
        </p:txBody>
      </p:sp>
      <p:sp>
        <p:nvSpPr>
          <p:cNvPr id="11" name="Shape 9"/>
          <p:cNvSpPr/>
          <p:nvPr/>
        </p:nvSpPr>
        <p:spPr>
          <a:xfrm>
            <a:off x="3244155" y="8561338"/>
            <a:ext cx="2120205" cy="9525"/>
          </a:xfrm>
          <a:prstGeom prst="rect">
            <a:avLst/>
          </a:prstGeom>
          <a:solidFill>
            <a:srgbClr val="2C3548"/>
          </a:solidFill>
          <a:ln/>
        </p:spPr>
      </p:sp>
      <p:sp>
        <p:nvSpPr>
          <p:cNvPr id="12" name="Text 10"/>
          <p:cNvSpPr/>
          <p:nvPr/>
        </p:nvSpPr>
        <p:spPr>
          <a:xfrm>
            <a:off x="3244155" y="8704213"/>
            <a:ext cx="2196405"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SCOPE</a:t>
            </a:r>
            <a:endParaRPr lang="en-US" sz="975" dirty="0"/>
          </a:p>
        </p:txBody>
      </p:sp>
      <p:sp>
        <p:nvSpPr>
          <p:cNvPr id="13" name="Text 11"/>
          <p:cNvSpPr/>
          <p:nvPr/>
        </p:nvSpPr>
        <p:spPr>
          <a:xfrm>
            <a:off x="3244155" y="8923288"/>
            <a:ext cx="2196405"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dirty="0">
                <a:solidFill>
                  <a:srgbClr val="E8ECF4"/>
                </a:solidFill>
                <a:latin typeface="Arial" pitchFamily="34" charset="0"/>
                <a:ea typeface="Arial" pitchFamily="34" charset="-122"/>
                <a:cs typeface="Arial" pitchFamily="34" charset="-120"/>
              </a:rPr>
              <a:t>2 phases</a:t>
            </a:r>
            <a:endParaRPr lang="en-US" sz="1800" dirty="0"/>
          </a:p>
        </p:txBody>
      </p:sp>
      <p:sp>
        <p:nvSpPr>
          <p:cNvPr id="14" name="Shape 12"/>
          <p:cNvSpPr/>
          <p:nvPr/>
        </p:nvSpPr>
        <p:spPr>
          <a:xfrm>
            <a:off x="5535811" y="8561338"/>
            <a:ext cx="2120205" cy="9525"/>
          </a:xfrm>
          <a:prstGeom prst="rect">
            <a:avLst/>
          </a:prstGeom>
          <a:solidFill>
            <a:srgbClr val="2C3548"/>
          </a:solidFill>
          <a:ln/>
        </p:spPr>
      </p:sp>
      <p:sp>
        <p:nvSpPr>
          <p:cNvPr id="15" name="Text 13"/>
          <p:cNvSpPr/>
          <p:nvPr/>
        </p:nvSpPr>
        <p:spPr>
          <a:xfrm>
            <a:off x="5535811" y="8704213"/>
            <a:ext cx="2196405"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SOURCE</a:t>
            </a:r>
            <a:endParaRPr lang="en-US" sz="975" dirty="0"/>
          </a:p>
        </p:txBody>
      </p:sp>
      <p:sp>
        <p:nvSpPr>
          <p:cNvPr id="16" name="Text 14"/>
          <p:cNvSpPr/>
          <p:nvPr/>
        </p:nvSpPr>
        <p:spPr>
          <a:xfrm>
            <a:off x="5535811" y="8923288"/>
            <a:ext cx="2196405"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dirty="0">
                <a:solidFill>
                  <a:srgbClr val="E8ECF4"/>
                </a:solidFill>
                <a:latin typeface="Arial" pitchFamily="34" charset="0"/>
                <a:ea typeface="Arial" pitchFamily="34" charset="-122"/>
                <a:cs typeface="Arial" pitchFamily="34" charset="-120"/>
              </a:rPr>
              <a:t>access.log.2</a:t>
            </a:r>
            <a:endParaRPr lang="en-US" sz="1800" dirty="0"/>
          </a:p>
        </p:txBody>
      </p:sp>
      <p:sp>
        <p:nvSpPr>
          <p:cNvPr id="17" name="Shape 15"/>
          <p:cNvSpPr/>
          <p:nvPr/>
        </p:nvSpPr>
        <p:spPr>
          <a:xfrm>
            <a:off x="8265765" y="3264098"/>
            <a:ext cx="9069735" cy="4829175"/>
          </a:xfrm>
          <a:prstGeom prst="roundRect">
            <a:avLst>
              <a:gd name="adj" fmla="val 1183"/>
            </a:avLst>
          </a:prstGeom>
          <a:solidFill>
            <a:srgbClr val="141923"/>
          </a:solidFill>
          <a:ln w="9525">
            <a:solidFill>
              <a:srgbClr val="232A3A"/>
            </a:solidFill>
            <a:prstDash val="solid"/>
          </a:ln>
        </p:spPr>
      </p:sp>
      <p:sp>
        <p:nvSpPr>
          <p:cNvPr id="18" name="Shape 16"/>
          <p:cNvSpPr/>
          <p:nvPr/>
        </p:nvSpPr>
        <p:spPr>
          <a:xfrm>
            <a:off x="8275290" y="3273623"/>
            <a:ext cx="9050685" cy="4381500"/>
          </a:xfrm>
          <a:prstGeom prst="rect">
            <a:avLst/>
          </a:prstGeom>
          <a:solidFill>
            <a:srgbClr val="000000"/>
          </a:solidFill>
          <a:ln/>
        </p:spPr>
      </p:sp>
      <p:pic>
        <p:nvPicPr>
          <p:cNvPr id="19" name="Image 0" descr="preencoded.png">    </p:cNvPr>
          <p:cNvPicPr>
            <a:picLocks noChangeAspect="1"/>
          </p:cNvPicPr>
          <p:nvPr/>
        </p:nvPicPr>
        <p:blipFill>
          <a:blip r:embed="rId1"/>
          <a:srcRect l="0" r="0" t="0" b="0"/>
          <a:stretch/>
        </p:blipFill>
        <p:spPr>
          <a:xfrm>
            <a:off x="8275290" y="3273623"/>
            <a:ext cx="9050685" cy="4381500"/>
          </a:xfrm>
          <a:prstGeom prst="rect">
            <a:avLst/>
          </a:prstGeom>
        </p:spPr>
      </p:pic>
      <p:sp>
        <p:nvSpPr>
          <p:cNvPr id="20" name="Shape 17"/>
          <p:cNvSpPr/>
          <p:nvPr/>
        </p:nvSpPr>
        <p:spPr>
          <a:xfrm>
            <a:off x="8275290" y="7655123"/>
            <a:ext cx="9050685" cy="428625"/>
          </a:xfrm>
          <a:prstGeom prst="rect">
            <a:avLst/>
          </a:prstGeom>
          <a:solidFill>
            <a:srgbClr val="0F131A"/>
          </a:solidFill>
          <a:ln/>
        </p:spPr>
      </p:sp>
      <p:sp>
        <p:nvSpPr>
          <p:cNvPr id="21" name="Shape 18"/>
          <p:cNvSpPr/>
          <p:nvPr/>
        </p:nvSpPr>
        <p:spPr>
          <a:xfrm>
            <a:off x="8275290" y="7655123"/>
            <a:ext cx="9050685" cy="9525"/>
          </a:xfrm>
          <a:prstGeom prst="rect">
            <a:avLst/>
          </a:prstGeom>
          <a:solidFill>
            <a:srgbClr val="232A3A"/>
          </a:solidFill>
          <a:ln/>
        </p:spPr>
      </p:sp>
      <p:sp>
        <p:nvSpPr>
          <p:cNvPr id="22" name="Text 19"/>
          <p:cNvSpPr/>
          <p:nvPr/>
        </p:nvSpPr>
        <p:spPr>
          <a:xfrm>
            <a:off x="8446740" y="7797998"/>
            <a:ext cx="8979305" cy="1905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8A93A6"/>
                </a:solidFill>
                <a:latin typeface="Arial" pitchFamily="34" charset="0"/>
                <a:ea typeface="Arial" pitchFamily="34" charset="-122"/>
                <a:cs typeface="Arial" pitchFamily="34" charset="-120"/>
              </a:rPr>
              <a:t>PANEL 1 · NTILE BUCKETS · LABELED LINES PER THIRD</a:t>
            </a:r>
            <a:endParaRPr lang="en-US" sz="1050" dirty="0"/>
          </a:p>
        </p:txBody>
      </p:sp>
      <p:sp>
        <p:nvSpPr>
          <p:cNvPr id="23" name="Shape 20"/>
          <p:cNvSpPr/>
          <p:nvPr/>
        </p:nvSpPr>
        <p:spPr>
          <a:xfrm>
            <a:off x="8265765" y="8264723"/>
            <a:ext cx="9069735" cy="1337221"/>
          </a:xfrm>
          <a:prstGeom prst="rect">
            <a:avLst/>
          </a:prstGeom>
          <a:solidFill>
            <a:srgbClr val="FF5A4E">
              <a:alpha val="6000"/>
            </a:srgbClr>
          </a:solidFill>
          <a:ln/>
        </p:spPr>
      </p:sp>
      <p:sp>
        <p:nvSpPr>
          <p:cNvPr id="24" name="Shape 21"/>
          <p:cNvSpPr/>
          <p:nvPr/>
        </p:nvSpPr>
        <p:spPr>
          <a:xfrm>
            <a:off x="8265765" y="8264723"/>
            <a:ext cx="28575" cy="1337221"/>
          </a:xfrm>
          <a:prstGeom prst="rect">
            <a:avLst/>
          </a:prstGeom>
          <a:solidFill>
            <a:srgbClr val="FF5A4E"/>
          </a:solidFill>
          <a:ln/>
        </p:spPr>
      </p:sp>
      <p:sp>
        <p:nvSpPr>
          <p:cNvPr id="25" name="Text 22"/>
          <p:cNvSpPr/>
          <p:nvPr/>
        </p:nvSpPr>
        <p:spPr>
          <a:xfrm>
            <a:off x="8522940" y="8436173"/>
            <a:ext cx="8856052" cy="1032421"/>
          </a:xfrm>
          <a:prstGeom prst="rect">
            <a:avLst/>
          </a:prstGeom>
          <a:noFill/>
          <a:ln/>
        </p:spPr>
        <p:txBody>
          <a:bodyPr wrap="square" lIns="25400" tIns="25400" rIns="25400" bIns="25400" rtlCol="0" anchor="t">
            <a:normAutofit/>
          </a:bodyPr>
          <a:lstStyle/>
          <a:p>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Foothold spreads across all three thirds of </a:t>
            </a:r>
            <a:pPr algn="l" indent="0" marL="0">
              <a:lnSpc>
                <a:spcPct val="145000"/>
              </a:lnSpc>
              <a:buNone/>
            </a:pPr>
            <a:r>
              <a:rPr lang="en-US" sz="1656" i="1" dirty="0">
                <a:solidFill>
                  <a:srgbClr val="E8ECF4"/>
                </a:solidFill>
                <a:highlight>
                  <a:srgbClr val="1C2230"/>
                </a:highlight>
                <a:latin typeface="Arial" pitchFamily="34" charset="0"/>
                <a:ea typeface="Arial" pitchFamily="34" charset="-122"/>
                <a:cs typeface="Arial" pitchFamily="34" charset="-120"/>
              </a:rPr>
              <a:t>access.log.2</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 </a:t>
            </a:r>
            <a:pPr algn="l" indent="0" marL="0">
              <a:lnSpc>
                <a:spcPct val="145000"/>
              </a:lnSpc>
              <a:buNone/>
            </a:pPr>
            <a:r>
              <a:rPr lang="en-US" sz="1800" i="1" dirty="0">
                <a:solidFill>
                  <a:srgbClr val="FF5A4E"/>
                </a:solidFill>
                <a:latin typeface="Arial" pitchFamily="34" charset="0"/>
                <a:ea typeface="Arial" pitchFamily="34" charset="-122"/>
                <a:cs typeface="Arial" pitchFamily="34" charset="-120"/>
              </a:rPr>
              <a:t>Privilege-escalation evidence appears only in the late third. </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NTILE turns raw line position into a readable attack journey.</a:t>
            </a:r>
            <a:endParaRPr lang="en-US" sz="1800" dirty="0"/>
          </a:p>
        </p:txBody>
      </p:sp>
      <p:sp>
        <p:nvSpPr>
          <p:cNvPr id="26" name="Shape 23"/>
          <p:cNvSpPr/>
          <p:nvPr/>
        </p:nvSpPr>
        <p:spPr>
          <a:xfrm>
            <a:off x="952500" y="9648825"/>
            <a:ext cx="16383000" cy="9525"/>
          </a:xfrm>
          <a:prstGeom prst="rect">
            <a:avLst/>
          </a:prstGeom>
          <a:solidFill>
            <a:srgbClr val="232A3A"/>
          </a:solidFill>
          <a:ln/>
        </p:spPr>
      </p:sp>
      <p:sp>
        <p:nvSpPr>
          <p:cNvPr id="27" name="Text 24"/>
          <p:cNvSpPr/>
          <p:nvPr/>
        </p:nvSpPr>
        <p:spPr>
          <a:xfrm>
            <a:off x="952500" y="9810750"/>
            <a:ext cx="2288381"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06 / 11 · RIVER · 1:15</a:t>
            </a:r>
            <a:endParaRPr lang="en-US" sz="1200" dirty="0"/>
          </a:p>
        </p:txBody>
      </p:sp>
      <p:sp>
        <p:nvSpPr>
          <p:cNvPr id="28" name="Text 25"/>
          <p:cNvSpPr/>
          <p:nvPr/>
        </p:nvSpPr>
        <p:spPr>
          <a:xfrm>
            <a:off x="14585305" y="9810750"/>
            <a:ext cx="2832701"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DEEP DIVE 01 · CTE + NTILE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5233422"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DEEP DIVE 02 </a:t>
            </a:r>
            <a:pPr algn="l" indent="0" marL="0">
              <a:buNone/>
            </a:pPr>
            <a:r>
              <a:rPr lang="en-US" sz="1350" spc="243" kern="0" dirty="0">
                <a:solidFill>
                  <a:srgbClr val="C3CAD8"/>
                </a:solidFill>
                <a:latin typeface="Arial" pitchFamily="34" charset="0"/>
                <a:ea typeface="Arial" pitchFamily="34" charset="-122"/>
                <a:cs typeface="Arial" pitchFamily="34" charset="-120"/>
              </a:rPr>
              <a:t>/ SAVED VIEW + STRING_AGG</a:t>
            </a:r>
            <a:endParaRPr lang="en-US" sz="1350" dirty="0"/>
          </a:p>
        </p:txBody>
      </p:sp>
      <p:sp>
        <p:nvSpPr>
          <p:cNvPr id="4" name="Text 2"/>
          <p:cNvSpPr/>
          <p:nvPr/>
        </p:nvSpPr>
        <p:spPr>
          <a:xfrm>
            <a:off x="10961787" y="628650"/>
            <a:ext cx="6564925"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NAMAN · </a:t>
            </a:r>
            <a:pPr algn="l" indent="0" marL="0">
              <a:buNone/>
            </a:pPr>
            <a:r>
              <a:rPr lang="en-US" sz="1242" spc="243" kern="0" dirty="0">
                <a:solidFill>
                  <a:srgbClr val="E8ECF4"/>
                </a:solidFill>
                <a:latin typeface="Arial" pitchFamily="34" charset="0"/>
                <a:ea typeface="Arial" pitchFamily="34" charset="-122"/>
                <a:cs typeface="Arial" pitchFamily="34" charset="-120"/>
              </a:rPr>
              <a:t>NAMAN_V_PRIVILEGE_ESCALATION_TIMELINE.SQL</a:t>
            </a:r>
            <a:endParaRPr lang="en-US" sz="1350" dirty="0"/>
          </a:p>
        </p:txBody>
      </p:sp>
      <p:sp>
        <p:nvSpPr>
          <p:cNvPr id="5" name="Text 3"/>
          <p:cNvSpPr/>
          <p:nvPr/>
        </p:nvSpPr>
        <p:spPr>
          <a:xfrm>
            <a:off x="952500" y="1600200"/>
            <a:ext cx="16874490" cy="531763"/>
          </a:xfrm>
          <a:prstGeom prst="rect">
            <a:avLst/>
          </a:prstGeom>
          <a:noFill/>
          <a:ln/>
        </p:spPr>
        <p:txBody>
          <a:bodyPr wrap="square" lIns="25400" tIns="25400" rIns="25400" bIns="25400" rtlCol="0" anchor="t">
            <a:normAutofit/>
          </a:bodyPr>
          <a:lstStyle/>
          <a:p>
            <a:pPr algn="l" indent="0" marL="0">
              <a:lnSpc>
                <a:spcPct val="108000"/>
              </a:lnSpc>
              <a:buNone/>
            </a:pPr>
            <a:r>
              <a:rPr lang="en-US" sz="3600" spc="-43" kern="0" dirty="0">
                <a:solidFill>
                  <a:srgbClr val="E8ECF4"/>
                </a:solidFill>
                <a:latin typeface="Arial" pitchFamily="34" charset="0"/>
                <a:ea typeface="Arial" pitchFamily="34" charset="-122"/>
                <a:cs typeface="Arial" pitchFamily="34" charset="-120"/>
              </a:rPr>
              <a:t>An 8-table saved view that becomes the privilege-escalation timeline.</a:t>
            </a:r>
            <a:endParaRPr lang="en-US" sz="3600" dirty="0"/>
          </a:p>
        </p:txBody>
      </p:sp>
      <p:sp>
        <p:nvSpPr>
          <p:cNvPr id="6" name="Shape 4"/>
          <p:cNvSpPr/>
          <p:nvPr/>
        </p:nvSpPr>
        <p:spPr>
          <a:xfrm>
            <a:off x="952500" y="2436763"/>
            <a:ext cx="9201150" cy="6421487"/>
          </a:xfrm>
          <a:prstGeom prst="roundRect">
            <a:avLst>
              <a:gd name="adj" fmla="val 890"/>
            </a:avLst>
          </a:prstGeom>
          <a:solidFill>
            <a:srgbClr val="1C2230"/>
          </a:solidFill>
          <a:ln w="9525">
            <a:solidFill>
              <a:srgbClr val="2C3548"/>
            </a:solidFill>
            <a:prstDash val="solid"/>
          </a:ln>
        </p:spPr>
      </p:sp>
      <p:sp>
        <p:nvSpPr>
          <p:cNvPr id="7" name="Text 5"/>
          <p:cNvSpPr/>
          <p:nvPr/>
        </p:nvSpPr>
        <p:spPr>
          <a:xfrm>
            <a:off x="1228725" y="2674888"/>
            <a:ext cx="8924735" cy="5983337"/>
          </a:xfrm>
          <a:prstGeom prst="rect">
            <a:avLst/>
          </a:prstGeom>
          <a:noFill/>
          <a:ln/>
        </p:spPr>
        <p:txBody>
          <a:bodyPr wrap="square" lIns="25400" tIns="25400" rIns="25400" bIns="25400" rtlCol="0" anchor="t">
            <a:normAutofit/>
          </a:bodyPr>
          <a:lstStyle/>
          <a:p>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CREATE OR REPLACE VIEW</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v_privilege_escalation_timeline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AS SELECT</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h.host_key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AS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host,</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ae.timestamp,</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ae.type                                      </a:t>
            </a:r>
            <a:endParaRPr lang="en-US" sz="1050" dirty="0"/>
          </a:p>
          <a:p>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AS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audit_type,</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am.op                                        </a:t>
            </a:r>
            <a:endParaRPr lang="en-US" sz="1050" dirty="0"/>
          </a:p>
          <a:p>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AS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pam_operation,</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am.acct                                      </a:t>
            </a:r>
            <a:endParaRPr lang="en-US" sz="1050" dirty="0"/>
          </a:p>
          <a:p>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AS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target_account,</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am.exe                                       </a:t>
            </a:r>
            <a:endParaRPr lang="en-US" sz="1050" dirty="0"/>
          </a:p>
          <a:p>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AS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executable,</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am.terminal,</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
            </a:r>
            <a:endParaRPr lang="en-US" sz="1050" dirty="0"/>
          </a:p>
          <a:p>
            <a:pPr algn="l" indent="0" marL="0">
              <a:lnSpc>
                <a:spcPct val="150000"/>
              </a:lnSpc>
              <a:buNone/>
            </a:pPr>
            <a:r>
              <a:rPr lang="en-US" sz="1050" dirty="0">
                <a:solidFill>
                  <a:srgbClr val="7EC1FF"/>
                </a:solidFill>
                <a:latin typeface="Arial" pitchFamily="34" charset="0"/>
                <a:ea typeface="Arial" pitchFamily="34" charset="-122"/>
                <a:cs typeface="Arial" pitchFamily="34" charset="-120"/>
              </a:rPr>
              <a:t>string_agg</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DISTINCT</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al.label_name, </a:t>
            </a:r>
            <a:pPr algn="l" indent="0" marL="0">
              <a:lnSpc>
                <a:spcPct val="150000"/>
              </a:lnSpc>
              <a:buNone/>
            </a:pPr>
            <a:r>
              <a:rPr lang="en-US" sz="1050" dirty="0">
                <a:solidFill>
                  <a:srgbClr val="7DDCA0"/>
                </a:solidFill>
                <a:latin typeface="Arial" pitchFamily="34" charset="0"/>
                <a:ea typeface="Arial" pitchFamily="34" charset="-122"/>
                <a:cs typeface="Arial" pitchFamily="34" charset="-120"/>
              </a:rPr>
              <a:t>', '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ORDER BY</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al.label_name)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AS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labels,</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
            </a:r>
            <a:endParaRPr lang="en-US" sz="1050" dirty="0"/>
          </a:p>
          <a:p>
            <a:pPr algn="l" indent="0" marL="0">
              <a:lnSpc>
                <a:spcPct val="150000"/>
              </a:lnSpc>
              <a:buNone/>
            </a:pPr>
            <a:r>
              <a:rPr lang="en-US" sz="1050" dirty="0">
                <a:solidFill>
                  <a:srgbClr val="7EC1FF"/>
                </a:solidFill>
                <a:latin typeface="Arial" pitchFamily="34" charset="0"/>
                <a:ea typeface="Arial" pitchFamily="34" charset="-122"/>
                <a:cs typeface="Arial" pitchFamily="34" charset="-120"/>
              </a:rPr>
              <a:t>string_agg</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DISTINCT</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llr.rule_name, </a:t>
            </a:r>
            <a:pPr algn="l" indent="0" marL="0">
              <a:lnSpc>
                <a:spcPct val="150000"/>
              </a:lnSpc>
              <a:buNone/>
            </a:pPr>
            <a:r>
              <a:rPr lang="en-US" sz="1050" dirty="0">
                <a:solidFill>
                  <a:srgbClr val="7DDCA0"/>
                </a:solidFill>
                <a:latin typeface="Arial" pitchFamily="34" charset="0"/>
                <a:ea typeface="Arial" pitchFamily="34" charset="-122"/>
                <a:cs typeface="Arial" pitchFamily="34" charset="-120"/>
              </a:rPr>
              <a:t>', '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ORDER BY</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llr.rule_name)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AS</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rules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FROM</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audit_event ae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JOIN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host h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h.host_id = ae.host_id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LEFT JOIN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audit_message am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am.event_id = ae.event_id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JOIN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labeled_line ll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ON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ll.source_host = h.host_key</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
            </a:r>
            <a:endParaRPr lang="en-US" sz="1050" dirty="0"/>
          </a:p>
          <a:p>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AND</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ll.source_log  = </a:t>
            </a:r>
            <a:pPr algn="l" indent="0" marL="0">
              <a:lnSpc>
                <a:spcPct val="150000"/>
              </a:lnSpc>
              <a:buNone/>
            </a:pPr>
            <a:r>
              <a:rPr lang="en-US" sz="1050" dirty="0">
                <a:solidFill>
                  <a:srgbClr val="7DDCA0"/>
                </a:solidFill>
                <a:latin typeface="Arial" pitchFamily="34" charset="0"/>
                <a:ea typeface="Arial" pitchFamily="34" charset="-122"/>
                <a:cs typeface="Arial" pitchFamily="34" charset="-120"/>
              </a:rPr>
              <a:t>'audit.log'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AND</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ll.line_number = ae.line_number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JOIN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labeled_line_label lll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lll.labeled_line_id = ll.labeled_line_id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JOIN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attack_label al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al.label_id = lll.label_id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JOIN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attack_phase ap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ap.phase_id = al.phase_id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LEFT JOIN</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labeled_line_rule llr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ON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llr.labeled_line_id = ll.labeled_line_id</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t>
            </a:r>
            <a:endParaRPr lang="en-US" sz="1050" dirty="0"/>
          </a:p>
          <a:p>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AND</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llr.label_id        = al.label_id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WHERE</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ap.phase_name = </a:t>
            </a:r>
            <a:pPr algn="l" indent="0" marL="0">
              <a:lnSpc>
                <a:spcPct val="150000"/>
              </a:lnSpc>
              <a:buNone/>
            </a:pPr>
            <a:r>
              <a:rPr lang="en-US" sz="1050" dirty="0">
                <a:solidFill>
                  <a:srgbClr val="7DDCA0"/>
                </a:solidFill>
                <a:latin typeface="Arial" pitchFamily="34" charset="0"/>
                <a:ea typeface="Arial" pitchFamily="34" charset="-122"/>
                <a:cs typeface="Arial" pitchFamily="34" charset="-120"/>
              </a:rPr>
              <a:t>'privilege_escalation' </a:t>
            </a:r>
            <a:pPr algn="l" indent="0" marL="0">
              <a:lnSpc>
                <a:spcPct val="150000"/>
              </a:lnSpc>
              <a:buNone/>
            </a:pPr>
            <a:r>
              <a:rPr lang="en-US" sz="1050" dirty="0">
                <a:solidFill>
                  <a:srgbClr val="FF8FB3"/>
                </a:solidFill>
                <a:latin typeface="Arial" pitchFamily="34" charset="0"/>
                <a:ea typeface="Arial" pitchFamily="34" charset="-122"/>
                <a:cs typeface="Arial" pitchFamily="34" charset="-120"/>
              </a:rPr>
              <a:t>GROUP BY </a:t>
            </a:r>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h.host_key, ae.timestamp, ae.type, am.op, am.acct,</a:t>
            </a:r>
            <a:endParaRPr lang="en-US" sz="1050" dirty="0"/>
          </a:p>
          <a:p>
            <a:pPr algn="l" indent="0" marL="0">
              <a:lnSpc>
                <a:spcPct val="150000"/>
              </a:lnSpc>
              <a:buNone/>
            </a:pPr>
            <a:r>
              <a:rPr lang="en-US" sz="1050" dirty="0">
                <a:solidFill>
                  <a:srgbClr val="E8ECF4"/>
                </a:solidFill>
                <a:highlight>
                  <a:srgbClr val="1C2230"/>
                </a:highlight>
                <a:latin typeface="Arial" pitchFamily="34" charset="0"/>
                <a:ea typeface="Arial" pitchFamily="34" charset="-122"/>
                <a:cs typeface="Arial" pitchFamily="34" charset="-120"/>
              </a:rPr>
              <a:t>         am.exe, am.terminal;</a:t>
            </a:r>
            <a:endParaRPr lang="en-US" sz="1050" dirty="0"/>
          </a:p>
        </p:txBody>
      </p:sp>
      <p:sp>
        <p:nvSpPr>
          <p:cNvPr id="8" name="Shape 6"/>
          <p:cNvSpPr/>
          <p:nvPr/>
        </p:nvSpPr>
        <p:spPr>
          <a:xfrm>
            <a:off x="952500" y="9029700"/>
            <a:ext cx="2171700" cy="9525"/>
          </a:xfrm>
          <a:prstGeom prst="rect">
            <a:avLst/>
          </a:prstGeom>
          <a:solidFill>
            <a:srgbClr val="2C3548"/>
          </a:solidFill>
          <a:ln/>
        </p:spPr>
      </p:sp>
      <p:sp>
        <p:nvSpPr>
          <p:cNvPr id="9" name="Text 7"/>
          <p:cNvSpPr/>
          <p:nvPr/>
        </p:nvSpPr>
        <p:spPr>
          <a:xfrm>
            <a:off x="952500" y="9172575"/>
            <a:ext cx="2247900"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TABLES</a:t>
            </a:r>
            <a:endParaRPr lang="en-US" sz="975" dirty="0"/>
          </a:p>
        </p:txBody>
      </p:sp>
      <p:sp>
        <p:nvSpPr>
          <p:cNvPr id="10" name="Text 8"/>
          <p:cNvSpPr/>
          <p:nvPr/>
        </p:nvSpPr>
        <p:spPr>
          <a:xfrm>
            <a:off x="952500" y="9391650"/>
            <a:ext cx="2247900" cy="247650"/>
          </a:xfrm>
          <a:prstGeom prst="rect">
            <a:avLst/>
          </a:prstGeom>
          <a:noFill/>
          <a:ln/>
        </p:spPr>
        <p:txBody>
          <a:bodyPr wrap="square" lIns="25400" tIns="25400" rIns="25400" bIns="25400" rtlCol="0" anchor="t">
            <a:normAutofit/>
          </a:bodyPr>
          <a:lstStyle/>
          <a:p>
            <a:pPr algn="l" indent="0" marL="0">
              <a:lnSpc>
                <a:spcPct val="100000"/>
              </a:lnSpc>
              <a:buNone/>
            </a:pPr>
            <a:r>
              <a:rPr lang="en-US" sz="1650" dirty="0">
                <a:solidFill>
                  <a:srgbClr val="E8ECF4"/>
                </a:solidFill>
                <a:latin typeface="Arial" pitchFamily="34" charset="0"/>
                <a:ea typeface="Arial" pitchFamily="34" charset="-122"/>
                <a:cs typeface="Arial" pitchFamily="34" charset="-120"/>
              </a:rPr>
              <a:t>8</a:t>
            </a:r>
            <a:endParaRPr lang="en-US" sz="1650" dirty="0"/>
          </a:p>
        </p:txBody>
      </p:sp>
      <p:sp>
        <p:nvSpPr>
          <p:cNvPr id="11" name="Shape 9"/>
          <p:cNvSpPr/>
          <p:nvPr/>
        </p:nvSpPr>
        <p:spPr>
          <a:xfrm>
            <a:off x="3295650" y="9029700"/>
            <a:ext cx="2171700" cy="9525"/>
          </a:xfrm>
          <a:prstGeom prst="rect">
            <a:avLst/>
          </a:prstGeom>
          <a:solidFill>
            <a:srgbClr val="2C3548"/>
          </a:solidFill>
          <a:ln/>
        </p:spPr>
      </p:sp>
      <p:sp>
        <p:nvSpPr>
          <p:cNvPr id="12" name="Text 10"/>
          <p:cNvSpPr/>
          <p:nvPr/>
        </p:nvSpPr>
        <p:spPr>
          <a:xfrm>
            <a:off x="3295650" y="9172575"/>
            <a:ext cx="2247900"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AGGREGATOR</a:t>
            </a:r>
            <a:endParaRPr lang="en-US" sz="975" dirty="0"/>
          </a:p>
        </p:txBody>
      </p:sp>
      <p:sp>
        <p:nvSpPr>
          <p:cNvPr id="13" name="Text 11"/>
          <p:cNvSpPr/>
          <p:nvPr/>
        </p:nvSpPr>
        <p:spPr>
          <a:xfrm>
            <a:off x="3295650" y="9391650"/>
            <a:ext cx="2247900" cy="209550"/>
          </a:xfrm>
          <a:prstGeom prst="rect">
            <a:avLst/>
          </a:prstGeom>
          <a:noFill/>
          <a:ln/>
        </p:spPr>
        <p:txBody>
          <a:bodyPr wrap="square" lIns="25400" tIns="25400" rIns="25400" bIns="25400" rtlCol="0" anchor="t">
            <a:normAutofit/>
          </a:bodyPr>
          <a:lstStyle/>
          <a:p>
            <a:pPr algn="l" indent="0" marL="0">
              <a:lnSpc>
                <a:spcPct val="100000"/>
              </a:lnSpc>
              <a:buNone/>
            </a:pPr>
            <a:r>
              <a:rPr lang="en-US" sz="1350" dirty="0">
                <a:solidFill>
                  <a:srgbClr val="E8ECF4"/>
                </a:solidFill>
                <a:latin typeface="Arial" pitchFamily="34" charset="0"/>
                <a:ea typeface="Arial" pitchFamily="34" charset="-122"/>
                <a:cs typeface="Arial" pitchFamily="34" charset="-120"/>
              </a:rPr>
              <a:t>string_agg</a:t>
            </a:r>
            <a:endParaRPr lang="en-US" sz="1350" dirty="0"/>
          </a:p>
        </p:txBody>
      </p:sp>
      <p:sp>
        <p:nvSpPr>
          <p:cNvPr id="14" name="Shape 12"/>
          <p:cNvSpPr/>
          <p:nvPr/>
        </p:nvSpPr>
        <p:spPr>
          <a:xfrm>
            <a:off x="5638800" y="9029700"/>
            <a:ext cx="2171700" cy="9525"/>
          </a:xfrm>
          <a:prstGeom prst="rect">
            <a:avLst/>
          </a:prstGeom>
          <a:solidFill>
            <a:srgbClr val="2C3548"/>
          </a:solidFill>
          <a:ln/>
        </p:spPr>
      </p:sp>
      <p:sp>
        <p:nvSpPr>
          <p:cNvPr id="15" name="Text 13"/>
          <p:cNvSpPr/>
          <p:nvPr/>
        </p:nvSpPr>
        <p:spPr>
          <a:xfrm>
            <a:off x="5638800" y="9172575"/>
            <a:ext cx="2247900"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PHASE</a:t>
            </a:r>
            <a:endParaRPr lang="en-US" sz="975" dirty="0"/>
          </a:p>
        </p:txBody>
      </p:sp>
      <p:sp>
        <p:nvSpPr>
          <p:cNvPr id="16" name="Text 14"/>
          <p:cNvSpPr/>
          <p:nvPr/>
        </p:nvSpPr>
        <p:spPr>
          <a:xfrm>
            <a:off x="5638800" y="9391650"/>
            <a:ext cx="2247900" cy="190500"/>
          </a:xfrm>
          <a:prstGeom prst="rect">
            <a:avLst/>
          </a:prstGeom>
          <a:noFill/>
          <a:ln/>
        </p:spPr>
        <p:txBody>
          <a:bodyPr wrap="square" lIns="25400" tIns="25400" rIns="25400" bIns="25400" rtlCol="0" anchor="t">
            <a:normAutofit/>
          </a:bodyPr>
          <a:lstStyle/>
          <a:p>
            <a:pPr algn="l" indent="0" marL="0">
              <a:lnSpc>
                <a:spcPct val="100000"/>
              </a:lnSpc>
              <a:buNone/>
            </a:pPr>
            <a:r>
              <a:rPr lang="en-US" sz="1200" dirty="0">
                <a:solidFill>
                  <a:srgbClr val="E8ECF4"/>
                </a:solidFill>
                <a:latin typeface="Arial" pitchFamily="34" charset="0"/>
                <a:ea typeface="Arial" pitchFamily="34" charset="-122"/>
                <a:cs typeface="Arial" pitchFamily="34" charset="-120"/>
              </a:rPr>
              <a:t>privilege_escalation</a:t>
            </a:r>
            <a:endParaRPr lang="en-US" sz="1200" dirty="0"/>
          </a:p>
        </p:txBody>
      </p:sp>
      <p:sp>
        <p:nvSpPr>
          <p:cNvPr id="17" name="Shape 15"/>
          <p:cNvSpPr/>
          <p:nvPr/>
        </p:nvSpPr>
        <p:spPr>
          <a:xfrm>
            <a:off x="7981950" y="9029700"/>
            <a:ext cx="2171700" cy="9525"/>
          </a:xfrm>
          <a:prstGeom prst="rect">
            <a:avLst/>
          </a:prstGeom>
          <a:solidFill>
            <a:srgbClr val="2C3548"/>
          </a:solidFill>
          <a:ln/>
        </p:spPr>
      </p:sp>
      <p:sp>
        <p:nvSpPr>
          <p:cNvPr id="18" name="Text 16"/>
          <p:cNvSpPr/>
          <p:nvPr/>
        </p:nvSpPr>
        <p:spPr>
          <a:xfrm>
            <a:off x="7981950" y="9172575"/>
            <a:ext cx="2247900"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ROWS</a:t>
            </a:r>
            <a:endParaRPr lang="en-US" sz="975" dirty="0"/>
          </a:p>
        </p:txBody>
      </p:sp>
      <p:sp>
        <p:nvSpPr>
          <p:cNvPr id="19" name="Text 17"/>
          <p:cNvSpPr/>
          <p:nvPr/>
        </p:nvSpPr>
        <p:spPr>
          <a:xfrm>
            <a:off x="7981950" y="9391650"/>
            <a:ext cx="2247900" cy="247650"/>
          </a:xfrm>
          <a:prstGeom prst="rect">
            <a:avLst/>
          </a:prstGeom>
          <a:noFill/>
          <a:ln/>
        </p:spPr>
        <p:txBody>
          <a:bodyPr wrap="square" lIns="25400" tIns="25400" rIns="25400" bIns="25400" rtlCol="0" anchor="t">
            <a:normAutofit/>
          </a:bodyPr>
          <a:lstStyle/>
          <a:p>
            <a:pPr algn="l" indent="0" marL="0">
              <a:lnSpc>
                <a:spcPct val="100000"/>
              </a:lnSpc>
              <a:buNone/>
            </a:pPr>
            <a:r>
              <a:rPr lang="en-US" sz="1650" dirty="0">
                <a:solidFill>
                  <a:srgbClr val="E8ECF4"/>
                </a:solidFill>
                <a:latin typeface="Arial" pitchFamily="34" charset="0"/>
                <a:ea typeface="Arial" pitchFamily="34" charset="-122"/>
                <a:cs typeface="Arial" pitchFamily="34" charset="-120"/>
              </a:rPr>
              <a:t>9</a:t>
            </a:r>
            <a:endParaRPr lang="en-US" sz="1650" dirty="0"/>
          </a:p>
        </p:txBody>
      </p:sp>
      <p:sp>
        <p:nvSpPr>
          <p:cNvPr id="20" name="Shape 18"/>
          <p:cNvSpPr/>
          <p:nvPr/>
        </p:nvSpPr>
        <p:spPr>
          <a:xfrm>
            <a:off x="10534650" y="2436763"/>
            <a:ext cx="6800850" cy="2847975"/>
          </a:xfrm>
          <a:prstGeom prst="roundRect">
            <a:avLst>
              <a:gd name="adj" fmla="val 2007"/>
            </a:avLst>
          </a:prstGeom>
          <a:solidFill>
            <a:srgbClr val="141923"/>
          </a:solidFill>
          <a:ln w="9525">
            <a:solidFill>
              <a:srgbClr val="232A3A"/>
            </a:solidFill>
            <a:prstDash val="solid"/>
          </a:ln>
        </p:spPr>
      </p:sp>
      <p:sp>
        <p:nvSpPr>
          <p:cNvPr id="21" name="Text 19"/>
          <p:cNvSpPr/>
          <p:nvPr/>
        </p:nvSpPr>
        <p:spPr>
          <a:xfrm>
            <a:off x="10753725" y="2617738"/>
            <a:ext cx="6553581" cy="209550"/>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A93A6"/>
                </a:solidFill>
                <a:latin typeface="Arial" pitchFamily="34" charset="0"/>
                <a:ea typeface="Arial" pitchFamily="34" charset="-122"/>
                <a:cs typeface="Arial" pitchFamily="34" charset="-120"/>
              </a:rPr>
              <a:t>V_PRIVILEGE_ESCALATION_TIMELINE · INTRANET_SERVER</a:t>
            </a:r>
            <a:endParaRPr lang="en-US" sz="1050" dirty="0"/>
          </a:p>
        </p:txBody>
      </p:sp>
      <p:sp>
        <p:nvSpPr>
          <p:cNvPr id="22" name="Text 20"/>
          <p:cNvSpPr/>
          <p:nvPr/>
        </p:nvSpPr>
        <p:spPr>
          <a:xfrm>
            <a:off x="10753725" y="2903488"/>
            <a:ext cx="1945035"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spc="120" kern="0" dirty="0">
                <a:solidFill>
                  <a:srgbClr val="8A93A6"/>
                </a:solidFill>
                <a:latin typeface="Arial" pitchFamily="34" charset="0"/>
                <a:ea typeface="Arial" pitchFamily="34" charset="-122"/>
                <a:cs typeface="Arial" pitchFamily="34" charset="-120"/>
              </a:rPr>
              <a:t>TIMESTAMP</a:t>
            </a:r>
            <a:endParaRPr lang="en-US" sz="750" dirty="0"/>
          </a:p>
        </p:txBody>
      </p:sp>
      <p:sp>
        <p:nvSpPr>
          <p:cNvPr id="23" name="Text 21"/>
          <p:cNvSpPr/>
          <p:nvPr/>
        </p:nvSpPr>
        <p:spPr>
          <a:xfrm>
            <a:off x="12755910" y="2903488"/>
            <a:ext cx="1322040"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spc="120" kern="0" dirty="0">
                <a:solidFill>
                  <a:srgbClr val="8A93A6"/>
                </a:solidFill>
                <a:latin typeface="Arial" pitchFamily="34" charset="0"/>
                <a:ea typeface="Arial" pitchFamily="34" charset="-122"/>
                <a:cs typeface="Arial" pitchFamily="34" charset="-120"/>
              </a:rPr>
              <a:t>AUDIT_TYPE</a:t>
            </a:r>
            <a:endParaRPr lang="en-US" sz="750" dirty="0"/>
          </a:p>
        </p:txBody>
      </p:sp>
      <p:sp>
        <p:nvSpPr>
          <p:cNvPr id="24" name="Text 22"/>
          <p:cNvSpPr/>
          <p:nvPr/>
        </p:nvSpPr>
        <p:spPr>
          <a:xfrm>
            <a:off x="14135100" y="2903488"/>
            <a:ext cx="1589187"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spc="120" kern="0" dirty="0">
                <a:solidFill>
                  <a:srgbClr val="8A93A6"/>
                </a:solidFill>
                <a:latin typeface="Arial" pitchFamily="34" charset="0"/>
                <a:ea typeface="Arial" pitchFamily="34" charset="-122"/>
                <a:cs typeface="Arial" pitchFamily="34" charset="-120"/>
              </a:rPr>
              <a:t>PAM_OP · ACCT</a:t>
            </a:r>
            <a:endParaRPr lang="en-US" sz="750" dirty="0"/>
          </a:p>
        </p:txBody>
      </p:sp>
      <p:sp>
        <p:nvSpPr>
          <p:cNvPr id="25" name="Text 23"/>
          <p:cNvSpPr/>
          <p:nvPr/>
        </p:nvSpPr>
        <p:spPr>
          <a:xfrm>
            <a:off x="15781437" y="2903488"/>
            <a:ext cx="1411188" cy="180975"/>
          </a:xfrm>
          <a:prstGeom prst="rect">
            <a:avLst/>
          </a:prstGeom>
          <a:noFill/>
          <a:ln/>
        </p:spPr>
        <p:txBody>
          <a:bodyPr wrap="square" lIns="25400" tIns="25400" rIns="25400" bIns="25400" rtlCol="0" anchor="t">
            <a:normAutofit/>
          </a:bodyPr>
          <a:lstStyle/>
          <a:p>
            <a:pPr algn="l" indent="0" marL="0">
              <a:lnSpc>
                <a:spcPct val="150000"/>
              </a:lnSpc>
              <a:buNone/>
            </a:pPr>
            <a:r>
              <a:rPr lang="en-US" sz="750" spc="120" kern="0" dirty="0">
                <a:solidFill>
                  <a:srgbClr val="8A93A6"/>
                </a:solidFill>
                <a:latin typeface="Arial" pitchFamily="34" charset="0"/>
                <a:ea typeface="Arial" pitchFamily="34" charset="-122"/>
                <a:cs typeface="Arial" pitchFamily="34" charset="-120"/>
              </a:rPr>
              <a:t>LABELS</a:t>
            </a:r>
            <a:endParaRPr lang="en-US" sz="750" dirty="0"/>
          </a:p>
        </p:txBody>
      </p:sp>
      <p:sp>
        <p:nvSpPr>
          <p:cNvPr id="26" name="Text 24"/>
          <p:cNvSpPr/>
          <p:nvPr/>
        </p:nvSpPr>
        <p:spPr>
          <a:xfrm>
            <a:off x="10753725" y="31035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15:53:55</a:t>
            </a:r>
            <a:endParaRPr lang="en-US" sz="900" dirty="0"/>
          </a:p>
        </p:txBody>
      </p:sp>
      <p:sp>
        <p:nvSpPr>
          <p:cNvPr id="27" name="Text 25"/>
          <p:cNvSpPr/>
          <p:nvPr/>
        </p:nvSpPr>
        <p:spPr>
          <a:xfrm>
            <a:off x="12755910" y="31035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E8ECF4"/>
                </a:solidFill>
                <a:latin typeface="Arial" pitchFamily="34" charset="0"/>
                <a:ea typeface="Arial" pitchFamily="34" charset="-122"/>
                <a:cs typeface="Arial" pitchFamily="34" charset="-120"/>
              </a:rPr>
              <a:t>USER_AUTH</a:t>
            </a:r>
            <a:endParaRPr lang="en-US" sz="900" dirty="0"/>
          </a:p>
        </p:txBody>
      </p:sp>
      <p:sp>
        <p:nvSpPr>
          <p:cNvPr id="28" name="Text 26"/>
          <p:cNvSpPr/>
          <p:nvPr/>
        </p:nvSpPr>
        <p:spPr>
          <a:xfrm>
            <a:off x="14135100" y="31035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PAM:auth · root</a:t>
            </a:r>
            <a:endParaRPr lang="en-US" sz="900" dirty="0"/>
          </a:p>
        </p:txBody>
      </p:sp>
      <p:sp>
        <p:nvSpPr>
          <p:cNvPr id="29" name="Text 27"/>
          <p:cNvSpPr/>
          <p:nvPr/>
        </p:nvSpPr>
        <p:spPr>
          <a:xfrm>
            <a:off x="15781437" y="31035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7AD9FF"/>
                </a:solidFill>
                <a:latin typeface="Arial" pitchFamily="34" charset="0"/>
                <a:ea typeface="Arial" pitchFamily="34" charset="-122"/>
                <a:cs typeface="Arial" pitchFamily="34" charset="-120"/>
              </a:rPr>
              <a:t>su_attempt</a:t>
            </a:r>
            <a:endParaRPr lang="en-US" sz="900" dirty="0"/>
          </a:p>
        </p:txBody>
      </p:sp>
      <p:sp>
        <p:nvSpPr>
          <p:cNvPr id="30" name="Text 28"/>
          <p:cNvSpPr/>
          <p:nvPr/>
        </p:nvSpPr>
        <p:spPr>
          <a:xfrm>
            <a:off x="10753725" y="33321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15:53:55</a:t>
            </a:r>
            <a:endParaRPr lang="en-US" sz="900" dirty="0"/>
          </a:p>
        </p:txBody>
      </p:sp>
      <p:sp>
        <p:nvSpPr>
          <p:cNvPr id="31" name="Text 29"/>
          <p:cNvSpPr/>
          <p:nvPr/>
        </p:nvSpPr>
        <p:spPr>
          <a:xfrm>
            <a:off x="12755910" y="33321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E8ECF4"/>
                </a:solidFill>
                <a:latin typeface="Arial" pitchFamily="34" charset="0"/>
                <a:ea typeface="Arial" pitchFamily="34" charset="-122"/>
                <a:cs typeface="Arial" pitchFamily="34" charset="-120"/>
              </a:rPr>
              <a:t>USER_ACCT</a:t>
            </a:r>
            <a:endParaRPr lang="en-US" sz="900" dirty="0"/>
          </a:p>
        </p:txBody>
      </p:sp>
      <p:sp>
        <p:nvSpPr>
          <p:cNvPr id="32" name="Text 30"/>
          <p:cNvSpPr/>
          <p:nvPr/>
        </p:nvSpPr>
        <p:spPr>
          <a:xfrm>
            <a:off x="14135100" y="33321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PAM:acct · root</a:t>
            </a:r>
            <a:endParaRPr lang="en-US" sz="900" dirty="0"/>
          </a:p>
        </p:txBody>
      </p:sp>
      <p:sp>
        <p:nvSpPr>
          <p:cNvPr id="33" name="Text 31"/>
          <p:cNvSpPr/>
          <p:nvPr/>
        </p:nvSpPr>
        <p:spPr>
          <a:xfrm>
            <a:off x="15781437" y="33321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7AD9FF"/>
                </a:solidFill>
                <a:latin typeface="Arial" pitchFamily="34" charset="0"/>
                <a:ea typeface="Arial" pitchFamily="34" charset="-122"/>
                <a:cs typeface="Arial" pitchFamily="34" charset="-120"/>
              </a:rPr>
              <a:t>su_attempt</a:t>
            </a:r>
            <a:endParaRPr lang="en-US" sz="900" dirty="0"/>
          </a:p>
        </p:txBody>
      </p:sp>
      <p:sp>
        <p:nvSpPr>
          <p:cNvPr id="34" name="Text 32"/>
          <p:cNvSpPr/>
          <p:nvPr/>
        </p:nvSpPr>
        <p:spPr>
          <a:xfrm>
            <a:off x="10753725" y="35607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15:53:55</a:t>
            </a:r>
            <a:endParaRPr lang="en-US" sz="900" dirty="0"/>
          </a:p>
        </p:txBody>
      </p:sp>
      <p:sp>
        <p:nvSpPr>
          <p:cNvPr id="35" name="Text 33"/>
          <p:cNvSpPr/>
          <p:nvPr/>
        </p:nvSpPr>
        <p:spPr>
          <a:xfrm>
            <a:off x="12755910" y="35607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E8ECF4"/>
                </a:solidFill>
                <a:latin typeface="Arial" pitchFamily="34" charset="0"/>
                <a:ea typeface="Arial" pitchFamily="34" charset="-122"/>
                <a:cs typeface="Arial" pitchFamily="34" charset="-120"/>
              </a:rPr>
              <a:t>CRED_ACQ</a:t>
            </a:r>
            <a:endParaRPr lang="en-US" sz="900" dirty="0"/>
          </a:p>
        </p:txBody>
      </p:sp>
      <p:sp>
        <p:nvSpPr>
          <p:cNvPr id="36" name="Text 34"/>
          <p:cNvSpPr/>
          <p:nvPr/>
        </p:nvSpPr>
        <p:spPr>
          <a:xfrm>
            <a:off x="14135100" y="35607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PAM:setcred · root</a:t>
            </a:r>
            <a:endParaRPr lang="en-US" sz="900" dirty="0"/>
          </a:p>
        </p:txBody>
      </p:sp>
      <p:sp>
        <p:nvSpPr>
          <p:cNvPr id="37" name="Text 35"/>
          <p:cNvSpPr/>
          <p:nvPr/>
        </p:nvSpPr>
        <p:spPr>
          <a:xfrm>
            <a:off x="15781437" y="35607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7AD9FF"/>
                </a:solidFill>
                <a:latin typeface="Arial" pitchFamily="34" charset="0"/>
                <a:ea typeface="Arial" pitchFamily="34" charset="-122"/>
                <a:cs typeface="Arial" pitchFamily="34" charset="-120"/>
              </a:rPr>
              <a:t>su_attempt</a:t>
            </a:r>
            <a:endParaRPr lang="en-US" sz="900" dirty="0"/>
          </a:p>
        </p:txBody>
      </p:sp>
      <p:sp>
        <p:nvSpPr>
          <p:cNvPr id="38" name="Text 36"/>
          <p:cNvSpPr/>
          <p:nvPr/>
        </p:nvSpPr>
        <p:spPr>
          <a:xfrm>
            <a:off x="10753725" y="37893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15:53:55</a:t>
            </a:r>
            <a:endParaRPr lang="en-US" sz="900" dirty="0"/>
          </a:p>
        </p:txBody>
      </p:sp>
      <p:sp>
        <p:nvSpPr>
          <p:cNvPr id="39" name="Text 37"/>
          <p:cNvSpPr/>
          <p:nvPr/>
        </p:nvSpPr>
        <p:spPr>
          <a:xfrm>
            <a:off x="12755910" y="37893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E8ECF4"/>
                </a:solidFill>
                <a:latin typeface="Arial" pitchFamily="34" charset="0"/>
                <a:ea typeface="Arial" pitchFamily="34" charset="-122"/>
                <a:cs typeface="Arial" pitchFamily="34" charset="-120"/>
              </a:rPr>
              <a:t>USER_START</a:t>
            </a:r>
            <a:endParaRPr lang="en-US" sz="900" dirty="0"/>
          </a:p>
        </p:txBody>
      </p:sp>
      <p:sp>
        <p:nvSpPr>
          <p:cNvPr id="40" name="Text 38"/>
          <p:cNvSpPr/>
          <p:nvPr/>
        </p:nvSpPr>
        <p:spPr>
          <a:xfrm>
            <a:off x="14135100" y="37893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PAM:session · root</a:t>
            </a:r>
            <a:endParaRPr lang="en-US" sz="900" dirty="0"/>
          </a:p>
        </p:txBody>
      </p:sp>
      <p:sp>
        <p:nvSpPr>
          <p:cNvPr id="41" name="Text 39"/>
          <p:cNvSpPr/>
          <p:nvPr/>
        </p:nvSpPr>
        <p:spPr>
          <a:xfrm>
            <a:off x="15781437" y="37893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7AD9FF"/>
                </a:solidFill>
                <a:latin typeface="Arial" pitchFamily="34" charset="0"/>
                <a:ea typeface="Arial" pitchFamily="34" charset="-122"/>
                <a:cs typeface="Arial" pitchFamily="34" charset="-120"/>
              </a:rPr>
              <a:t>su_session</a:t>
            </a:r>
            <a:endParaRPr lang="en-US" sz="900" dirty="0"/>
          </a:p>
        </p:txBody>
      </p:sp>
      <p:sp>
        <p:nvSpPr>
          <p:cNvPr id="42" name="Text 40"/>
          <p:cNvSpPr/>
          <p:nvPr/>
        </p:nvSpPr>
        <p:spPr>
          <a:xfrm>
            <a:off x="10753725" y="40179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15:54:11</a:t>
            </a:r>
            <a:endParaRPr lang="en-US" sz="900" dirty="0"/>
          </a:p>
        </p:txBody>
      </p:sp>
      <p:sp>
        <p:nvSpPr>
          <p:cNvPr id="43" name="Text 41"/>
          <p:cNvSpPr/>
          <p:nvPr/>
        </p:nvSpPr>
        <p:spPr>
          <a:xfrm>
            <a:off x="12755910" y="40179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E8ECF4"/>
                </a:solidFill>
                <a:latin typeface="Arial" pitchFamily="34" charset="0"/>
                <a:ea typeface="Arial" pitchFamily="34" charset="-122"/>
                <a:cs typeface="Arial" pitchFamily="34" charset="-120"/>
              </a:rPr>
              <a:t>USER_END</a:t>
            </a:r>
            <a:endParaRPr lang="en-US" sz="900" dirty="0"/>
          </a:p>
        </p:txBody>
      </p:sp>
      <p:sp>
        <p:nvSpPr>
          <p:cNvPr id="44" name="Text 42"/>
          <p:cNvSpPr/>
          <p:nvPr/>
        </p:nvSpPr>
        <p:spPr>
          <a:xfrm>
            <a:off x="14135100" y="40179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PAM:session · root</a:t>
            </a:r>
            <a:endParaRPr lang="en-US" sz="900" dirty="0"/>
          </a:p>
        </p:txBody>
      </p:sp>
      <p:sp>
        <p:nvSpPr>
          <p:cNvPr id="45" name="Text 43"/>
          <p:cNvSpPr/>
          <p:nvPr/>
        </p:nvSpPr>
        <p:spPr>
          <a:xfrm>
            <a:off x="15781437" y="40179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7AD9FF"/>
                </a:solidFill>
                <a:latin typeface="Arial" pitchFamily="34" charset="0"/>
                <a:ea typeface="Arial" pitchFamily="34" charset="-122"/>
                <a:cs typeface="Arial" pitchFamily="34" charset="-120"/>
              </a:rPr>
              <a:t>su_session</a:t>
            </a:r>
            <a:endParaRPr lang="en-US" sz="900" dirty="0"/>
          </a:p>
        </p:txBody>
      </p:sp>
      <p:sp>
        <p:nvSpPr>
          <p:cNvPr id="46" name="Text 44"/>
          <p:cNvSpPr/>
          <p:nvPr/>
        </p:nvSpPr>
        <p:spPr>
          <a:xfrm>
            <a:off x="10753725" y="42465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15:54:11</a:t>
            </a:r>
            <a:endParaRPr lang="en-US" sz="900" dirty="0"/>
          </a:p>
        </p:txBody>
      </p:sp>
      <p:sp>
        <p:nvSpPr>
          <p:cNvPr id="47" name="Text 45"/>
          <p:cNvSpPr/>
          <p:nvPr/>
        </p:nvSpPr>
        <p:spPr>
          <a:xfrm>
            <a:off x="12755910" y="42465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E8ECF4"/>
                </a:solidFill>
                <a:latin typeface="Arial" pitchFamily="34" charset="0"/>
                <a:ea typeface="Arial" pitchFamily="34" charset="-122"/>
                <a:cs typeface="Arial" pitchFamily="34" charset="-120"/>
              </a:rPr>
              <a:t>CRED_DISP</a:t>
            </a:r>
            <a:endParaRPr lang="en-US" sz="900" dirty="0"/>
          </a:p>
        </p:txBody>
      </p:sp>
      <p:sp>
        <p:nvSpPr>
          <p:cNvPr id="48" name="Text 46"/>
          <p:cNvSpPr/>
          <p:nvPr/>
        </p:nvSpPr>
        <p:spPr>
          <a:xfrm>
            <a:off x="14135100" y="42465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PAM:setcred · root</a:t>
            </a:r>
            <a:endParaRPr lang="en-US" sz="900" dirty="0"/>
          </a:p>
        </p:txBody>
      </p:sp>
      <p:sp>
        <p:nvSpPr>
          <p:cNvPr id="49" name="Text 47"/>
          <p:cNvSpPr/>
          <p:nvPr/>
        </p:nvSpPr>
        <p:spPr>
          <a:xfrm>
            <a:off x="15781437" y="42465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7AD9FF"/>
                </a:solidFill>
                <a:latin typeface="Arial" pitchFamily="34" charset="0"/>
                <a:ea typeface="Arial" pitchFamily="34" charset="-122"/>
                <a:cs typeface="Arial" pitchFamily="34" charset="-120"/>
              </a:rPr>
              <a:t>su_session</a:t>
            </a:r>
            <a:endParaRPr lang="en-US" sz="900" dirty="0"/>
          </a:p>
        </p:txBody>
      </p:sp>
      <p:sp>
        <p:nvSpPr>
          <p:cNvPr id="50" name="Text 48"/>
          <p:cNvSpPr/>
          <p:nvPr/>
        </p:nvSpPr>
        <p:spPr>
          <a:xfrm>
            <a:off x="10753725" y="44751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FFD27A"/>
                </a:solidFill>
                <a:latin typeface="Arial" pitchFamily="34" charset="0"/>
                <a:ea typeface="Arial" pitchFamily="34" charset="-122"/>
                <a:cs typeface="Arial" pitchFamily="34" charset="-120"/>
              </a:rPr>
              <a:t>15:54:23</a:t>
            </a:r>
            <a:endParaRPr lang="en-US" sz="900" dirty="0"/>
          </a:p>
        </p:txBody>
      </p:sp>
      <p:sp>
        <p:nvSpPr>
          <p:cNvPr id="51" name="Text 49"/>
          <p:cNvSpPr/>
          <p:nvPr/>
        </p:nvSpPr>
        <p:spPr>
          <a:xfrm>
            <a:off x="12755910" y="44751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b="1" dirty="0">
                <a:solidFill>
                  <a:srgbClr val="E8ECF4"/>
                </a:solidFill>
                <a:latin typeface="Arial" pitchFamily="34" charset="0"/>
                <a:ea typeface="Arial" pitchFamily="34" charset="-122"/>
                <a:cs typeface="Arial" pitchFamily="34" charset="-120"/>
              </a:rPr>
              <a:t>USER_CMD</a:t>
            </a:r>
            <a:endParaRPr lang="en-US" sz="900" dirty="0"/>
          </a:p>
        </p:txBody>
      </p:sp>
      <p:sp>
        <p:nvSpPr>
          <p:cNvPr id="52" name="Text 50"/>
          <p:cNvSpPr/>
          <p:nvPr/>
        </p:nvSpPr>
        <p:spPr>
          <a:xfrm>
            <a:off x="14135100" y="44751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cmd · jhall</a:t>
            </a:r>
            <a:endParaRPr lang="en-US" sz="900" dirty="0"/>
          </a:p>
        </p:txBody>
      </p:sp>
      <p:sp>
        <p:nvSpPr>
          <p:cNvPr id="53" name="Text 51"/>
          <p:cNvSpPr/>
          <p:nvPr/>
        </p:nvSpPr>
        <p:spPr>
          <a:xfrm>
            <a:off x="15781437" y="44751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FFD27A"/>
                </a:solidFill>
                <a:latin typeface="Arial" pitchFamily="34" charset="0"/>
                <a:ea typeface="Arial" pitchFamily="34" charset="-122"/>
                <a:cs typeface="Arial" pitchFamily="34" charset="-120"/>
              </a:rPr>
              <a:t>sudo_exec</a:t>
            </a:r>
            <a:endParaRPr lang="en-US" sz="900" dirty="0"/>
          </a:p>
        </p:txBody>
      </p:sp>
      <p:sp>
        <p:nvSpPr>
          <p:cNvPr id="54" name="Text 52"/>
          <p:cNvSpPr/>
          <p:nvPr/>
        </p:nvSpPr>
        <p:spPr>
          <a:xfrm>
            <a:off x="10753725" y="47037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FFD27A"/>
                </a:solidFill>
                <a:latin typeface="Arial" pitchFamily="34" charset="0"/>
                <a:ea typeface="Arial" pitchFamily="34" charset="-122"/>
                <a:cs typeface="Arial" pitchFamily="34" charset="-120"/>
              </a:rPr>
              <a:t>15:54:23</a:t>
            </a:r>
            <a:endParaRPr lang="en-US" sz="900" dirty="0"/>
          </a:p>
        </p:txBody>
      </p:sp>
      <p:sp>
        <p:nvSpPr>
          <p:cNvPr id="55" name="Text 53"/>
          <p:cNvSpPr/>
          <p:nvPr/>
        </p:nvSpPr>
        <p:spPr>
          <a:xfrm>
            <a:off x="12755910" y="47037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b="1" dirty="0">
                <a:solidFill>
                  <a:srgbClr val="E8ECF4"/>
                </a:solidFill>
                <a:latin typeface="Arial" pitchFamily="34" charset="0"/>
                <a:ea typeface="Arial" pitchFamily="34" charset="-122"/>
                <a:cs typeface="Arial" pitchFamily="34" charset="-120"/>
              </a:rPr>
              <a:t>CRED_REFR</a:t>
            </a:r>
            <a:endParaRPr lang="en-US" sz="900" dirty="0"/>
          </a:p>
        </p:txBody>
      </p:sp>
      <p:sp>
        <p:nvSpPr>
          <p:cNvPr id="56" name="Text 54"/>
          <p:cNvSpPr/>
          <p:nvPr/>
        </p:nvSpPr>
        <p:spPr>
          <a:xfrm>
            <a:off x="14135100" y="47037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PAM:setcred · root</a:t>
            </a:r>
            <a:endParaRPr lang="en-US" sz="900" dirty="0"/>
          </a:p>
        </p:txBody>
      </p:sp>
      <p:sp>
        <p:nvSpPr>
          <p:cNvPr id="57" name="Text 55"/>
          <p:cNvSpPr/>
          <p:nvPr/>
        </p:nvSpPr>
        <p:spPr>
          <a:xfrm>
            <a:off x="15781437" y="47037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FFD27A"/>
                </a:solidFill>
                <a:latin typeface="Arial" pitchFamily="34" charset="0"/>
                <a:ea typeface="Arial" pitchFamily="34" charset="-122"/>
                <a:cs typeface="Arial" pitchFamily="34" charset="-120"/>
              </a:rPr>
              <a:t>sudo_exec</a:t>
            </a:r>
            <a:endParaRPr lang="en-US" sz="900" dirty="0"/>
          </a:p>
        </p:txBody>
      </p:sp>
      <p:sp>
        <p:nvSpPr>
          <p:cNvPr id="58" name="Text 56"/>
          <p:cNvSpPr/>
          <p:nvPr/>
        </p:nvSpPr>
        <p:spPr>
          <a:xfrm>
            <a:off x="10753725" y="4932313"/>
            <a:ext cx="1945035"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FFD27A"/>
                </a:solidFill>
                <a:latin typeface="Arial" pitchFamily="34" charset="0"/>
                <a:ea typeface="Arial" pitchFamily="34" charset="-122"/>
                <a:cs typeface="Arial" pitchFamily="34" charset="-120"/>
              </a:rPr>
              <a:t>15:54:23</a:t>
            </a:r>
            <a:endParaRPr lang="en-US" sz="900" dirty="0"/>
          </a:p>
        </p:txBody>
      </p:sp>
      <p:sp>
        <p:nvSpPr>
          <p:cNvPr id="59" name="Text 57"/>
          <p:cNvSpPr/>
          <p:nvPr/>
        </p:nvSpPr>
        <p:spPr>
          <a:xfrm>
            <a:off x="12755910" y="4932313"/>
            <a:ext cx="1322040"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b="1" dirty="0">
                <a:solidFill>
                  <a:srgbClr val="E8ECF4"/>
                </a:solidFill>
                <a:latin typeface="Arial" pitchFamily="34" charset="0"/>
                <a:ea typeface="Arial" pitchFamily="34" charset="-122"/>
                <a:cs typeface="Arial" pitchFamily="34" charset="-120"/>
              </a:rPr>
              <a:t>USER_START</a:t>
            </a:r>
            <a:endParaRPr lang="en-US" sz="900" dirty="0"/>
          </a:p>
        </p:txBody>
      </p:sp>
      <p:sp>
        <p:nvSpPr>
          <p:cNvPr id="60" name="Text 58"/>
          <p:cNvSpPr/>
          <p:nvPr/>
        </p:nvSpPr>
        <p:spPr>
          <a:xfrm>
            <a:off x="14135100" y="4932313"/>
            <a:ext cx="1589187"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C3CAD8"/>
                </a:solidFill>
                <a:latin typeface="Arial" pitchFamily="34" charset="0"/>
                <a:ea typeface="Arial" pitchFamily="34" charset="-122"/>
                <a:cs typeface="Arial" pitchFamily="34" charset="-120"/>
              </a:rPr>
              <a:t>PAM:session · root</a:t>
            </a:r>
            <a:endParaRPr lang="en-US" sz="900" dirty="0"/>
          </a:p>
        </p:txBody>
      </p:sp>
      <p:sp>
        <p:nvSpPr>
          <p:cNvPr id="61" name="Text 59"/>
          <p:cNvSpPr/>
          <p:nvPr/>
        </p:nvSpPr>
        <p:spPr>
          <a:xfrm>
            <a:off x="15781437" y="4932313"/>
            <a:ext cx="1411188" cy="209550"/>
          </a:xfrm>
          <a:prstGeom prst="rect">
            <a:avLst/>
          </a:prstGeom>
          <a:noFill/>
          <a:ln/>
        </p:spPr>
        <p:txBody>
          <a:bodyPr wrap="square" lIns="25400" tIns="25400" rIns="25400" bIns="25400" rtlCol="0" anchor="t">
            <a:normAutofit/>
          </a:bodyPr>
          <a:lstStyle/>
          <a:p>
            <a:pPr algn="l" indent="0" marL="0">
              <a:lnSpc>
                <a:spcPct val="150000"/>
              </a:lnSpc>
              <a:buNone/>
            </a:pPr>
            <a:r>
              <a:rPr lang="en-US" sz="900" dirty="0">
                <a:solidFill>
                  <a:srgbClr val="FFD27A"/>
                </a:solidFill>
                <a:latin typeface="Arial" pitchFamily="34" charset="0"/>
                <a:ea typeface="Arial" pitchFamily="34" charset="-122"/>
                <a:cs typeface="Arial" pitchFamily="34" charset="-120"/>
              </a:rPr>
              <a:t>sudo_session</a:t>
            </a:r>
            <a:endParaRPr lang="en-US" sz="900" dirty="0"/>
          </a:p>
        </p:txBody>
      </p:sp>
      <p:sp>
        <p:nvSpPr>
          <p:cNvPr id="62" name="Shape 60"/>
          <p:cNvSpPr/>
          <p:nvPr/>
        </p:nvSpPr>
        <p:spPr>
          <a:xfrm>
            <a:off x="10534650" y="5456188"/>
            <a:ext cx="6800850" cy="1337221"/>
          </a:xfrm>
          <a:prstGeom prst="rect">
            <a:avLst/>
          </a:prstGeom>
          <a:solidFill>
            <a:srgbClr val="FF5A4E">
              <a:alpha val="6000"/>
            </a:srgbClr>
          </a:solidFill>
          <a:ln/>
        </p:spPr>
      </p:sp>
      <p:sp>
        <p:nvSpPr>
          <p:cNvPr id="63" name="Shape 61"/>
          <p:cNvSpPr/>
          <p:nvPr/>
        </p:nvSpPr>
        <p:spPr>
          <a:xfrm>
            <a:off x="10534650" y="5456188"/>
            <a:ext cx="28575" cy="1337221"/>
          </a:xfrm>
          <a:prstGeom prst="rect">
            <a:avLst/>
          </a:prstGeom>
          <a:solidFill>
            <a:srgbClr val="FF5A4E"/>
          </a:solidFill>
          <a:ln/>
        </p:spPr>
      </p:sp>
      <p:sp>
        <p:nvSpPr>
          <p:cNvPr id="64" name="Text 62"/>
          <p:cNvSpPr/>
          <p:nvPr/>
        </p:nvSpPr>
        <p:spPr>
          <a:xfrm>
            <a:off x="10791825" y="5627638"/>
            <a:ext cx="6519101" cy="1032421"/>
          </a:xfrm>
          <a:prstGeom prst="rect">
            <a:avLst/>
          </a:prstGeom>
          <a:noFill/>
          <a:ln/>
        </p:spPr>
        <p:txBody>
          <a:bodyPr wrap="square" lIns="25400" tIns="25400" rIns="25400" bIns="25400" rtlCol="0" anchor="t">
            <a:normAutofit/>
          </a:bodyPr>
          <a:lstStyle/>
          <a:p>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One view, two bursts. </a:t>
            </a:r>
            <a:pPr algn="l" indent="0" marL="0">
              <a:lnSpc>
                <a:spcPct val="145000"/>
              </a:lnSpc>
              <a:buNone/>
            </a:pPr>
            <a:r>
              <a:rPr lang="en-US" sz="1800" i="1" dirty="0">
                <a:solidFill>
                  <a:srgbClr val="FF5A4E"/>
                </a:solidFill>
                <a:latin typeface="Arial" pitchFamily="34" charset="0"/>
                <a:ea typeface="Arial" pitchFamily="34" charset="-122"/>
                <a:cs typeface="Arial" pitchFamily="34" charset="-120"/>
              </a:rPr>
              <a:t>Burst 1 at 15:53:55 is su; burst 2 at 15:54:23 is sudo. </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The dashboard reads from this view, not from a giant ad-hoc join. The SQL is the abstraction.</a:t>
            </a:r>
            <a:endParaRPr lang="en-US" sz="1800" dirty="0"/>
          </a:p>
        </p:txBody>
      </p:sp>
      <p:sp>
        <p:nvSpPr>
          <p:cNvPr id="65" name="Shape 63"/>
          <p:cNvSpPr/>
          <p:nvPr/>
        </p:nvSpPr>
        <p:spPr>
          <a:xfrm>
            <a:off x="952500" y="9648825"/>
            <a:ext cx="16383000" cy="9525"/>
          </a:xfrm>
          <a:prstGeom prst="rect">
            <a:avLst/>
          </a:prstGeom>
          <a:solidFill>
            <a:srgbClr val="232A3A"/>
          </a:solidFill>
          <a:ln/>
        </p:spPr>
      </p:sp>
      <p:sp>
        <p:nvSpPr>
          <p:cNvPr id="66" name="Text 64"/>
          <p:cNvSpPr/>
          <p:nvPr/>
        </p:nvSpPr>
        <p:spPr>
          <a:xfrm>
            <a:off x="952500" y="9810750"/>
            <a:ext cx="2372916"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07 / 11 · NAMAN · 1:15</a:t>
            </a:r>
            <a:endParaRPr lang="en-US" sz="1200" dirty="0"/>
          </a:p>
        </p:txBody>
      </p:sp>
      <p:sp>
        <p:nvSpPr>
          <p:cNvPr id="67" name="Text 65"/>
          <p:cNvSpPr/>
          <p:nvPr/>
        </p:nvSpPr>
        <p:spPr>
          <a:xfrm>
            <a:off x="14579947" y="9810750"/>
            <a:ext cx="2838219"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DEEP DIVE 02 · SAVED VIEW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5561162"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DEEP DIVE 03 </a:t>
            </a:r>
            <a:pPr algn="l" indent="0" marL="0">
              <a:buNone/>
            </a:pPr>
            <a:r>
              <a:rPr lang="en-US" sz="1350" spc="243" kern="0" dirty="0">
                <a:solidFill>
                  <a:srgbClr val="C3CAD8"/>
                </a:solidFill>
                <a:latin typeface="Arial" pitchFamily="34" charset="0"/>
                <a:ea typeface="Arial" pitchFamily="34" charset="-122"/>
                <a:cs typeface="Arial" pitchFamily="34" charset="-120"/>
              </a:rPr>
              <a:t>/ EXISTS SUBQUERY + DISTINCT</a:t>
            </a:r>
            <a:endParaRPr lang="en-US" sz="1350" dirty="0"/>
          </a:p>
        </p:txBody>
      </p:sp>
      <p:sp>
        <p:nvSpPr>
          <p:cNvPr id="4" name="Text 2"/>
          <p:cNvSpPr/>
          <p:nvPr/>
        </p:nvSpPr>
        <p:spPr>
          <a:xfrm>
            <a:off x="10336560" y="628650"/>
            <a:ext cx="7208908"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ISHAAN · </a:t>
            </a:r>
            <a:pPr algn="l" indent="0" marL="0">
              <a:buNone/>
            </a:pPr>
            <a:r>
              <a:rPr lang="en-US" sz="1242" spc="243" kern="0" dirty="0">
                <a:solidFill>
                  <a:srgbClr val="E8ECF4"/>
                </a:solidFill>
                <a:latin typeface="Arial" pitchFamily="34" charset="0"/>
                <a:ea typeface="Arial" pitchFamily="34" charset="-122"/>
                <a:cs typeface="Arial" pitchFamily="34" charset="-120"/>
              </a:rPr>
              <a:t>ISHAAN_AUDIT_TYPES_IN_PRIVILEGE_ESCALATION.SQL</a:t>
            </a:r>
            <a:endParaRPr lang="en-US" sz="1350" dirty="0"/>
          </a:p>
        </p:txBody>
      </p:sp>
      <p:sp>
        <p:nvSpPr>
          <p:cNvPr id="5" name="Text 3"/>
          <p:cNvSpPr/>
          <p:nvPr/>
        </p:nvSpPr>
        <p:spPr>
          <a:xfrm>
            <a:off x="952500" y="1600200"/>
            <a:ext cx="16874490" cy="1107877"/>
          </a:xfrm>
          <a:prstGeom prst="rect">
            <a:avLst/>
          </a:prstGeom>
          <a:noFill/>
          <a:ln/>
        </p:spPr>
        <p:txBody>
          <a:bodyPr wrap="square" lIns="25400" tIns="25400" rIns="25400" bIns="25400" rtlCol="0" anchor="t">
            <a:normAutofit/>
          </a:bodyPr>
          <a:lstStyle/>
          <a:p>
            <a:pPr algn="l" indent="0" marL="0">
              <a:lnSpc>
                <a:spcPct val="108000"/>
              </a:lnSpc>
              <a:buNone/>
            </a:pPr>
            <a:r>
              <a:rPr lang="en-US" sz="3900" spc="-47" kern="0" dirty="0">
                <a:solidFill>
                  <a:srgbClr val="E8ECF4"/>
                </a:solidFill>
                <a:latin typeface="Arial" pitchFamily="34" charset="0"/>
                <a:ea typeface="Arial" pitchFamily="34" charset="-122"/>
                <a:cs typeface="Arial" pitchFamily="34" charset="-120"/>
              </a:rPr>
              <a:t>Which audit types fire on </a:t>
            </a:r>
            <a:pPr algn="l" indent="0" marL="0">
              <a:lnSpc>
                <a:spcPct val="108000"/>
              </a:lnSpc>
              <a:buNone/>
            </a:pPr>
            <a:r>
              <a:rPr lang="en-US" sz="3588" spc="-47" kern="0" dirty="0">
                <a:solidFill>
                  <a:srgbClr val="E8ECF4"/>
                </a:solidFill>
                <a:highlight>
                  <a:srgbClr val="1C2230"/>
                </a:highlight>
                <a:latin typeface="Arial" pitchFamily="34" charset="0"/>
                <a:ea typeface="Arial" pitchFamily="34" charset="-122"/>
                <a:cs typeface="Arial" pitchFamily="34" charset="-120"/>
              </a:rPr>
              <a:t>intranet_server </a:t>
            </a:r>
            <a:pPr algn="l" indent="0" marL="0">
              <a:lnSpc>
                <a:spcPct val="108000"/>
              </a:lnSpc>
              <a:buNone/>
            </a:pPr>
            <a:r>
              <a:rPr lang="en-US" sz="3900" spc="-47" kern="0" dirty="0">
                <a:solidFill>
                  <a:srgbClr val="E8ECF4"/>
                </a:solidFill>
                <a:latin typeface="Arial" pitchFamily="34" charset="0"/>
                <a:ea typeface="Arial" pitchFamily="34" charset="-122"/>
                <a:cs typeface="Arial" pitchFamily="34" charset="-120"/>
              </a:rPr>
              <a:t>lines that carry a privilege_escalation label?</a:t>
            </a:r>
            <a:endParaRPr lang="en-US" sz="3900" dirty="0"/>
          </a:p>
        </p:txBody>
      </p:sp>
      <p:sp>
        <p:nvSpPr>
          <p:cNvPr id="6" name="Shape 4"/>
          <p:cNvSpPr/>
          <p:nvPr/>
        </p:nvSpPr>
        <p:spPr>
          <a:xfrm>
            <a:off x="952500" y="3012877"/>
            <a:ext cx="8320980" cy="4491038"/>
          </a:xfrm>
          <a:prstGeom prst="roundRect">
            <a:avLst>
              <a:gd name="adj" fmla="val 1273"/>
            </a:avLst>
          </a:prstGeom>
          <a:solidFill>
            <a:srgbClr val="1C2230"/>
          </a:solidFill>
          <a:ln w="9525">
            <a:solidFill>
              <a:srgbClr val="2C3548"/>
            </a:solidFill>
            <a:prstDash val="solid"/>
          </a:ln>
        </p:spPr>
      </p:sp>
      <p:sp>
        <p:nvSpPr>
          <p:cNvPr id="7" name="Text 5"/>
          <p:cNvSpPr/>
          <p:nvPr/>
        </p:nvSpPr>
        <p:spPr>
          <a:xfrm>
            <a:off x="1228725" y="3251002"/>
            <a:ext cx="8018160" cy="4052888"/>
          </a:xfrm>
          <a:prstGeom prst="rect">
            <a:avLst/>
          </a:prstGeom>
          <a:noFill/>
          <a:ln/>
        </p:spPr>
        <p:txBody>
          <a:bodyPr wrap="square" lIns="25400" tIns="25400" rIns="25400" bIns="25400" rtlCol="0" anchor="t">
            <a:normAutofit/>
          </a:bodyPr>
          <a:lstStyle/>
          <a:p>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SELECT DISTINCT</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ae.type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AS</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audit_type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FROM</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audit_event ae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JOIN</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host h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ON</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h.host_id = ae.host_id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WHERE</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h.host_key = </a:t>
            </a:r>
            <a:pPr algn="l" indent="0" marL="0">
              <a:lnSpc>
                <a:spcPct val="155000"/>
              </a:lnSpc>
              <a:buNone/>
            </a:pPr>
            <a:r>
              <a:rPr lang="en-US" sz="1275" dirty="0">
                <a:solidFill>
                  <a:srgbClr val="7DDCA0"/>
                </a:solidFill>
                <a:latin typeface="Arial" pitchFamily="34" charset="0"/>
                <a:ea typeface="Arial" pitchFamily="34" charset="-122"/>
                <a:cs typeface="Arial" pitchFamily="34" charset="-120"/>
              </a:rPr>
              <a:t>'intranet_server'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AND EXISTS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endParaRPr lang="en-US" sz="1275" dirty="0"/>
          </a:p>
          <a:p>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endParaRPr lang="en-US" sz="1275" dirty="0"/>
          </a:p>
          <a:p>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SELECT</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275" dirty="0">
                <a:solidFill>
                  <a:srgbClr val="F7C97A"/>
                </a:solidFill>
                <a:latin typeface="Arial" pitchFamily="34" charset="0"/>
                <a:ea typeface="Arial" pitchFamily="34" charset="-122"/>
                <a:cs typeface="Arial" pitchFamily="34" charset="-120"/>
              </a:rPr>
              <a:t>1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FROM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labeled_line ll</a:t>
            </a:r>
            <a:endParaRPr lang="en-US" sz="1275" dirty="0"/>
          </a:p>
          <a:p>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endParaRPr lang="en-US" sz="1275" dirty="0"/>
          </a:p>
          <a:p>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JOIN</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labeled_line_label lll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ON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lll.labeled_line_id = ll.labeled_line_id</a:t>
            </a:r>
            <a:endParaRPr lang="en-US" sz="1275" dirty="0"/>
          </a:p>
          <a:p>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endParaRPr lang="en-US" sz="1275" dirty="0"/>
          </a:p>
          <a:p>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JOIN</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attack_label al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ON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al.label_id = lll.label_id</a:t>
            </a:r>
            <a:endParaRPr lang="en-US" sz="1275" dirty="0"/>
          </a:p>
          <a:p>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endParaRPr lang="en-US" sz="1275" dirty="0"/>
          </a:p>
          <a:p>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JOIN</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attack_phase ap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ON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ap.phase_id = al.phase_id</a:t>
            </a:r>
            <a:endParaRPr lang="en-US" sz="1275" dirty="0"/>
          </a:p>
          <a:p>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endParaRPr lang="en-US" sz="1275" dirty="0"/>
          </a:p>
          <a:p>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WHERE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ll.source_host = h.host_key</a:t>
            </a:r>
            <a:endParaRPr lang="en-US" sz="1275" dirty="0"/>
          </a:p>
          <a:p>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endParaRPr lang="en-US" sz="1275" dirty="0"/>
          </a:p>
          <a:p>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AND</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ll.source_log  = </a:t>
            </a:r>
            <a:pPr algn="l" indent="0" marL="0">
              <a:lnSpc>
                <a:spcPct val="155000"/>
              </a:lnSpc>
              <a:buNone/>
            </a:pPr>
            <a:r>
              <a:rPr lang="en-US" sz="1275" dirty="0">
                <a:solidFill>
                  <a:srgbClr val="7DDCA0"/>
                </a:solidFill>
                <a:latin typeface="Arial" pitchFamily="34" charset="0"/>
                <a:ea typeface="Arial" pitchFamily="34" charset="-122"/>
                <a:cs typeface="Arial" pitchFamily="34" charset="-120"/>
              </a:rPr>
              <a:t>'audit.log'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AND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ll.line_number = ae.line_number</a:t>
            </a:r>
            <a:endParaRPr lang="en-US" sz="1275" dirty="0"/>
          </a:p>
          <a:p>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t>
            </a:r>
            <a:endParaRPr lang="en-US" sz="1275" dirty="0"/>
          </a:p>
          <a:p>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AND</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ap.phase_name  = </a:t>
            </a:r>
            <a:pPr algn="l" indent="0" marL="0">
              <a:lnSpc>
                <a:spcPct val="155000"/>
              </a:lnSpc>
              <a:buNone/>
            </a:pPr>
            <a:r>
              <a:rPr lang="en-US" sz="1275" dirty="0">
                <a:solidFill>
                  <a:srgbClr val="7DDCA0"/>
                </a:solidFill>
                <a:latin typeface="Arial" pitchFamily="34" charset="0"/>
                <a:ea typeface="Arial" pitchFamily="34" charset="-122"/>
                <a:cs typeface="Arial" pitchFamily="34" charset="-120"/>
              </a:rPr>
              <a:t>'privilege_escalation' </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 </a:t>
            </a:r>
            <a:pPr algn="l" indent="0" marL="0">
              <a:lnSpc>
                <a:spcPct val="155000"/>
              </a:lnSpc>
              <a:buNone/>
            </a:pPr>
            <a:r>
              <a:rPr lang="en-US" sz="1275" dirty="0">
                <a:solidFill>
                  <a:srgbClr val="FF8FB3"/>
                </a:solidFill>
                <a:latin typeface="Arial" pitchFamily="34" charset="0"/>
                <a:ea typeface="Arial" pitchFamily="34" charset="-122"/>
                <a:cs typeface="Arial" pitchFamily="34" charset="-120"/>
              </a:rPr>
              <a:t>ORDER BY</a:t>
            </a:r>
            <a:pPr algn="l" indent="0" marL="0">
              <a:lnSpc>
                <a:spcPct val="155000"/>
              </a:lnSpc>
              <a:buNone/>
            </a:pPr>
            <a:r>
              <a:rPr lang="en-US" sz="1275" dirty="0">
                <a:solidFill>
                  <a:srgbClr val="E8ECF4"/>
                </a:solidFill>
                <a:highlight>
                  <a:srgbClr val="1C2230"/>
                </a:highlight>
                <a:latin typeface="Arial" pitchFamily="34" charset="0"/>
                <a:ea typeface="Arial" pitchFamily="34" charset="-122"/>
                <a:cs typeface="Arial" pitchFamily="34" charset="-120"/>
              </a:rPr>
              <a:t> audit_type;</a:t>
            </a:r>
            <a:endParaRPr lang="en-US" sz="1275" dirty="0"/>
          </a:p>
        </p:txBody>
      </p:sp>
      <p:sp>
        <p:nvSpPr>
          <p:cNvPr id="8" name="Shape 6"/>
          <p:cNvSpPr/>
          <p:nvPr/>
        </p:nvSpPr>
        <p:spPr>
          <a:xfrm>
            <a:off x="952500" y="7732514"/>
            <a:ext cx="2659261" cy="9525"/>
          </a:xfrm>
          <a:prstGeom prst="rect">
            <a:avLst/>
          </a:prstGeom>
          <a:solidFill>
            <a:srgbClr val="2C3548"/>
          </a:solidFill>
          <a:ln/>
        </p:spPr>
      </p:sp>
      <p:sp>
        <p:nvSpPr>
          <p:cNvPr id="9" name="Text 7"/>
          <p:cNvSpPr/>
          <p:nvPr/>
        </p:nvSpPr>
        <p:spPr>
          <a:xfrm>
            <a:off x="952500" y="7875389"/>
            <a:ext cx="2739039"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PATTERN</a:t>
            </a:r>
            <a:endParaRPr lang="en-US" sz="975" dirty="0"/>
          </a:p>
        </p:txBody>
      </p:sp>
      <p:sp>
        <p:nvSpPr>
          <p:cNvPr id="10" name="Text 8"/>
          <p:cNvSpPr/>
          <p:nvPr/>
        </p:nvSpPr>
        <p:spPr>
          <a:xfrm>
            <a:off x="952500" y="8094464"/>
            <a:ext cx="2739039" cy="247650"/>
          </a:xfrm>
          <a:prstGeom prst="rect">
            <a:avLst/>
          </a:prstGeom>
          <a:noFill/>
          <a:ln/>
        </p:spPr>
        <p:txBody>
          <a:bodyPr wrap="square" lIns="25400" tIns="25400" rIns="25400" bIns="25400" rtlCol="0" anchor="t">
            <a:normAutofit/>
          </a:bodyPr>
          <a:lstStyle/>
          <a:p>
            <a:pPr algn="l" indent="0" marL="0">
              <a:lnSpc>
                <a:spcPct val="100000"/>
              </a:lnSpc>
              <a:buNone/>
            </a:pPr>
            <a:r>
              <a:rPr lang="en-US" sz="1650" dirty="0">
                <a:solidFill>
                  <a:srgbClr val="E8ECF4"/>
                </a:solidFill>
                <a:latin typeface="Arial" pitchFamily="34" charset="0"/>
                <a:ea typeface="Arial" pitchFamily="34" charset="-122"/>
                <a:cs typeface="Arial" pitchFamily="34" charset="-120"/>
              </a:rPr>
              <a:t>EXISTS · 4-tbl body</a:t>
            </a:r>
            <a:endParaRPr lang="en-US" sz="1650" dirty="0"/>
          </a:p>
        </p:txBody>
      </p:sp>
      <p:sp>
        <p:nvSpPr>
          <p:cNvPr id="11" name="Shape 9"/>
          <p:cNvSpPr/>
          <p:nvPr/>
        </p:nvSpPr>
        <p:spPr>
          <a:xfrm>
            <a:off x="3783211" y="7732514"/>
            <a:ext cx="2659410" cy="9525"/>
          </a:xfrm>
          <a:prstGeom prst="rect">
            <a:avLst/>
          </a:prstGeom>
          <a:solidFill>
            <a:srgbClr val="2C3548"/>
          </a:solidFill>
          <a:ln/>
        </p:spPr>
      </p:sp>
      <p:sp>
        <p:nvSpPr>
          <p:cNvPr id="12" name="Text 10"/>
          <p:cNvSpPr/>
          <p:nvPr/>
        </p:nvSpPr>
        <p:spPr>
          <a:xfrm>
            <a:off x="3783211" y="7875389"/>
            <a:ext cx="2739192"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RESULT</a:t>
            </a:r>
            <a:endParaRPr lang="en-US" sz="975" dirty="0"/>
          </a:p>
        </p:txBody>
      </p:sp>
      <p:sp>
        <p:nvSpPr>
          <p:cNvPr id="13" name="Text 11"/>
          <p:cNvSpPr/>
          <p:nvPr/>
        </p:nvSpPr>
        <p:spPr>
          <a:xfrm>
            <a:off x="3783211" y="8094464"/>
            <a:ext cx="2739192" cy="247650"/>
          </a:xfrm>
          <a:prstGeom prst="rect">
            <a:avLst/>
          </a:prstGeom>
          <a:noFill/>
          <a:ln/>
        </p:spPr>
        <p:txBody>
          <a:bodyPr wrap="square" lIns="25400" tIns="25400" rIns="25400" bIns="25400" rtlCol="0" anchor="t">
            <a:normAutofit/>
          </a:bodyPr>
          <a:lstStyle/>
          <a:p>
            <a:pPr algn="l" indent="0" marL="0">
              <a:lnSpc>
                <a:spcPct val="100000"/>
              </a:lnSpc>
              <a:buNone/>
            </a:pPr>
            <a:r>
              <a:rPr lang="en-US" sz="1650" dirty="0">
                <a:solidFill>
                  <a:srgbClr val="E8ECF4"/>
                </a:solidFill>
                <a:latin typeface="Arial" pitchFamily="34" charset="0"/>
                <a:ea typeface="Arial" pitchFamily="34" charset="-122"/>
                <a:cs typeface="Arial" pitchFamily="34" charset="-120"/>
              </a:rPr>
              <a:t>8 rows</a:t>
            </a:r>
            <a:endParaRPr lang="en-US" sz="1650" dirty="0"/>
          </a:p>
        </p:txBody>
      </p:sp>
      <p:sp>
        <p:nvSpPr>
          <p:cNvPr id="14" name="Shape 12"/>
          <p:cNvSpPr/>
          <p:nvPr/>
        </p:nvSpPr>
        <p:spPr>
          <a:xfrm>
            <a:off x="6614071" y="7732514"/>
            <a:ext cx="2659261" cy="9525"/>
          </a:xfrm>
          <a:prstGeom prst="rect">
            <a:avLst/>
          </a:prstGeom>
          <a:solidFill>
            <a:srgbClr val="2C3548"/>
          </a:solidFill>
          <a:ln/>
        </p:spPr>
      </p:sp>
      <p:sp>
        <p:nvSpPr>
          <p:cNvPr id="15" name="Text 13"/>
          <p:cNvSpPr/>
          <p:nvPr/>
        </p:nvSpPr>
        <p:spPr>
          <a:xfrm>
            <a:off x="6614071" y="7875389"/>
            <a:ext cx="2739039"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RUNTIME</a:t>
            </a:r>
            <a:endParaRPr lang="en-US" sz="975" dirty="0"/>
          </a:p>
        </p:txBody>
      </p:sp>
      <p:sp>
        <p:nvSpPr>
          <p:cNvPr id="16" name="Text 14"/>
          <p:cNvSpPr/>
          <p:nvPr/>
        </p:nvSpPr>
        <p:spPr>
          <a:xfrm>
            <a:off x="6614071" y="8094464"/>
            <a:ext cx="2739039" cy="247650"/>
          </a:xfrm>
          <a:prstGeom prst="rect">
            <a:avLst/>
          </a:prstGeom>
          <a:noFill/>
          <a:ln/>
        </p:spPr>
        <p:txBody>
          <a:bodyPr wrap="square" lIns="25400" tIns="25400" rIns="25400" bIns="25400" rtlCol="0" anchor="t">
            <a:normAutofit/>
          </a:bodyPr>
          <a:lstStyle/>
          <a:p>
            <a:pPr algn="l" indent="0" marL="0">
              <a:lnSpc>
                <a:spcPct val="100000"/>
              </a:lnSpc>
              <a:buNone/>
            </a:pPr>
            <a:r>
              <a:rPr lang="en-US" sz="1650" dirty="0">
                <a:solidFill>
                  <a:srgbClr val="E8ECF4"/>
                </a:solidFill>
                <a:latin typeface="Arial" pitchFamily="34" charset="0"/>
                <a:ea typeface="Arial" pitchFamily="34" charset="-122"/>
                <a:cs typeface="Arial" pitchFamily="34" charset="-120"/>
              </a:rPr>
              <a:t>0.233 s</a:t>
            </a:r>
            <a:endParaRPr lang="en-US" sz="1650" dirty="0"/>
          </a:p>
        </p:txBody>
      </p:sp>
      <p:sp>
        <p:nvSpPr>
          <p:cNvPr id="17" name="Shape 15"/>
          <p:cNvSpPr/>
          <p:nvPr/>
        </p:nvSpPr>
        <p:spPr>
          <a:xfrm>
            <a:off x="9806880" y="3012877"/>
            <a:ext cx="3678436" cy="2219325"/>
          </a:xfrm>
          <a:prstGeom prst="roundRect">
            <a:avLst>
              <a:gd name="adj" fmla="val 3433"/>
            </a:avLst>
          </a:prstGeom>
          <a:solidFill>
            <a:srgbClr val="141923"/>
          </a:solidFill>
          <a:ln/>
        </p:spPr>
      </p:sp>
      <p:sp>
        <p:nvSpPr>
          <p:cNvPr id="18" name="Shape 16"/>
          <p:cNvSpPr/>
          <p:nvPr/>
        </p:nvSpPr>
        <p:spPr>
          <a:xfrm>
            <a:off x="9806880" y="5222677"/>
            <a:ext cx="3678436" cy="9525"/>
          </a:xfrm>
          <a:prstGeom prst="rect">
            <a:avLst/>
          </a:prstGeom>
          <a:solidFill>
            <a:srgbClr val="232A3A"/>
          </a:solidFill>
          <a:ln/>
        </p:spPr>
      </p:sp>
      <p:sp>
        <p:nvSpPr>
          <p:cNvPr id="19" name="Shape 17"/>
          <p:cNvSpPr/>
          <p:nvPr/>
        </p:nvSpPr>
        <p:spPr>
          <a:xfrm>
            <a:off x="9806880" y="3012877"/>
            <a:ext cx="3678436" cy="9525"/>
          </a:xfrm>
          <a:prstGeom prst="rect">
            <a:avLst/>
          </a:prstGeom>
          <a:solidFill>
            <a:srgbClr val="232A3A"/>
          </a:solidFill>
          <a:ln/>
        </p:spPr>
      </p:sp>
      <p:sp>
        <p:nvSpPr>
          <p:cNvPr id="20" name="Shape 18"/>
          <p:cNvSpPr/>
          <p:nvPr/>
        </p:nvSpPr>
        <p:spPr>
          <a:xfrm>
            <a:off x="9806880" y="3012877"/>
            <a:ext cx="38100" cy="2219325"/>
          </a:xfrm>
          <a:prstGeom prst="rect">
            <a:avLst/>
          </a:prstGeom>
          <a:solidFill>
            <a:srgbClr val="FF5A4E"/>
          </a:solidFill>
          <a:ln/>
        </p:spPr>
      </p:sp>
      <p:sp>
        <p:nvSpPr>
          <p:cNvPr id="21" name="Shape 19"/>
          <p:cNvSpPr/>
          <p:nvPr/>
        </p:nvSpPr>
        <p:spPr>
          <a:xfrm>
            <a:off x="13475791" y="3012877"/>
            <a:ext cx="9525" cy="2219325"/>
          </a:xfrm>
          <a:prstGeom prst="rect">
            <a:avLst/>
          </a:prstGeom>
          <a:solidFill>
            <a:srgbClr val="232A3A"/>
          </a:solidFill>
          <a:ln/>
        </p:spPr>
      </p:sp>
      <p:sp>
        <p:nvSpPr>
          <p:cNvPr id="22" name="Text 20"/>
          <p:cNvSpPr/>
          <p:nvPr/>
        </p:nvSpPr>
        <p:spPr>
          <a:xfrm>
            <a:off x="10073580" y="3231952"/>
            <a:ext cx="3268819" cy="190500"/>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FF5A4E"/>
                </a:solidFill>
                <a:latin typeface="Arial" pitchFamily="34" charset="0"/>
                <a:ea typeface="Arial" pitchFamily="34" charset="-122"/>
                <a:cs typeface="Arial" pitchFamily="34" charset="-120"/>
              </a:rPr>
              <a:t>CRED FAMILY · 3</a:t>
            </a:r>
            <a:endParaRPr lang="en-US" sz="1050" dirty="0"/>
          </a:p>
        </p:txBody>
      </p:sp>
      <p:sp>
        <p:nvSpPr>
          <p:cNvPr id="23" name="Shape 21"/>
          <p:cNvSpPr/>
          <p:nvPr/>
        </p:nvSpPr>
        <p:spPr>
          <a:xfrm>
            <a:off x="10073580" y="3536752"/>
            <a:ext cx="1201787" cy="428625"/>
          </a:xfrm>
          <a:prstGeom prst="roundRect">
            <a:avLst>
              <a:gd name="adj" fmla="val 8889"/>
            </a:avLst>
          </a:prstGeom>
          <a:solidFill>
            <a:srgbClr val="FF5A4E">
              <a:alpha val="16000"/>
            </a:srgbClr>
          </a:solidFill>
          <a:ln w="9525">
            <a:solidFill>
              <a:srgbClr val="FF5A4E">
                <a:alpha val="55000"/>
              </a:srgbClr>
            </a:solidFill>
            <a:prstDash val="solid"/>
          </a:ln>
        </p:spPr>
      </p:sp>
      <p:sp>
        <p:nvSpPr>
          <p:cNvPr id="24" name="Text 22"/>
          <p:cNvSpPr/>
          <p:nvPr/>
        </p:nvSpPr>
        <p:spPr>
          <a:xfrm>
            <a:off x="10235505" y="3641527"/>
            <a:ext cx="954137" cy="257175"/>
          </a:xfrm>
          <a:prstGeom prst="rect">
            <a:avLst/>
          </a:prstGeom>
          <a:noFill/>
          <a:ln/>
        </p:spPr>
        <p:txBody>
          <a:bodyPr wrap="square" lIns="25400" tIns="25400" rIns="25400" bIns="25400" rtlCol="0" anchor="t">
            <a:normAutofit/>
          </a:bodyPr>
          <a:lstStyle/>
          <a:p>
            <a:pPr algn="l" indent="0" marL="0">
              <a:buNone/>
            </a:pPr>
            <a:r>
              <a:rPr lang="en-US" sz="1350" spc="54" kern="0" dirty="0">
                <a:solidFill>
                  <a:srgbClr val="FFB4AD"/>
                </a:solidFill>
                <a:latin typeface="Arial" pitchFamily="34" charset="0"/>
                <a:ea typeface="Arial" pitchFamily="34" charset="-122"/>
                <a:cs typeface="Arial" pitchFamily="34" charset="-120"/>
              </a:rPr>
              <a:t>CRED_ACQ</a:t>
            </a:r>
            <a:endParaRPr lang="en-US" sz="1350" dirty="0"/>
          </a:p>
        </p:txBody>
      </p:sp>
      <p:sp>
        <p:nvSpPr>
          <p:cNvPr id="25" name="Shape 23"/>
          <p:cNvSpPr/>
          <p:nvPr/>
        </p:nvSpPr>
        <p:spPr>
          <a:xfrm>
            <a:off x="11370618" y="3536752"/>
            <a:ext cx="1311473" cy="428625"/>
          </a:xfrm>
          <a:prstGeom prst="roundRect">
            <a:avLst>
              <a:gd name="adj" fmla="val 8889"/>
            </a:avLst>
          </a:prstGeom>
          <a:solidFill>
            <a:srgbClr val="FF5A4E">
              <a:alpha val="16000"/>
            </a:srgbClr>
          </a:solidFill>
          <a:ln w="9525">
            <a:solidFill>
              <a:srgbClr val="FF5A4E">
                <a:alpha val="55000"/>
              </a:srgbClr>
            </a:solidFill>
            <a:prstDash val="solid"/>
          </a:ln>
        </p:spPr>
      </p:sp>
      <p:sp>
        <p:nvSpPr>
          <p:cNvPr id="26" name="Text 24"/>
          <p:cNvSpPr/>
          <p:nvPr/>
        </p:nvSpPr>
        <p:spPr>
          <a:xfrm>
            <a:off x="11532543" y="3641527"/>
            <a:ext cx="1063823" cy="257175"/>
          </a:xfrm>
          <a:prstGeom prst="rect">
            <a:avLst/>
          </a:prstGeom>
          <a:noFill/>
          <a:ln/>
        </p:spPr>
        <p:txBody>
          <a:bodyPr wrap="square" lIns="25400" tIns="25400" rIns="25400" bIns="25400" rtlCol="0" anchor="t">
            <a:normAutofit/>
          </a:bodyPr>
          <a:lstStyle/>
          <a:p>
            <a:pPr algn="l" indent="0" marL="0">
              <a:buNone/>
            </a:pPr>
            <a:r>
              <a:rPr lang="en-US" sz="1350" spc="54" kern="0" dirty="0">
                <a:solidFill>
                  <a:srgbClr val="FFB4AD"/>
                </a:solidFill>
                <a:latin typeface="Arial" pitchFamily="34" charset="0"/>
                <a:ea typeface="Arial" pitchFamily="34" charset="-122"/>
                <a:cs typeface="Arial" pitchFamily="34" charset="-120"/>
              </a:rPr>
              <a:t>CRED_DISP</a:t>
            </a:r>
            <a:endParaRPr lang="en-US" sz="1350" dirty="0"/>
          </a:p>
        </p:txBody>
      </p:sp>
      <p:sp>
        <p:nvSpPr>
          <p:cNvPr id="27" name="Shape 25"/>
          <p:cNvSpPr/>
          <p:nvPr/>
        </p:nvSpPr>
        <p:spPr>
          <a:xfrm>
            <a:off x="10073580" y="4060627"/>
            <a:ext cx="1311473" cy="428625"/>
          </a:xfrm>
          <a:prstGeom prst="roundRect">
            <a:avLst>
              <a:gd name="adj" fmla="val 8889"/>
            </a:avLst>
          </a:prstGeom>
          <a:solidFill>
            <a:srgbClr val="FF5A4E">
              <a:alpha val="16000"/>
            </a:srgbClr>
          </a:solidFill>
          <a:ln w="9525">
            <a:solidFill>
              <a:srgbClr val="FF5A4E">
                <a:alpha val="55000"/>
              </a:srgbClr>
            </a:solidFill>
            <a:prstDash val="solid"/>
          </a:ln>
        </p:spPr>
      </p:sp>
      <p:sp>
        <p:nvSpPr>
          <p:cNvPr id="28" name="Text 26"/>
          <p:cNvSpPr/>
          <p:nvPr/>
        </p:nvSpPr>
        <p:spPr>
          <a:xfrm>
            <a:off x="10235505" y="4165402"/>
            <a:ext cx="1063823" cy="257175"/>
          </a:xfrm>
          <a:prstGeom prst="rect">
            <a:avLst/>
          </a:prstGeom>
          <a:noFill/>
          <a:ln/>
        </p:spPr>
        <p:txBody>
          <a:bodyPr wrap="square" lIns="25400" tIns="25400" rIns="25400" bIns="25400" rtlCol="0" anchor="t">
            <a:normAutofit/>
          </a:bodyPr>
          <a:lstStyle/>
          <a:p>
            <a:pPr algn="l" indent="0" marL="0">
              <a:buNone/>
            </a:pPr>
            <a:r>
              <a:rPr lang="en-US" sz="1350" spc="54" kern="0" dirty="0">
                <a:solidFill>
                  <a:srgbClr val="FFB4AD"/>
                </a:solidFill>
                <a:latin typeface="Arial" pitchFamily="34" charset="0"/>
                <a:ea typeface="Arial" pitchFamily="34" charset="-122"/>
                <a:cs typeface="Arial" pitchFamily="34" charset="-120"/>
              </a:rPr>
              <a:t>CRED_REFR</a:t>
            </a:r>
            <a:endParaRPr lang="en-US" sz="1350" dirty="0"/>
          </a:p>
        </p:txBody>
      </p:sp>
      <p:sp>
        <p:nvSpPr>
          <p:cNvPr id="29" name="Shape 27"/>
          <p:cNvSpPr/>
          <p:nvPr/>
        </p:nvSpPr>
        <p:spPr>
          <a:xfrm>
            <a:off x="13656766" y="3012877"/>
            <a:ext cx="3678585" cy="2219325"/>
          </a:xfrm>
          <a:prstGeom prst="roundRect">
            <a:avLst>
              <a:gd name="adj" fmla="val 3433"/>
            </a:avLst>
          </a:prstGeom>
          <a:solidFill>
            <a:srgbClr val="141923"/>
          </a:solidFill>
          <a:ln/>
        </p:spPr>
      </p:sp>
      <p:sp>
        <p:nvSpPr>
          <p:cNvPr id="30" name="Shape 28"/>
          <p:cNvSpPr/>
          <p:nvPr/>
        </p:nvSpPr>
        <p:spPr>
          <a:xfrm>
            <a:off x="13656766" y="5222677"/>
            <a:ext cx="3678585" cy="9525"/>
          </a:xfrm>
          <a:prstGeom prst="rect">
            <a:avLst/>
          </a:prstGeom>
          <a:solidFill>
            <a:srgbClr val="232A3A"/>
          </a:solidFill>
          <a:ln/>
        </p:spPr>
      </p:sp>
      <p:sp>
        <p:nvSpPr>
          <p:cNvPr id="31" name="Shape 29"/>
          <p:cNvSpPr/>
          <p:nvPr/>
        </p:nvSpPr>
        <p:spPr>
          <a:xfrm>
            <a:off x="13656766" y="3012877"/>
            <a:ext cx="3678585" cy="9525"/>
          </a:xfrm>
          <a:prstGeom prst="rect">
            <a:avLst/>
          </a:prstGeom>
          <a:solidFill>
            <a:srgbClr val="232A3A"/>
          </a:solidFill>
          <a:ln/>
        </p:spPr>
      </p:sp>
      <p:sp>
        <p:nvSpPr>
          <p:cNvPr id="32" name="Shape 30"/>
          <p:cNvSpPr/>
          <p:nvPr/>
        </p:nvSpPr>
        <p:spPr>
          <a:xfrm>
            <a:off x="13656766" y="3012877"/>
            <a:ext cx="38100" cy="2219325"/>
          </a:xfrm>
          <a:prstGeom prst="rect">
            <a:avLst/>
          </a:prstGeom>
          <a:solidFill>
            <a:srgbClr val="4EA8FF"/>
          </a:solidFill>
          <a:ln/>
        </p:spPr>
      </p:sp>
      <p:sp>
        <p:nvSpPr>
          <p:cNvPr id="33" name="Shape 31"/>
          <p:cNvSpPr/>
          <p:nvPr/>
        </p:nvSpPr>
        <p:spPr>
          <a:xfrm>
            <a:off x="17325826" y="3012877"/>
            <a:ext cx="9525" cy="2219325"/>
          </a:xfrm>
          <a:prstGeom prst="rect">
            <a:avLst/>
          </a:prstGeom>
          <a:solidFill>
            <a:srgbClr val="232A3A"/>
          </a:solidFill>
          <a:ln/>
        </p:spPr>
      </p:sp>
      <p:sp>
        <p:nvSpPr>
          <p:cNvPr id="34" name="Text 32"/>
          <p:cNvSpPr/>
          <p:nvPr/>
        </p:nvSpPr>
        <p:spPr>
          <a:xfrm>
            <a:off x="13923466" y="3231952"/>
            <a:ext cx="3268973" cy="190500"/>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4EA8FF"/>
                </a:solidFill>
                <a:latin typeface="Arial" pitchFamily="34" charset="0"/>
                <a:ea typeface="Arial" pitchFamily="34" charset="-122"/>
                <a:cs typeface="Arial" pitchFamily="34" charset="-120"/>
              </a:rPr>
              <a:t>USER FAMILY · 5</a:t>
            </a:r>
            <a:endParaRPr lang="en-US" sz="1050" dirty="0"/>
          </a:p>
        </p:txBody>
      </p:sp>
      <p:sp>
        <p:nvSpPr>
          <p:cNvPr id="35" name="Shape 33"/>
          <p:cNvSpPr/>
          <p:nvPr/>
        </p:nvSpPr>
        <p:spPr>
          <a:xfrm>
            <a:off x="13923466" y="3536752"/>
            <a:ext cx="1311473" cy="428625"/>
          </a:xfrm>
          <a:prstGeom prst="roundRect">
            <a:avLst>
              <a:gd name="adj" fmla="val 8889"/>
            </a:avLst>
          </a:prstGeom>
          <a:solidFill>
            <a:srgbClr val="4EA8FF">
              <a:alpha val="14000"/>
            </a:srgbClr>
          </a:solidFill>
          <a:ln w="9525">
            <a:solidFill>
              <a:srgbClr val="4EA8FF">
                <a:alpha val="55000"/>
              </a:srgbClr>
            </a:solidFill>
            <a:prstDash val="solid"/>
          </a:ln>
        </p:spPr>
      </p:sp>
      <p:sp>
        <p:nvSpPr>
          <p:cNvPr id="36" name="Text 34"/>
          <p:cNvSpPr/>
          <p:nvPr/>
        </p:nvSpPr>
        <p:spPr>
          <a:xfrm>
            <a:off x="14085391" y="3641527"/>
            <a:ext cx="1063823" cy="257175"/>
          </a:xfrm>
          <a:prstGeom prst="rect">
            <a:avLst/>
          </a:prstGeom>
          <a:noFill/>
          <a:ln/>
        </p:spPr>
        <p:txBody>
          <a:bodyPr wrap="square" lIns="25400" tIns="25400" rIns="25400" bIns="25400" rtlCol="0" anchor="t">
            <a:normAutofit/>
          </a:bodyPr>
          <a:lstStyle/>
          <a:p>
            <a:pPr algn="l" indent="0" marL="0">
              <a:buNone/>
            </a:pPr>
            <a:r>
              <a:rPr lang="en-US" sz="1350" spc="54" kern="0" dirty="0">
                <a:solidFill>
                  <a:srgbClr val="A8D3FF"/>
                </a:solidFill>
                <a:latin typeface="Arial" pitchFamily="34" charset="0"/>
                <a:ea typeface="Arial" pitchFamily="34" charset="-122"/>
                <a:cs typeface="Arial" pitchFamily="34" charset="-120"/>
              </a:rPr>
              <a:t>USER_ACCT</a:t>
            </a:r>
            <a:endParaRPr lang="en-US" sz="1350" dirty="0"/>
          </a:p>
        </p:txBody>
      </p:sp>
      <p:sp>
        <p:nvSpPr>
          <p:cNvPr id="37" name="Shape 35"/>
          <p:cNvSpPr/>
          <p:nvPr/>
        </p:nvSpPr>
        <p:spPr>
          <a:xfrm>
            <a:off x="15330190" y="3536752"/>
            <a:ext cx="1311473" cy="428625"/>
          </a:xfrm>
          <a:prstGeom prst="roundRect">
            <a:avLst>
              <a:gd name="adj" fmla="val 8889"/>
            </a:avLst>
          </a:prstGeom>
          <a:solidFill>
            <a:srgbClr val="4EA8FF">
              <a:alpha val="14000"/>
            </a:srgbClr>
          </a:solidFill>
          <a:ln w="9525">
            <a:solidFill>
              <a:srgbClr val="4EA8FF">
                <a:alpha val="55000"/>
              </a:srgbClr>
            </a:solidFill>
            <a:prstDash val="solid"/>
          </a:ln>
        </p:spPr>
      </p:sp>
      <p:sp>
        <p:nvSpPr>
          <p:cNvPr id="38" name="Text 36"/>
          <p:cNvSpPr/>
          <p:nvPr/>
        </p:nvSpPr>
        <p:spPr>
          <a:xfrm>
            <a:off x="15492115" y="3641527"/>
            <a:ext cx="1063823" cy="257175"/>
          </a:xfrm>
          <a:prstGeom prst="rect">
            <a:avLst/>
          </a:prstGeom>
          <a:noFill/>
          <a:ln/>
        </p:spPr>
        <p:txBody>
          <a:bodyPr wrap="square" lIns="25400" tIns="25400" rIns="25400" bIns="25400" rtlCol="0" anchor="t">
            <a:normAutofit/>
          </a:bodyPr>
          <a:lstStyle/>
          <a:p>
            <a:pPr algn="l" indent="0" marL="0">
              <a:buNone/>
            </a:pPr>
            <a:r>
              <a:rPr lang="en-US" sz="1350" spc="54" kern="0" dirty="0">
                <a:solidFill>
                  <a:srgbClr val="A8D3FF"/>
                </a:solidFill>
                <a:latin typeface="Arial" pitchFamily="34" charset="0"/>
                <a:ea typeface="Arial" pitchFamily="34" charset="-122"/>
                <a:cs typeface="Arial" pitchFamily="34" charset="-120"/>
              </a:rPr>
              <a:t>USER_AUTH</a:t>
            </a:r>
            <a:endParaRPr lang="en-US" sz="1350" dirty="0"/>
          </a:p>
        </p:txBody>
      </p:sp>
      <p:sp>
        <p:nvSpPr>
          <p:cNvPr id="39" name="Shape 37"/>
          <p:cNvSpPr/>
          <p:nvPr/>
        </p:nvSpPr>
        <p:spPr>
          <a:xfrm>
            <a:off x="13923466" y="4060627"/>
            <a:ext cx="1201787" cy="428625"/>
          </a:xfrm>
          <a:prstGeom prst="roundRect">
            <a:avLst>
              <a:gd name="adj" fmla="val 8889"/>
            </a:avLst>
          </a:prstGeom>
          <a:solidFill>
            <a:srgbClr val="4EA8FF">
              <a:alpha val="14000"/>
            </a:srgbClr>
          </a:solidFill>
          <a:ln w="9525">
            <a:solidFill>
              <a:srgbClr val="4EA8FF">
                <a:alpha val="55000"/>
              </a:srgbClr>
            </a:solidFill>
            <a:prstDash val="solid"/>
          </a:ln>
        </p:spPr>
      </p:sp>
      <p:sp>
        <p:nvSpPr>
          <p:cNvPr id="40" name="Text 38"/>
          <p:cNvSpPr/>
          <p:nvPr/>
        </p:nvSpPr>
        <p:spPr>
          <a:xfrm>
            <a:off x="14085391" y="4165402"/>
            <a:ext cx="954137" cy="257175"/>
          </a:xfrm>
          <a:prstGeom prst="rect">
            <a:avLst/>
          </a:prstGeom>
          <a:noFill/>
          <a:ln/>
        </p:spPr>
        <p:txBody>
          <a:bodyPr wrap="square" lIns="25400" tIns="25400" rIns="25400" bIns="25400" rtlCol="0" anchor="t">
            <a:normAutofit/>
          </a:bodyPr>
          <a:lstStyle/>
          <a:p>
            <a:pPr algn="l" indent="0" marL="0">
              <a:buNone/>
            </a:pPr>
            <a:r>
              <a:rPr lang="en-US" sz="1350" spc="54" kern="0" dirty="0">
                <a:solidFill>
                  <a:srgbClr val="A8D3FF"/>
                </a:solidFill>
                <a:latin typeface="Arial" pitchFamily="34" charset="0"/>
                <a:ea typeface="Arial" pitchFamily="34" charset="-122"/>
                <a:cs typeface="Arial" pitchFamily="34" charset="-120"/>
              </a:rPr>
              <a:t>USER_CMD</a:t>
            </a:r>
            <a:endParaRPr lang="en-US" sz="1350" dirty="0"/>
          </a:p>
        </p:txBody>
      </p:sp>
      <p:sp>
        <p:nvSpPr>
          <p:cNvPr id="41" name="Shape 39"/>
          <p:cNvSpPr/>
          <p:nvPr/>
        </p:nvSpPr>
        <p:spPr>
          <a:xfrm>
            <a:off x="15220504" y="4060627"/>
            <a:ext cx="1201787" cy="428625"/>
          </a:xfrm>
          <a:prstGeom prst="roundRect">
            <a:avLst>
              <a:gd name="adj" fmla="val 8889"/>
            </a:avLst>
          </a:prstGeom>
          <a:solidFill>
            <a:srgbClr val="4EA8FF">
              <a:alpha val="14000"/>
            </a:srgbClr>
          </a:solidFill>
          <a:ln w="9525">
            <a:solidFill>
              <a:srgbClr val="4EA8FF">
                <a:alpha val="55000"/>
              </a:srgbClr>
            </a:solidFill>
            <a:prstDash val="solid"/>
          </a:ln>
        </p:spPr>
      </p:sp>
      <p:sp>
        <p:nvSpPr>
          <p:cNvPr id="42" name="Text 40"/>
          <p:cNvSpPr/>
          <p:nvPr/>
        </p:nvSpPr>
        <p:spPr>
          <a:xfrm>
            <a:off x="15382429" y="4165402"/>
            <a:ext cx="954137" cy="257175"/>
          </a:xfrm>
          <a:prstGeom prst="rect">
            <a:avLst/>
          </a:prstGeom>
          <a:noFill/>
          <a:ln/>
        </p:spPr>
        <p:txBody>
          <a:bodyPr wrap="square" lIns="25400" tIns="25400" rIns="25400" bIns="25400" rtlCol="0" anchor="t">
            <a:normAutofit/>
          </a:bodyPr>
          <a:lstStyle/>
          <a:p>
            <a:pPr algn="l" indent="0" marL="0">
              <a:buNone/>
            </a:pPr>
            <a:r>
              <a:rPr lang="en-US" sz="1350" spc="54" kern="0" dirty="0">
                <a:solidFill>
                  <a:srgbClr val="A8D3FF"/>
                </a:solidFill>
                <a:latin typeface="Arial" pitchFamily="34" charset="0"/>
                <a:ea typeface="Arial" pitchFamily="34" charset="-122"/>
                <a:cs typeface="Arial" pitchFamily="34" charset="-120"/>
              </a:rPr>
              <a:t>USER_END</a:t>
            </a:r>
            <a:endParaRPr lang="en-US" sz="1350" dirty="0"/>
          </a:p>
        </p:txBody>
      </p:sp>
      <p:sp>
        <p:nvSpPr>
          <p:cNvPr id="43" name="Shape 41"/>
          <p:cNvSpPr/>
          <p:nvPr/>
        </p:nvSpPr>
        <p:spPr>
          <a:xfrm>
            <a:off x="13923466" y="4584502"/>
            <a:ext cx="1421160" cy="428625"/>
          </a:xfrm>
          <a:prstGeom prst="roundRect">
            <a:avLst>
              <a:gd name="adj" fmla="val 8889"/>
            </a:avLst>
          </a:prstGeom>
          <a:solidFill>
            <a:srgbClr val="4EA8FF">
              <a:alpha val="14000"/>
            </a:srgbClr>
          </a:solidFill>
          <a:ln w="9525">
            <a:solidFill>
              <a:srgbClr val="4EA8FF">
                <a:alpha val="55000"/>
              </a:srgbClr>
            </a:solidFill>
            <a:prstDash val="solid"/>
          </a:ln>
        </p:spPr>
      </p:sp>
      <p:sp>
        <p:nvSpPr>
          <p:cNvPr id="44" name="Text 42"/>
          <p:cNvSpPr/>
          <p:nvPr/>
        </p:nvSpPr>
        <p:spPr>
          <a:xfrm>
            <a:off x="14085391" y="4689277"/>
            <a:ext cx="1173510" cy="257175"/>
          </a:xfrm>
          <a:prstGeom prst="rect">
            <a:avLst/>
          </a:prstGeom>
          <a:noFill/>
          <a:ln/>
        </p:spPr>
        <p:txBody>
          <a:bodyPr wrap="square" lIns="25400" tIns="25400" rIns="25400" bIns="25400" rtlCol="0" anchor="t">
            <a:normAutofit/>
          </a:bodyPr>
          <a:lstStyle/>
          <a:p>
            <a:pPr algn="l" indent="0" marL="0">
              <a:buNone/>
            </a:pPr>
            <a:r>
              <a:rPr lang="en-US" sz="1350" spc="54" kern="0" dirty="0">
                <a:solidFill>
                  <a:srgbClr val="A8D3FF"/>
                </a:solidFill>
                <a:latin typeface="Arial" pitchFamily="34" charset="0"/>
                <a:ea typeface="Arial" pitchFamily="34" charset="-122"/>
                <a:cs typeface="Arial" pitchFamily="34" charset="-120"/>
              </a:rPr>
              <a:t>USER_START</a:t>
            </a:r>
            <a:endParaRPr lang="en-US" sz="1350" dirty="0"/>
          </a:p>
        </p:txBody>
      </p:sp>
      <p:sp>
        <p:nvSpPr>
          <p:cNvPr id="45" name="Shape 43"/>
          <p:cNvSpPr/>
          <p:nvPr/>
        </p:nvSpPr>
        <p:spPr>
          <a:xfrm>
            <a:off x="9806880" y="5403652"/>
            <a:ext cx="7528471" cy="1638300"/>
          </a:xfrm>
          <a:prstGeom prst="roundRect">
            <a:avLst>
              <a:gd name="adj" fmla="val 4651"/>
            </a:avLst>
          </a:prstGeom>
          <a:solidFill>
            <a:srgbClr val="141923"/>
          </a:solidFill>
          <a:ln w="9525">
            <a:solidFill>
              <a:srgbClr val="232A3A"/>
            </a:solidFill>
            <a:prstDash val="solid"/>
          </a:ln>
        </p:spPr>
      </p:sp>
      <p:sp>
        <p:nvSpPr>
          <p:cNvPr id="46" name="Shape 44"/>
          <p:cNvSpPr/>
          <p:nvPr/>
        </p:nvSpPr>
        <p:spPr>
          <a:xfrm>
            <a:off x="9987855" y="5546527"/>
            <a:ext cx="1107132" cy="1352550"/>
          </a:xfrm>
          <a:prstGeom prst="roundRect">
            <a:avLst>
              <a:gd name="adj" fmla="val 3441"/>
            </a:avLst>
          </a:prstGeom>
          <a:ln w="9525">
            <a:solidFill>
              <a:srgbClr val="2C3548"/>
            </a:solidFill>
            <a:prstDash val="solid"/>
          </a:ln>
        </p:spPr>
      </p:sp>
      <p:pic>
        <p:nvPicPr>
          <p:cNvPr id="47" name="Image 0" descr="preencoded.png">    </p:cNvPr>
          <p:cNvPicPr>
            <a:picLocks noChangeAspect="1"/>
          </p:cNvPicPr>
          <p:nvPr/>
        </p:nvPicPr>
        <p:blipFill>
          <a:blip r:embed="rId1"/>
          <a:stretch>
            <a:fillRect/>
          </a:stretch>
        </p:blipFill>
        <p:spPr>
          <a:xfrm>
            <a:off x="9987855" y="5546527"/>
            <a:ext cx="1107132" cy="1352550"/>
          </a:xfrm>
          <a:prstGeom prst="rect">
            <a:avLst/>
          </a:prstGeom>
        </p:spPr>
      </p:pic>
      <p:sp>
        <p:nvSpPr>
          <p:cNvPr id="48" name="Text 45"/>
          <p:cNvSpPr/>
          <p:nvPr/>
        </p:nvSpPr>
        <p:spPr>
          <a:xfrm>
            <a:off x="11266438" y="5925592"/>
            <a:ext cx="3149097" cy="632371"/>
          </a:xfrm>
          <a:prstGeom prst="rect">
            <a:avLst/>
          </a:prstGeom>
          <a:noFill/>
          <a:ln/>
        </p:spPr>
        <p:txBody>
          <a:bodyPr wrap="square" lIns="25400" tIns="25400" rIns="25400" bIns="25400" rtlCol="0" anchor="t">
            <a:normAutofit/>
          </a:bodyPr>
          <a:lstStyle/>
          <a:p>
            <a:pPr algn="l" indent="0" marL="0">
              <a:lnSpc>
                <a:spcPct val="160000"/>
              </a:lnSpc>
              <a:buNone/>
            </a:pPr>
            <a:r>
              <a:rPr lang="en-US" sz="975" b="1" spc="156" kern="0" dirty="0">
                <a:solidFill>
                  <a:srgbClr val="E8ECF4"/>
                </a:solidFill>
                <a:latin typeface="Arial" pitchFamily="34" charset="0"/>
                <a:ea typeface="Arial" pitchFamily="34" charset="-122"/>
                <a:cs typeface="Arial" pitchFamily="34" charset="-120"/>
              </a:rPr>
              <a:t>RUN IN PGADMIN </a:t>
            </a:r>
            <a:pPr algn="l" indent="0" marL="0">
              <a:lnSpc>
                <a:spcPct val="160000"/>
              </a:lnSpc>
              <a:buNone/>
            </a:pPr>
            <a:r>
              <a:rPr lang="en-US" sz="975" spc="156" kern="0" dirty="0">
                <a:solidFill>
                  <a:srgbClr val="8A93A6"/>
                </a:solidFill>
                <a:latin typeface="Arial" pitchFamily="34" charset="0"/>
                <a:ea typeface="Arial" pitchFamily="34" charset="-122"/>
                <a:cs typeface="Arial" pitchFamily="34" charset="-120"/>
              </a:rPr>
              <a:t>0.233 SEC · 8 ROWS AUDIT_TYPE, CHARACTER VARYING(20)</a:t>
            </a:r>
            <a:endParaRPr lang="en-US" sz="975" dirty="0"/>
          </a:p>
        </p:txBody>
      </p:sp>
      <p:sp>
        <p:nvSpPr>
          <p:cNvPr id="49" name="Shape 46"/>
          <p:cNvSpPr/>
          <p:nvPr/>
        </p:nvSpPr>
        <p:spPr>
          <a:xfrm>
            <a:off x="9806880" y="7175302"/>
            <a:ext cx="7528471" cy="1668661"/>
          </a:xfrm>
          <a:prstGeom prst="rect">
            <a:avLst/>
          </a:prstGeom>
          <a:solidFill>
            <a:srgbClr val="FF5A4E">
              <a:alpha val="6000"/>
            </a:srgbClr>
          </a:solidFill>
          <a:ln/>
        </p:spPr>
      </p:sp>
      <p:sp>
        <p:nvSpPr>
          <p:cNvPr id="50" name="Shape 47"/>
          <p:cNvSpPr/>
          <p:nvPr/>
        </p:nvSpPr>
        <p:spPr>
          <a:xfrm>
            <a:off x="9806880" y="7175302"/>
            <a:ext cx="28575" cy="1668661"/>
          </a:xfrm>
          <a:prstGeom prst="rect">
            <a:avLst/>
          </a:prstGeom>
          <a:solidFill>
            <a:srgbClr val="FF5A4E"/>
          </a:solidFill>
          <a:ln/>
        </p:spPr>
      </p:sp>
      <p:sp>
        <p:nvSpPr>
          <p:cNvPr id="51" name="Text 48"/>
          <p:cNvSpPr/>
          <p:nvPr/>
        </p:nvSpPr>
        <p:spPr>
          <a:xfrm>
            <a:off x="10064055" y="7346752"/>
            <a:ext cx="7268550" cy="1363861"/>
          </a:xfrm>
          <a:prstGeom prst="rect">
            <a:avLst/>
          </a:prstGeom>
          <a:noFill/>
          <a:ln/>
        </p:spPr>
        <p:txBody>
          <a:bodyPr wrap="square" lIns="25400" tIns="25400" rIns="25400" bIns="25400" rtlCol="0" anchor="t">
            <a:normAutofit/>
          </a:bodyPr>
          <a:lstStyle/>
          <a:p>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The chain triggers a specific subset of the auditd taxonomy, only credential and user-session events plus one </a:t>
            </a:r>
            <a:pPr algn="l" indent="0" marL="0">
              <a:lnSpc>
                <a:spcPct val="145000"/>
              </a:lnSpc>
              <a:buNone/>
            </a:pPr>
            <a:r>
              <a:rPr lang="en-US" sz="1656" i="1" dirty="0">
                <a:solidFill>
                  <a:srgbClr val="E8ECF4"/>
                </a:solidFill>
                <a:highlight>
                  <a:srgbClr val="1C2230"/>
                </a:highlight>
                <a:latin typeface="Arial" pitchFamily="34" charset="0"/>
                <a:ea typeface="Arial" pitchFamily="34" charset="-122"/>
                <a:cs typeface="Arial" pitchFamily="34" charset="-120"/>
              </a:rPr>
              <a:t>USER_CMD</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 </a:t>
            </a:r>
            <a:pPr algn="l" indent="0" marL="0">
              <a:lnSpc>
                <a:spcPct val="145000"/>
              </a:lnSpc>
              <a:buNone/>
            </a:pPr>
            <a:r>
              <a:rPr lang="en-US" sz="1800" i="1" dirty="0">
                <a:solidFill>
                  <a:srgbClr val="FF5A4E"/>
                </a:solidFill>
                <a:latin typeface="Arial" pitchFamily="34" charset="0"/>
                <a:ea typeface="Arial" pitchFamily="34" charset="-122"/>
                <a:cs typeface="Arial" pitchFamily="34" charset="-120"/>
              </a:rPr>
              <a:t>A detector subscribed to those 8 types catches the chain </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without the full auditd firehose.</a:t>
            </a:r>
            <a:endParaRPr lang="en-US" sz="1800" dirty="0"/>
          </a:p>
        </p:txBody>
      </p:sp>
      <p:sp>
        <p:nvSpPr>
          <p:cNvPr id="52" name="Shape 49"/>
          <p:cNvSpPr/>
          <p:nvPr/>
        </p:nvSpPr>
        <p:spPr>
          <a:xfrm>
            <a:off x="952500" y="9648825"/>
            <a:ext cx="16383000" cy="9525"/>
          </a:xfrm>
          <a:prstGeom prst="rect">
            <a:avLst/>
          </a:prstGeom>
          <a:solidFill>
            <a:srgbClr val="232A3A"/>
          </a:solidFill>
          <a:ln/>
        </p:spPr>
      </p:sp>
      <p:sp>
        <p:nvSpPr>
          <p:cNvPr id="53" name="Text 50"/>
          <p:cNvSpPr/>
          <p:nvPr/>
        </p:nvSpPr>
        <p:spPr>
          <a:xfrm>
            <a:off x="952500" y="9810750"/>
            <a:ext cx="241131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08 / 11 · ISHAAN · 1:10</a:t>
            </a:r>
            <a:endParaRPr lang="en-US" sz="1200" dirty="0"/>
          </a:p>
        </p:txBody>
      </p:sp>
      <p:sp>
        <p:nvSpPr>
          <p:cNvPr id="54" name="Text 51"/>
          <p:cNvSpPr/>
          <p:nvPr/>
        </p:nvSpPr>
        <p:spPr>
          <a:xfrm>
            <a:off x="13973473" y="9810750"/>
            <a:ext cx="3462888"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DEEP DIVE 03 · EXISTS SUBQUERY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6532886"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DEEP DIVE 04 </a:t>
            </a:r>
            <a:pPr algn="l" indent="0" marL="0">
              <a:buNone/>
            </a:pPr>
            <a:r>
              <a:rPr lang="en-US" sz="1350" spc="243" kern="0" dirty="0">
                <a:solidFill>
                  <a:srgbClr val="C3CAD8"/>
                </a:solidFill>
                <a:latin typeface="Arial" pitchFamily="34" charset="0"/>
                <a:ea typeface="Arial" pitchFamily="34" charset="-122"/>
                <a:cs typeface="Arial" pitchFamily="34" charset="-120"/>
              </a:rPr>
              <a:t>/ EXPLAIN ANALYZE + COMPOSITE INDEX</a:t>
            </a:r>
            <a:endParaRPr lang="en-US" sz="1350" dirty="0"/>
          </a:p>
        </p:txBody>
      </p:sp>
      <p:sp>
        <p:nvSpPr>
          <p:cNvPr id="4" name="Text 2"/>
          <p:cNvSpPr/>
          <p:nvPr/>
        </p:nvSpPr>
        <p:spPr>
          <a:xfrm>
            <a:off x="11582400" y="628650"/>
            <a:ext cx="5925693"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NAMAN · </a:t>
            </a:r>
            <a:pPr algn="l" indent="0" marL="0">
              <a:buNone/>
            </a:pPr>
            <a:r>
              <a:rPr lang="en-US" sz="1242" spc="243" kern="0" dirty="0">
                <a:solidFill>
                  <a:srgbClr val="E8ECF4"/>
                </a:solidFill>
                <a:latin typeface="Arial" pitchFamily="34" charset="0"/>
                <a:ea typeface="Arial" pitchFamily="34" charset="-122"/>
                <a:cs typeface="Arial" pitchFamily="34" charset="-120"/>
              </a:rPr>
              <a:t>NAMAN_EXPLAIN_INDEX_IMPROVEMENT.SQL</a:t>
            </a:r>
            <a:endParaRPr lang="en-US" sz="1350" dirty="0"/>
          </a:p>
        </p:txBody>
      </p:sp>
      <p:sp>
        <p:nvSpPr>
          <p:cNvPr id="5" name="Text 3"/>
          <p:cNvSpPr/>
          <p:nvPr/>
        </p:nvSpPr>
        <p:spPr>
          <a:xfrm>
            <a:off x="952500" y="1600200"/>
            <a:ext cx="16874490" cy="696367"/>
          </a:xfrm>
          <a:prstGeom prst="rect">
            <a:avLst/>
          </a:prstGeom>
          <a:noFill/>
          <a:ln/>
        </p:spPr>
        <p:txBody>
          <a:bodyPr wrap="square" lIns="25400" tIns="25400" rIns="25400" bIns="25400" rtlCol="0" anchor="t">
            <a:normAutofit/>
          </a:bodyPr>
          <a:lstStyle/>
          <a:p>
            <a:pPr algn="l" indent="0" marL="0">
              <a:lnSpc>
                <a:spcPct val="108000"/>
              </a:lnSpc>
              <a:buNone/>
            </a:pPr>
            <a:r>
              <a:rPr lang="en-US" sz="4800" spc="-58" kern="0" dirty="0">
                <a:solidFill>
                  <a:srgbClr val="E8ECF4"/>
                </a:solidFill>
                <a:latin typeface="Arial" pitchFamily="34" charset="0"/>
                <a:ea typeface="Arial" pitchFamily="34" charset="-122"/>
                <a:cs typeface="Arial" pitchFamily="34" charset="-120"/>
              </a:rPr>
              <a:t>Sequential scan to index scan on the incident-response zoom.</a:t>
            </a:r>
            <a:endParaRPr lang="en-US" sz="4800" dirty="0"/>
          </a:p>
        </p:txBody>
      </p:sp>
      <p:sp>
        <p:nvSpPr>
          <p:cNvPr id="6" name="Text 4"/>
          <p:cNvSpPr/>
          <p:nvPr/>
        </p:nvSpPr>
        <p:spPr>
          <a:xfrm>
            <a:off x="952500" y="2601367"/>
            <a:ext cx="14716125" cy="8382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8A93A6"/>
                </a:solidFill>
                <a:latin typeface="-apple-system" pitchFamily="34" charset="0"/>
                <a:ea typeface="-apple-system" pitchFamily="34" charset="-122"/>
                <a:cs typeface="-apple-system" pitchFamily="34" charset="-120"/>
              </a:rPr>
              <a:t>Workload: </a:t>
            </a:r>
            <a:pPr algn="l" indent="0" marL="0">
              <a:lnSpc>
                <a:spcPct val="150000"/>
              </a:lnSpc>
              <a:buNone/>
            </a:pPr>
            <a:r>
              <a:rPr lang="en-US" sz="1932" dirty="0">
                <a:solidFill>
                  <a:srgbClr val="E8ECF4"/>
                </a:solidFill>
                <a:highlight>
                  <a:srgbClr val="1C2230"/>
                </a:highlight>
                <a:latin typeface="Arial" pitchFamily="34" charset="0"/>
                <a:ea typeface="Arial" pitchFamily="34" charset="-122"/>
                <a:cs typeface="Arial" pitchFamily="34" charset="-120"/>
              </a:rPr>
              <a:t>h.host_key = 'intranet_server'</a:t>
            </a:r>
            <a:pPr algn="l" indent="0" marL="0">
              <a:lnSpc>
                <a:spcPct val="150000"/>
              </a:lnSpc>
              <a:buNone/>
            </a:pPr>
            <a:r>
              <a:rPr lang="en-US" sz="2100" dirty="0">
                <a:solidFill>
                  <a:srgbClr val="8A93A6"/>
                </a:solidFill>
                <a:latin typeface="-apple-system" pitchFamily="34" charset="0"/>
                <a:ea typeface="-apple-system" pitchFamily="34" charset="-122"/>
                <a:cs typeface="-apple-system" pitchFamily="34" charset="-120"/>
              </a:rPr>
              <a:t>, </a:t>
            </a:r>
            <a:pPr algn="l" indent="0" marL="0">
              <a:lnSpc>
                <a:spcPct val="150000"/>
              </a:lnSpc>
              <a:buNone/>
            </a:pPr>
            <a:r>
              <a:rPr lang="en-US" sz="1932" dirty="0">
                <a:solidFill>
                  <a:srgbClr val="E8ECF4"/>
                </a:solidFill>
                <a:highlight>
                  <a:srgbClr val="1C2230"/>
                </a:highlight>
                <a:latin typeface="Arial" pitchFamily="34" charset="0"/>
                <a:ea typeface="Arial" pitchFamily="34" charset="-122"/>
                <a:cs typeface="Arial" pitchFamily="34" charset="-120"/>
              </a:rPr>
              <a:t>ae.timestamp </a:t>
            </a:r>
            <a:pPr algn="l" indent="0" marL="0">
              <a:lnSpc>
                <a:spcPct val="150000"/>
              </a:lnSpc>
              <a:buNone/>
            </a:pPr>
            <a:r>
              <a:rPr lang="en-US" sz="2100" dirty="0">
                <a:solidFill>
                  <a:srgbClr val="8A93A6"/>
                </a:solidFill>
                <a:latin typeface="-apple-system" pitchFamily="34" charset="0"/>
                <a:ea typeface="-apple-system" pitchFamily="34" charset="-122"/>
                <a:cs typeface="-apple-system" pitchFamily="34" charset="-120"/>
              </a:rPr>
              <a:t>in </a:t>
            </a:r>
            <a:pPr algn="l" indent="0" marL="0">
              <a:lnSpc>
                <a:spcPct val="150000"/>
              </a:lnSpc>
              <a:buNone/>
            </a:pPr>
            <a:r>
              <a:rPr lang="en-US" sz="1932" dirty="0">
                <a:solidFill>
                  <a:srgbClr val="E8ECF4"/>
                </a:solidFill>
                <a:highlight>
                  <a:srgbClr val="1C2230"/>
                </a:highlight>
                <a:latin typeface="Arial" pitchFamily="34" charset="0"/>
                <a:ea typeface="Arial" pitchFamily="34" charset="-122"/>
                <a:cs typeface="Arial" pitchFamily="34" charset="-120"/>
              </a:rPr>
              <a:t>2022-01-24 04:37:30 </a:t>
            </a:r>
            <a:pPr algn="l" indent="0" marL="0">
              <a:lnSpc>
                <a:spcPct val="150000"/>
              </a:lnSpc>
              <a:buNone/>
            </a:pPr>
            <a:r>
              <a:rPr lang="en-US" sz="2100" dirty="0">
                <a:solidFill>
                  <a:srgbClr val="8A93A6"/>
                </a:solidFill>
                <a:latin typeface="-apple-system" pitchFamily="34" charset="0"/>
                <a:ea typeface="-apple-system" pitchFamily="34" charset="-122"/>
                <a:cs typeface="-apple-system" pitchFamily="34" charset="-120"/>
              </a:rPr>
              <a:t>to </a:t>
            </a:r>
            <a:pPr algn="l" indent="0" marL="0">
              <a:lnSpc>
                <a:spcPct val="150000"/>
              </a:lnSpc>
              <a:buNone/>
            </a:pPr>
            <a:r>
              <a:rPr lang="en-US" sz="1932" dirty="0">
                <a:solidFill>
                  <a:srgbClr val="E8ECF4"/>
                </a:solidFill>
                <a:highlight>
                  <a:srgbClr val="1C2230"/>
                </a:highlight>
                <a:latin typeface="Arial" pitchFamily="34" charset="0"/>
                <a:ea typeface="Arial" pitchFamily="34" charset="-122"/>
                <a:cs typeface="Arial" pitchFamily="34" charset="-120"/>
              </a:rPr>
              <a:t>04:38:15 UTC</a:t>
            </a:r>
            <a:pPr algn="l" indent="0" marL="0">
              <a:lnSpc>
                <a:spcPct val="150000"/>
              </a:lnSpc>
              <a:buNone/>
            </a:pPr>
            <a:r>
              <a:rPr lang="en-US" sz="2100" dirty="0">
                <a:solidFill>
                  <a:srgbClr val="8A93A6"/>
                </a:solidFill>
                <a:latin typeface="-apple-system" pitchFamily="34" charset="0"/>
                <a:ea typeface="-apple-system" pitchFamily="34" charset="-122"/>
                <a:cs typeface="-apple-system" pitchFamily="34" charset="-120"/>
              </a:rPr>
              <a:t>. Index: </a:t>
            </a:r>
            <a:pPr algn="l" indent="0" marL="0">
              <a:lnSpc>
                <a:spcPct val="150000"/>
              </a:lnSpc>
              <a:buNone/>
            </a:pPr>
            <a:r>
              <a:rPr lang="en-US" sz="1932" dirty="0">
                <a:solidFill>
                  <a:srgbClr val="E8ECF4"/>
                </a:solidFill>
                <a:highlight>
                  <a:srgbClr val="1C2230"/>
                </a:highlight>
                <a:latin typeface="Arial" pitchFamily="34" charset="0"/>
                <a:ea typeface="Arial" pitchFamily="34" charset="-122"/>
                <a:cs typeface="Arial" pitchFamily="34" charset="-120"/>
              </a:rPr>
              <a:t>idx_audit_event_host_timestamp ON audit_event (host_id, timestamp)</a:t>
            </a:r>
            <a:pPr algn="l" indent="0" marL="0">
              <a:lnSpc>
                <a:spcPct val="150000"/>
              </a:lnSpc>
              <a:buNone/>
            </a:pPr>
            <a:r>
              <a:rPr lang="en-US" sz="2100" dirty="0">
                <a:solidFill>
                  <a:srgbClr val="8A93A6"/>
                </a:solidFill>
                <a:latin typeface="-apple-system" pitchFamily="34" charset="0"/>
                <a:ea typeface="-apple-system" pitchFamily="34" charset="-122"/>
                <a:cs typeface="-apple-system" pitchFamily="34" charset="-120"/>
              </a:rPr>
              <a:t>, migration </a:t>
            </a:r>
            <a:pPr algn="l" indent="0" marL="0">
              <a:lnSpc>
                <a:spcPct val="150000"/>
              </a:lnSpc>
              <a:buNone/>
            </a:pPr>
            <a:r>
              <a:rPr lang="en-US" sz="1932" dirty="0">
                <a:solidFill>
                  <a:srgbClr val="E8ECF4"/>
                </a:solidFill>
                <a:highlight>
                  <a:srgbClr val="1C2230"/>
                </a:highlight>
                <a:latin typeface="Arial" pitchFamily="34" charset="0"/>
                <a:ea typeface="Arial" pitchFamily="34" charset="-122"/>
                <a:cs typeface="Arial" pitchFamily="34" charset="-120"/>
              </a:rPr>
              <a:t>742e860d116f</a:t>
            </a:r>
            <a:pPr algn="l" indent="0" marL="0">
              <a:lnSpc>
                <a:spcPct val="150000"/>
              </a:lnSpc>
              <a:buNone/>
            </a:pPr>
            <a:r>
              <a:rPr lang="en-US" sz="2100" dirty="0">
                <a:solidFill>
                  <a:srgbClr val="8A93A6"/>
                </a:solidFill>
                <a:latin typeface="-apple-system" pitchFamily="34" charset="0"/>
                <a:ea typeface="-apple-system" pitchFamily="34" charset="-122"/>
                <a:cs typeface="-apple-system" pitchFamily="34" charset="-120"/>
              </a:rPr>
              <a:t>.</a:t>
            </a:r>
            <a:endParaRPr lang="en-US" sz="2100" dirty="0"/>
          </a:p>
        </p:txBody>
      </p:sp>
      <p:sp>
        <p:nvSpPr>
          <p:cNvPr id="7" name="Shape 5"/>
          <p:cNvSpPr/>
          <p:nvPr/>
        </p:nvSpPr>
        <p:spPr>
          <a:xfrm>
            <a:off x="952500" y="3630067"/>
            <a:ext cx="8039100" cy="3496568"/>
          </a:xfrm>
          <a:prstGeom prst="roundRect">
            <a:avLst>
              <a:gd name="adj" fmla="val 1634"/>
            </a:avLst>
          </a:prstGeom>
          <a:solidFill>
            <a:srgbClr val="141923"/>
          </a:solidFill>
          <a:ln/>
        </p:spPr>
      </p:sp>
      <p:sp>
        <p:nvSpPr>
          <p:cNvPr id="8" name="Shape 6"/>
          <p:cNvSpPr/>
          <p:nvPr/>
        </p:nvSpPr>
        <p:spPr>
          <a:xfrm>
            <a:off x="952500" y="7117110"/>
            <a:ext cx="8039100" cy="9525"/>
          </a:xfrm>
          <a:prstGeom prst="rect">
            <a:avLst/>
          </a:prstGeom>
          <a:solidFill>
            <a:srgbClr val="232A3A"/>
          </a:solidFill>
          <a:ln/>
        </p:spPr>
      </p:sp>
      <p:sp>
        <p:nvSpPr>
          <p:cNvPr id="9" name="Shape 7"/>
          <p:cNvSpPr/>
          <p:nvPr/>
        </p:nvSpPr>
        <p:spPr>
          <a:xfrm>
            <a:off x="952500" y="3630067"/>
            <a:ext cx="8039100" cy="9525"/>
          </a:xfrm>
          <a:prstGeom prst="rect">
            <a:avLst/>
          </a:prstGeom>
          <a:solidFill>
            <a:srgbClr val="232A3A"/>
          </a:solidFill>
          <a:ln/>
        </p:spPr>
      </p:sp>
      <p:sp>
        <p:nvSpPr>
          <p:cNvPr id="10" name="Shape 8"/>
          <p:cNvSpPr/>
          <p:nvPr/>
        </p:nvSpPr>
        <p:spPr>
          <a:xfrm>
            <a:off x="952500" y="3630067"/>
            <a:ext cx="28575" cy="3496568"/>
          </a:xfrm>
          <a:prstGeom prst="rect">
            <a:avLst/>
          </a:prstGeom>
          <a:solidFill>
            <a:srgbClr val="8A93A6"/>
          </a:solidFill>
          <a:ln/>
        </p:spPr>
      </p:sp>
      <p:sp>
        <p:nvSpPr>
          <p:cNvPr id="11" name="Shape 9"/>
          <p:cNvSpPr/>
          <p:nvPr/>
        </p:nvSpPr>
        <p:spPr>
          <a:xfrm>
            <a:off x="8982075" y="3630067"/>
            <a:ext cx="9525" cy="3496568"/>
          </a:xfrm>
          <a:prstGeom prst="rect">
            <a:avLst/>
          </a:prstGeom>
          <a:solidFill>
            <a:srgbClr val="232A3A"/>
          </a:solidFill>
          <a:ln/>
        </p:spPr>
      </p:sp>
      <p:sp>
        <p:nvSpPr>
          <p:cNvPr id="12" name="Text 10"/>
          <p:cNvSpPr/>
          <p:nvPr/>
        </p:nvSpPr>
        <p:spPr>
          <a:xfrm>
            <a:off x="1285875" y="3906292"/>
            <a:ext cx="7613142" cy="190500"/>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8A93A6"/>
                </a:solidFill>
                <a:latin typeface="Arial" pitchFamily="34" charset="0"/>
                <a:ea typeface="Arial" pitchFamily="34" charset="-122"/>
                <a:cs typeface="Arial" pitchFamily="34" charset="-120"/>
              </a:rPr>
              <a:t>● </a:t>
            </a:r>
            <a:pPr algn="l" indent="0" marL="0">
              <a:buNone/>
            </a:pPr>
            <a:r>
              <a:rPr lang="en-US" sz="1050" spc="210" kern="0" dirty="0">
                <a:solidFill>
                  <a:srgbClr val="5D6577"/>
                </a:solidFill>
                <a:latin typeface="Arial" pitchFamily="34" charset="0"/>
                <a:ea typeface="Arial" pitchFamily="34" charset="-122"/>
                <a:cs typeface="Arial" pitchFamily="34" charset="-120"/>
              </a:rPr>
              <a:t>BEFORE · NO INDEX</a:t>
            </a:r>
            <a:endParaRPr lang="en-US" sz="1050" dirty="0"/>
          </a:p>
        </p:txBody>
      </p:sp>
      <p:sp>
        <p:nvSpPr>
          <p:cNvPr id="13" name="Text 11"/>
          <p:cNvSpPr/>
          <p:nvPr/>
        </p:nvSpPr>
        <p:spPr>
          <a:xfrm>
            <a:off x="1285875" y="4172992"/>
            <a:ext cx="1950690"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E8ECF4"/>
                </a:solidFill>
                <a:latin typeface="Arial" pitchFamily="34" charset="0"/>
                <a:ea typeface="Arial" pitchFamily="34" charset="-122"/>
                <a:cs typeface="Arial" pitchFamily="34" charset="-120"/>
              </a:rPr>
              <a:t>1.462</a:t>
            </a:r>
            <a:endParaRPr lang="en-US" sz="6600" dirty="0"/>
          </a:p>
        </p:txBody>
      </p:sp>
      <p:sp>
        <p:nvSpPr>
          <p:cNvPr id="14" name="Text 12"/>
          <p:cNvSpPr/>
          <p:nvPr/>
        </p:nvSpPr>
        <p:spPr>
          <a:xfrm>
            <a:off x="3369915" y="4706392"/>
            <a:ext cx="355550"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93A6"/>
                </a:solidFill>
                <a:latin typeface="Arial" pitchFamily="34" charset="0"/>
                <a:ea typeface="Arial" pitchFamily="34" charset="-122"/>
                <a:cs typeface="Arial" pitchFamily="34" charset="-120"/>
              </a:rPr>
              <a:t>ms</a:t>
            </a:r>
            <a:endParaRPr lang="en-US" sz="1650" dirty="0"/>
          </a:p>
        </p:txBody>
      </p:sp>
      <p:sp>
        <p:nvSpPr>
          <p:cNvPr id="15" name="Text 13"/>
          <p:cNvSpPr/>
          <p:nvPr/>
        </p:nvSpPr>
        <p:spPr>
          <a:xfrm>
            <a:off x="1285875" y="5049292"/>
            <a:ext cx="7613142"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89" kern="0" dirty="0">
                <a:solidFill>
                  <a:srgbClr val="8A93A6"/>
                </a:solidFill>
                <a:latin typeface="Arial" pitchFamily="34" charset="0"/>
                <a:ea typeface="Arial" pitchFamily="34" charset="-122"/>
                <a:cs typeface="Arial" pitchFamily="34" charset="-120"/>
              </a:rPr>
              <a:t>PLAN NODE · </a:t>
            </a:r>
            <a:pPr algn="l" indent="0" marL="0">
              <a:lnSpc>
                <a:spcPct val="150000"/>
              </a:lnSpc>
              <a:buNone/>
            </a:pPr>
            <a:r>
              <a:rPr lang="en-US" sz="1050" spc="189" kern="0" dirty="0">
                <a:solidFill>
                  <a:srgbClr val="C3CAD8"/>
                </a:solidFill>
                <a:latin typeface="Arial" pitchFamily="34" charset="0"/>
                <a:ea typeface="Arial" pitchFamily="34" charset="-122"/>
                <a:cs typeface="Arial" pitchFamily="34" charset="-120"/>
              </a:rPr>
              <a:t>SEQ SCAN ON AUDIT_EVENT</a:t>
            </a:r>
            <a:endParaRPr lang="en-US" sz="1050" dirty="0"/>
          </a:p>
        </p:txBody>
      </p:sp>
      <p:sp>
        <p:nvSpPr>
          <p:cNvPr id="16" name="Shape 14"/>
          <p:cNvSpPr/>
          <p:nvPr/>
        </p:nvSpPr>
        <p:spPr>
          <a:xfrm>
            <a:off x="1285875" y="5439817"/>
            <a:ext cx="3609975" cy="9525"/>
          </a:xfrm>
          <a:prstGeom prst="rect">
            <a:avLst/>
          </a:prstGeom>
          <a:solidFill>
            <a:srgbClr val="2C3548"/>
          </a:solidFill>
          <a:ln/>
        </p:spPr>
      </p:sp>
      <p:sp>
        <p:nvSpPr>
          <p:cNvPr id="17" name="Text 15"/>
          <p:cNvSpPr/>
          <p:nvPr/>
        </p:nvSpPr>
        <p:spPr>
          <a:xfrm>
            <a:off x="1285875" y="5582692"/>
            <a:ext cx="371827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BUFFERS (SHARED HIT)</a:t>
            </a:r>
            <a:endParaRPr lang="en-US" sz="975" dirty="0"/>
          </a:p>
        </p:txBody>
      </p:sp>
      <p:sp>
        <p:nvSpPr>
          <p:cNvPr id="18" name="Text 16"/>
          <p:cNvSpPr/>
          <p:nvPr/>
        </p:nvSpPr>
        <p:spPr>
          <a:xfrm>
            <a:off x="1285875" y="5801767"/>
            <a:ext cx="3718274"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E8ECF4"/>
                </a:solidFill>
                <a:latin typeface="Arial" pitchFamily="34" charset="0"/>
                <a:ea typeface="Arial" pitchFamily="34" charset="-122"/>
                <a:cs typeface="Arial" pitchFamily="34" charset="-120"/>
              </a:rPr>
              <a:t>141</a:t>
            </a:r>
            <a:endParaRPr lang="en-US" sz="2700" dirty="0"/>
          </a:p>
        </p:txBody>
      </p:sp>
      <p:sp>
        <p:nvSpPr>
          <p:cNvPr id="19" name="Shape 17"/>
          <p:cNvSpPr/>
          <p:nvPr/>
        </p:nvSpPr>
        <p:spPr>
          <a:xfrm>
            <a:off x="5067300" y="5439817"/>
            <a:ext cx="3609975" cy="9525"/>
          </a:xfrm>
          <a:prstGeom prst="rect">
            <a:avLst/>
          </a:prstGeom>
          <a:solidFill>
            <a:srgbClr val="2C3548"/>
          </a:solidFill>
          <a:ln/>
        </p:spPr>
      </p:sp>
      <p:sp>
        <p:nvSpPr>
          <p:cNvPr id="20" name="Text 18"/>
          <p:cNvSpPr/>
          <p:nvPr/>
        </p:nvSpPr>
        <p:spPr>
          <a:xfrm>
            <a:off x="5067300" y="5582692"/>
            <a:ext cx="371827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PLANNER COST</a:t>
            </a:r>
            <a:endParaRPr lang="en-US" sz="975" dirty="0"/>
          </a:p>
        </p:txBody>
      </p:sp>
      <p:sp>
        <p:nvSpPr>
          <p:cNvPr id="21" name="Text 19"/>
          <p:cNvSpPr/>
          <p:nvPr/>
        </p:nvSpPr>
        <p:spPr>
          <a:xfrm>
            <a:off x="5067300" y="5801767"/>
            <a:ext cx="3718274"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E8ECF4"/>
                </a:solidFill>
                <a:latin typeface="Arial" pitchFamily="34" charset="0"/>
                <a:ea typeface="Arial" pitchFamily="34" charset="-122"/>
                <a:cs typeface="Arial" pitchFamily="34" charset="-120"/>
              </a:rPr>
              <a:t>171.22</a:t>
            </a:r>
            <a:endParaRPr lang="en-US" sz="2700" dirty="0"/>
          </a:p>
        </p:txBody>
      </p:sp>
      <p:sp>
        <p:nvSpPr>
          <p:cNvPr id="22" name="Shape 20"/>
          <p:cNvSpPr/>
          <p:nvPr/>
        </p:nvSpPr>
        <p:spPr>
          <a:xfrm>
            <a:off x="9296400" y="3630067"/>
            <a:ext cx="8039100" cy="3496568"/>
          </a:xfrm>
          <a:prstGeom prst="roundRect">
            <a:avLst>
              <a:gd name="adj" fmla="val 1634"/>
            </a:avLst>
          </a:prstGeom>
          <a:solidFill>
            <a:srgbClr val="141923"/>
          </a:solidFill>
          <a:ln/>
        </p:spPr>
      </p:sp>
      <p:sp>
        <p:nvSpPr>
          <p:cNvPr id="23" name="Shape 21"/>
          <p:cNvSpPr/>
          <p:nvPr/>
        </p:nvSpPr>
        <p:spPr>
          <a:xfrm>
            <a:off x="9296400" y="7117110"/>
            <a:ext cx="8039100" cy="9525"/>
          </a:xfrm>
          <a:prstGeom prst="rect">
            <a:avLst/>
          </a:prstGeom>
          <a:solidFill>
            <a:srgbClr val="232A3A"/>
          </a:solidFill>
          <a:ln/>
        </p:spPr>
      </p:sp>
      <p:sp>
        <p:nvSpPr>
          <p:cNvPr id="24" name="Shape 22"/>
          <p:cNvSpPr/>
          <p:nvPr/>
        </p:nvSpPr>
        <p:spPr>
          <a:xfrm>
            <a:off x="9296400" y="3630067"/>
            <a:ext cx="8039100" cy="9525"/>
          </a:xfrm>
          <a:prstGeom prst="rect">
            <a:avLst/>
          </a:prstGeom>
          <a:solidFill>
            <a:srgbClr val="232A3A"/>
          </a:solidFill>
          <a:ln/>
        </p:spPr>
      </p:sp>
      <p:sp>
        <p:nvSpPr>
          <p:cNvPr id="25" name="Shape 23"/>
          <p:cNvSpPr/>
          <p:nvPr/>
        </p:nvSpPr>
        <p:spPr>
          <a:xfrm>
            <a:off x="9296400" y="3630067"/>
            <a:ext cx="28575" cy="3496568"/>
          </a:xfrm>
          <a:prstGeom prst="rect">
            <a:avLst/>
          </a:prstGeom>
          <a:solidFill>
            <a:srgbClr val="39C46F"/>
          </a:solidFill>
          <a:ln/>
        </p:spPr>
      </p:sp>
      <p:sp>
        <p:nvSpPr>
          <p:cNvPr id="26" name="Shape 24"/>
          <p:cNvSpPr/>
          <p:nvPr/>
        </p:nvSpPr>
        <p:spPr>
          <a:xfrm>
            <a:off x="17325975" y="3630067"/>
            <a:ext cx="9525" cy="3496568"/>
          </a:xfrm>
          <a:prstGeom prst="rect">
            <a:avLst/>
          </a:prstGeom>
          <a:solidFill>
            <a:srgbClr val="232A3A"/>
          </a:solidFill>
          <a:ln/>
        </p:spPr>
      </p:sp>
      <p:sp>
        <p:nvSpPr>
          <p:cNvPr id="27" name="Text 25"/>
          <p:cNvSpPr/>
          <p:nvPr/>
        </p:nvSpPr>
        <p:spPr>
          <a:xfrm>
            <a:off x="9629775" y="3906292"/>
            <a:ext cx="7613142" cy="190500"/>
          </a:xfrm>
          <a:prstGeom prst="rect">
            <a:avLst/>
          </a:prstGeom>
          <a:noFill/>
          <a:ln/>
        </p:spPr>
        <p:txBody>
          <a:bodyPr wrap="square" lIns="25400" tIns="25400" rIns="25400" bIns="25400" rtlCol="0" anchor="t">
            <a:normAutofit/>
          </a:bodyPr>
          <a:lstStyle/>
          <a:p>
            <a:pPr algn="l" indent="0" marL="0">
              <a:buNone/>
            </a:pPr>
            <a:r>
              <a:rPr lang="en-US" sz="1050" spc="210" kern="0" dirty="0">
                <a:solidFill>
                  <a:srgbClr val="39C46F"/>
                </a:solidFill>
                <a:latin typeface="Arial" pitchFamily="34" charset="0"/>
                <a:ea typeface="Arial" pitchFamily="34" charset="-122"/>
                <a:cs typeface="Arial" pitchFamily="34" charset="-120"/>
              </a:rPr>
              <a:t>● </a:t>
            </a:r>
            <a:pPr algn="l" indent="0" marL="0">
              <a:buNone/>
            </a:pPr>
            <a:r>
              <a:rPr lang="en-US" sz="1050" spc="210" kern="0" dirty="0">
                <a:solidFill>
                  <a:srgbClr val="5D6577"/>
                </a:solidFill>
                <a:latin typeface="Arial" pitchFamily="34" charset="0"/>
                <a:ea typeface="Arial" pitchFamily="34" charset="-122"/>
                <a:cs typeface="Arial" pitchFamily="34" charset="-120"/>
              </a:rPr>
              <a:t>AFTER · IDX_AUDIT_EVENT_HOST_TIMESTAMP</a:t>
            </a:r>
            <a:endParaRPr lang="en-US" sz="1050" dirty="0"/>
          </a:p>
        </p:txBody>
      </p:sp>
      <p:sp>
        <p:nvSpPr>
          <p:cNvPr id="28" name="Text 26"/>
          <p:cNvSpPr/>
          <p:nvPr/>
        </p:nvSpPr>
        <p:spPr>
          <a:xfrm>
            <a:off x="9629775" y="4172992"/>
            <a:ext cx="2197001"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dirty="0">
                <a:solidFill>
                  <a:srgbClr val="39C46F"/>
                </a:solidFill>
                <a:latin typeface="Arial" pitchFamily="34" charset="0"/>
                <a:ea typeface="Arial" pitchFamily="34" charset="-122"/>
                <a:cs typeface="Arial" pitchFamily="34" charset="-120"/>
              </a:rPr>
              <a:t>0.640</a:t>
            </a:r>
            <a:endParaRPr lang="en-US" sz="6600" dirty="0"/>
          </a:p>
        </p:txBody>
      </p:sp>
      <p:sp>
        <p:nvSpPr>
          <p:cNvPr id="29" name="Text 27"/>
          <p:cNvSpPr/>
          <p:nvPr/>
        </p:nvSpPr>
        <p:spPr>
          <a:xfrm>
            <a:off x="11960126" y="4706392"/>
            <a:ext cx="355550"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A93A6"/>
                </a:solidFill>
                <a:latin typeface="Arial" pitchFamily="34" charset="0"/>
                <a:ea typeface="Arial" pitchFamily="34" charset="-122"/>
                <a:cs typeface="Arial" pitchFamily="34" charset="-120"/>
              </a:rPr>
              <a:t>ms</a:t>
            </a:r>
            <a:endParaRPr lang="en-US" sz="1650" dirty="0"/>
          </a:p>
        </p:txBody>
      </p:sp>
      <p:sp>
        <p:nvSpPr>
          <p:cNvPr id="30" name="Text 28"/>
          <p:cNvSpPr/>
          <p:nvPr/>
        </p:nvSpPr>
        <p:spPr>
          <a:xfrm>
            <a:off x="9629775" y="5049292"/>
            <a:ext cx="7613142" cy="238125"/>
          </a:xfrm>
          <a:prstGeom prst="rect">
            <a:avLst/>
          </a:prstGeom>
          <a:noFill/>
          <a:ln/>
        </p:spPr>
        <p:txBody>
          <a:bodyPr wrap="square" lIns="25400" tIns="25400" rIns="25400" bIns="25400" rtlCol="0" anchor="t">
            <a:normAutofit/>
          </a:bodyPr>
          <a:lstStyle/>
          <a:p>
            <a:pPr algn="l" indent="0" marL="0">
              <a:lnSpc>
                <a:spcPct val="150000"/>
              </a:lnSpc>
              <a:buNone/>
            </a:pPr>
            <a:r>
              <a:rPr lang="en-US" sz="1050" spc="189" kern="0" dirty="0">
                <a:solidFill>
                  <a:srgbClr val="8A93A6"/>
                </a:solidFill>
                <a:latin typeface="Arial" pitchFamily="34" charset="0"/>
                <a:ea typeface="Arial" pitchFamily="34" charset="-122"/>
                <a:cs typeface="Arial" pitchFamily="34" charset="-120"/>
              </a:rPr>
              <a:t>PLAN NODE · </a:t>
            </a:r>
            <a:pPr algn="l" indent="0" marL="0">
              <a:lnSpc>
                <a:spcPct val="150000"/>
              </a:lnSpc>
              <a:buNone/>
            </a:pPr>
            <a:r>
              <a:rPr lang="en-US" sz="1050" spc="189" kern="0" dirty="0">
                <a:solidFill>
                  <a:srgbClr val="C3CAD8"/>
                </a:solidFill>
                <a:latin typeface="Arial" pitchFamily="34" charset="0"/>
                <a:ea typeface="Arial" pitchFamily="34" charset="-122"/>
                <a:cs typeface="Arial" pitchFamily="34" charset="-120"/>
              </a:rPr>
              <a:t>INDEX SCAN USING COMPOSITE INDEX</a:t>
            </a:r>
            <a:endParaRPr lang="en-US" sz="1050" dirty="0"/>
          </a:p>
        </p:txBody>
      </p:sp>
      <p:sp>
        <p:nvSpPr>
          <p:cNvPr id="31" name="Shape 29"/>
          <p:cNvSpPr/>
          <p:nvPr/>
        </p:nvSpPr>
        <p:spPr>
          <a:xfrm>
            <a:off x="9629775" y="5439817"/>
            <a:ext cx="3609975" cy="9525"/>
          </a:xfrm>
          <a:prstGeom prst="rect">
            <a:avLst/>
          </a:prstGeom>
          <a:solidFill>
            <a:srgbClr val="2C3548"/>
          </a:solidFill>
          <a:ln/>
        </p:spPr>
      </p:sp>
      <p:sp>
        <p:nvSpPr>
          <p:cNvPr id="32" name="Text 30"/>
          <p:cNvSpPr/>
          <p:nvPr/>
        </p:nvSpPr>
        <p:spPr>
          <a:xfrm>
            <a:off x="9629775" y="5582692"/>
            <a:ext cx="371827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BUFFERS (SHARED HIT)</a:t>
            </a:r>
            <a:endParaRPr lang="en-US" sz="975" dirty="0"/>
          </a:p>
        </p:txBody>
      </p:sp>
      <p:sp>
        <p:nvSpPr>
          <p:cNvPr id="33" name="Text 31"/>
          <p:cNvSpPr/>
          <p:nvPr/>
        </p:nvSpPr>
        <p:spPr>
          <a:xfrm>
            <a:off x="9629775" y="5801767"/>
            <a:ext cx="3718274"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39C46F"/>
                </a:solidFill>
                <a:latin typeface="Arial" pitchFamily="34" charset="0"/>
                <a:ea typeface="Arial" pitchFamily="34" charset="-122"/>
                <a:cs typeface="Arial" pitchFamily="34" charset="-120"/>
              </a:rPr>
              <a:t>33</a:t>
            </a:r>
            <a:endParaRPr lang="en-US" sz="2700" dirty="0"/>
          </a:p>
        </p:txBody>
      </p:sp>
      <p:sp>
        <p:nvSpPr>
          <p:cNvPr id="34" name="Shape 32"/>
          <p:cNvSpPr/>
          <p:nvPr/>
        </p:nvSpPr>
        <p:spPr>
          <a:xfrm>
            <a:off x="13411200" y="5439817"/>
            <a:ext cx="3609975" cy="9525"/>
          </a:xfrm>
          <a:prstGeom prst="rect">
            <a:avLst/>
          </a:prstGeom>
          <a:solidFill>
            <a:srgbClr val="2C3548"/>
          </a:solidFill>
          <a:ln/>
        </p:spPr>
      </p:sp>
      <p:sp>
        <p:nvSpPr>
          <p:cNvPr id="35" name="Text 33"/>
          <p:cNvSpPr/>
          <p:nvPr/>
        </p:nvSpPr>
        <p:spPr>
          <a:xfrm>
            <a:off x="13411200" y="5582692"/>
            <a:ext cx="3718274" cy="180975"/>
          </a:xfrm>
          <a:prstGeom prst="rect">
            <a:avLst/>
          </a:prstGeom>
          <a:noFill/>
          <a:ln/>
        </p:spPr>
        <p:txBody>
          <a:bodyPr wrap="square" lIns="25400" tIns="25400" rIns="25400" bIns="25400" rtlCol="0" anchor="t">
            <a:normAutofit/>
          </a:bodyPr>
          <a:lstStyle/>
          <a:p>
            <a:pPr algn="l" indent="0" marL="0">
              <a:buNone/>
            </a:pPr>
            <a:r>
              <a:rPr lang="en-US" sz="975" spc="176" kern="0" dirty="0">
                <a:solidFill>
                  <a:srgbClr val="5D6577"/>
                </a:solidFill>
                <a:latin typeface="Arial" pitchFamily="34" charset="0"/>
                <a:ea typeface="Arial" pitchFamily="34" charset="-122"/>
                <a:cs typeface="Arial" pitchFamily="34" charset="-120"/>
              </a:rPr>
              <a:t>PLANNER COST</a:t>
            </a:r>
            <a:endParaRPr lang="en-US" sz="975" dirty="0"/>
          </a:p>
        </p:txBody>
      </p:sp>
      <p:sp>
        <p:nvSpPr>
          <p:cNvPr id="36" name="Text 34"/>
          <p:cNvSpPr/>
          <p:nvPr/>
        </p:nvSpPr>
        <p:spPr>
          <a:xfrm>
            <a:off x="13411200" y="5801767"/>
            <a:ext cx="3718274" cy="381000"/>
          </a:xfrm>
          <a:prstGeom prst="rect">
            <a:avLst/>
          </a:prstGeom>
          <a:noFill/>
          <a:ln/>
        </p:spPr>
        <p:txBody>
          <a:bodyPr wrap="square" lIns="25400" tIns="25400" rIns="25400" bIns="25400" rtlCol="0" anchor="t">
            <a:normAutofit/>
          </a:bodyPr>
          <a:lstStyle/>
          <a:p>
            <a:pPr algn="l" indent="0" marL="0">
              <a:lnSpc>
                <a:spcPct val="100000"/>
              </a:lnSpc>
              <a:buNone/>
            </a:pPr>
            <a:r>
              <a:rPr lang="en-US" sz="2700" dirty="0">
                <a:solidFill>
                  <a:srgbClr val="39C46F"/>
                </a:solidFill>
                <a:latin typeface="Arial" pitchFamily="34" charset="0"/>
                <a:ea typeface="Arial" pitchFamily="34" charset="-122"/>
                <a:cs typeface="Arial" pitchFamily="34" charset="-120"/>
              </a:rPr>
              <a:t>24.79</a:t>
            </a:r>
            <a:endParaRPr lang="en-US" sz="2700" dirty="0"/>
          </a:p>
        </p:txBody>
      </p:sp>
      <p:sp>
        <p:nvSpPr>
          <p:cNvPr id="37" name="Shape 35"/>
          <p:cNvSpPr/>
          <p:nvPr/>
        </p:nvSpPr>
        <p:spPr>
          <a:xfrm>
            <a:off x="952500" y="7336185"/>
            <a:ext cx="5308550" cy="1419225"/>
          </a:xfrm>
          <a:prstGeom prst="roundRect">
            <a:avLst>
              <a:gd name="adj" fmla="val 4027"/>
            </a:avLst>
          </a:prstGeom>
          <a:solidFill>
            <a:srgbClr val="141923"/>
          </a:solidFill>
          <a:ln w="9525">
            <a:solidFill>
              <a:srgbClr val="232A3A"/>
            </a:solidFill>
            <a:prstDash val="solid"/>
          </a:ln>
        </p:spPr>
      </p:sp>
      <p:sp>
        <p:nvSpPr>
          <p:cNvPr id="38" name="Text 36"/>
          <p:cNvSpPr/>
          <p:nvPr/>
        </p:nvSpPr>
        <p:spPr>
          <a:xfrm>
            <a:off x="1098519" y="7517160"/>
            <a:ext cx="5016512" cy="209550"/>
          </a:xfrm>
          <a:prstGeom prst="rect">
            <a:avLst/>
          </a:prstGeom>
          <a:noFill/>
          <a:ln/>
        </p:spPr>
        <p:txBody>
          <a:bodyPr wrap="square" lIns="25400" tIns="25400" rIns="25400" bIns="25400" rtlCol="0" anchor="t">
            <a:normAutofit/>
          </a:bodyPr>
          <a:lstStyle/>
          <a:p>
            <a:pPr algn="ctr" indent="0" marL="0">
              <a:buNone/>
            </a:pPr>
            <a:r>
              <a:rPr lang="en-US" sz="1050" spc="210" kern="0" dirty="0">
                <a:solidFill>
                  <a:srgbClr val="39C46F"/>
                </a:solidFill>
                <a:latin typeface="Arial" pitchFamily="34" charset="0"/>
                <a:ea typeface="Arial" pitchFamily="34" charset="-122"/>
                <a:cs typeface="Arial" pitchFamily="34" charset="-120"/>
              </a:rPr>
              <a:t>EXECUTION SPEEDUP</a:t>
            </a:r>
            <a:endParaRPr lang="en-US" sz="1050" dirty="0"/>
          </a:p>
        </p:txBody>
      </p:sp>
      <p:sp>
        <p:nvSpPr>
          <p:cNvPr id="39" name="Text 37"/>
          <p:cNvSpPr/>
          <p:nvPr/>
        </p:nvSpPr>
        <p:spPr>
          <a:xfrm>
            <a:off x="1098519" y="7764810"/>
            <a:ext cx="5016512" cy="552450"/>
          </a:xfrm>
          <a:prstGeom prst="rect">
            <a:avLst/>
          </a:prstGeom>
          <a:noFill/>
          <a:ln/>
        </p:spPr>
        <p:txBody>
          <a:bodyPr wrap="square" lIns="25400" tIns="25400" rIns="25400" bIns="25400" rtlCol="0" anchor="t">
            <a:normAutofit/>
          </a:bodyPr>
          <a:lstStyle/>
          <a:p>
            <a:pPr algn="ctr" indent="0" marL="0">
              <a:lnSpc>
                <a:spcPct val="100000"/>
              </a:lnSpc>
              <a:buNone/>
            </a:pPr>
            <a:r>
              <a:rPr lang="en-US" sz="4050" dirty="0">
                <a:solidFill>
                  <a:srgbClr val="E8ECF4"/>
                </a:solidFill>
                <a:latin typeface="Arial" pitchFamily="34" charset="0"/>
                <a:ea typeface="Arial" pitchFamily="34" charset="-122"/>
                <a:cs typeface="Arial" pitchFamily="34" charset="-120"/>
              </a:rPr>
              <a:t>~2.3</a:t>
            </a:r>
            <a:pPr algn="ctr" indent="0" marL="0">
              <a:lnSpc>
                <a:spcPct val="100000"/>
              </a:lnSpc>
              <a:buNone/>
            </a:pPr>
            <a:r>
              <a:rPr lang="en-US" sz="2025" dirty="0">
                <a:solidFill>
                  <a:srgbClr val="8A93A6"/>
                </a:solidFill>
                <a:latin typeface="Arial" pitchFamily="34" charset="0"/>
                <a:ea typeface="Arial" pitchFamily="34" charset="-122"/>
                <a:cs typeface="Arial" pitchFamily="34" charset="-120"/>
              </a:rPr>
              <a:t>×</a:t>
            </a:r>
            <a:endParaRPr lang="en-US" sz="4050" dirty="0"/>
          </a:p>
        </p:txBody>
      </p:sp>
      <p:sp>
        <p:nvSpPr>
          <p:cNvPr id="40" name="Text 38"/>
          <p:cNvSpPr/>
          <p:nvPr/>
        </p:nvSpPr>
        <p:spPr>
          <a:xfrm>
            <a:off x="1098519" y="8336310"/>
            <a:ext cx="5016512" cy="276225"/>
          </a:xfrm>
          <a:prstGeom prst="rect">
            <a:avLst/>
          </a:prstGeom>
          <a:noFill/>
          <a:ln/>
        </p:spPr>
        <p:txBody>
          <a:bodyPr wrap="square" lIns="25400" tIns="25400" rIns="25400" bIns="25400" rtlCol="0" anchor="t">
            <a:normAutofit/>
          </a:bodyPr>
          <a:lstStyle/>
          <a:p>
            <a:pPr algn="ctr" indent="0" marL="0">
              <a:lnSpc>
                <a:spcPct val="150000"/>
              </a:lnSpc>
              <a:buNone/>
            </a:pPr>
            <a:r>
              <a:rPr lang="en-US" sz="1200" dirty="0">
                <a:solidFill>
                  <a:srgbClr val="8A93A6"/>
                </a:solidFill>
                <a:latin typeface="-apple-system" pitchFamily="34" charset="0"/>
                <a:ea typeface="-apple-system" pitchFamily="34" charset="-122"/>
                <a:cs typeface="-apple-system" pitchFamily="34" charset="-120"/>
              </a:rPr>
              <a:t>1.462 ms </a:t>
            </a:r>
            <a:pPr algn="ctr" indent="0" marL="0">
              <a:lnSpc>
                <a:spcPct val="150000"/>
              </a:lnSpc>
              <a:buNone/>
            </a:pPr>
            <a:r>
              <a:rPr lang="en-US" sz="1200" dirty="0">
                <a:solidFill>
                  <a:srgbClr val="8A93A6"/>
                </a:solidFill>
                <a:latin typeface="Arial" pitchFamily="34" charset="0"/>
                <a:ea typeface="Arial" pitchFamily="34" charset="-122"/>
                <a:cs typeface="Arial" pitchFamily="34" charset="-120"/>
              </a:rPr>
              <a:t>→ </a:t>
            </a:r>
            <a:pPr algn="ctr" indent="0" marL="0">
              <a:lnSpc>
                <a:spcPct val="150000"/>
              </a:lnSpc>
              <a:buNone/>
            </a:pPr>
            <a:r>
              <a:rPr lang="en-US" sz="1200" dirty="0">
                <a:solidFill>
                  <a:srgbClr val="8A93A6"/>
                </a:solidFill>
                <a:latin typeface="-apple-system" pitchFamily="34" charset="0"/>
                <a:ea typeface="-apple-system" pitchFamily="34" charset="-122"/>
                <a:cs typeface="-apple-system" pitchFamily="34" charset="-120"/>
              </a:rPr>
              <a:t>0.640 ms</a:t>
            </a:r>
            <a:endParaRPr lang="en-US" sz="1200" dirty="0"/>
          </a:p>
        </p:txBody>
      </p:sp>
      <p:sp>
        <p:nvSpPr>
          <p:cNvPr id="41" name="Shape 39"/>
          <p:cNvSpPr/>
          <p:nvPr/>
        </p:nvSpPr>
        <p:spPr>
          <a:xfrm>
            <a:off x="6489650" y="7336185"/>
            <a:ext cx="5308550" cy="1419225"/>
          </a:xfrm>
          <a:prstGeom prst="roundRect">
            <a:avLst>
              <a:gd name="adj" fmla="val 4027"/>
            </a:avLst>
          </a:prstGeom>
          <a:solidFill>
            <a:srgbClr val="141923"/>
          </a:solidFill>
          <a:ln w="9525">
            <a:solidFill>
              <a:srgbClr val="232A3A"/>
            </a:solidFill>
            <a:prstDash val="solid"/>
          </a:ln>
        </p:spPr>
      </p:sp>
      <p:sp>
        <p:nvSpPr>
          <p:cNvPr id="42" name="Text 40"/>
          <p:cNvSpPr/>
          <p:nvPr/>
        </p:nvSpPr>
        <p:spPr>
          <a:xfrm>
            <a:off x="6635669" y="7517160"/>
            <a:ext cx="5016512" cy="209550"/>
          </a:xfrm>
          <a:prstGeom prst="rect">
            <a:avLst/>
          </a:prstGeom>
          <a:noFill/>
          <a:ln/>
        </p:spPr>
        <p:txBody>
          <a:bodyPr wrap="square" lIns="25400" tIns="25400" rIns="25400" bIns="25400" rtlCol="0" anchor="t">
            <a:normAutofit/>
          </a:bodyPr>
          <a:lstStyle/>
          <a:p>
            <a:pPr algn="ctr" indent="0" marL="0">
              <a:buNone/>
            </a:pPr>
            <a:r>
              <a:rPr lang="en-US" sz="1050" spc="210" kern="0" dirty="0">
                <a:solidFill>
                  <a:srgbClr val="39C46F"/>
                </a:solidFill>
                <a:latin typeface="Arial" pitchFamily="34" charset="0"/>
                <a:ea typeface="Arial" pitchFamily="34" charset="-122"/>
                <a:cs typeface="Arial" pitchFamily="34" charset="-120"/>
              </a:rPr>
              <a:t>BUFFERS READ</a:t>
            </a:r>
            <a:endParaRPr lang="en-US" sz="1050" dirty="0"/>
          </a:p>
        </p:txBody>
      </p:sp>
      <p:sp>
        <p:nvSpPr>
          <p:cNvPr id="43" name="Text 41"/>
          <p:cNvSpPr/>
          <p:nvPr/>
        </p:nvSpPr>
        <p:spPr>
          <a:xfrm>
            <a:off x="6635669" y="7764810"/>
            <a:ext cx="5016512" cy="552450"/>
          </a:xfrm>
          <a:prstGeom prst="rect">
            <a:avLst/>
          </a:prstGeom>
          <a:noFill/>
          <a:ln/>
        </p:spPr>
        <p:txBody>
          <a:bodyPr wrap="square" lIns="25400" tIns="25400" rIns="25400" bIns="25400" rtlCol="0" anchor="t">
            <a:normAutofit/>
          </a:bodyPr>
          <a:lstStyle/>
          <a:p>
            <a:pPr algn="ctr" indent="0" marL="0">
              <a:lnSpc>
                <a:spcPct val="100000"/>
              </a:lnSpc>
              <a:buNone/>
            </a:pPr>
            <a:r>
              <a:rPr lang="en-US" sz="4050" dirty="0">
                <a:solidFill>
                  <a:srgbClr val="E8ECF4"/>
                </a:solidFill>
                <a:latin typeface="Arial" pitchFamily="34" charset="0"/>
                <a:ea typeface="Arial" pitchFamily="34" charset="-122"/>
                <a:cs typeface="Arial" pitchFamily="34" charset="-120"/>
              </a:rPr>
              <a:t>~4</a:t>
            </a:r>
            <a:pPr algn="ctr" indent="0" marL="0">
              <a:lnSpc>
                <a:spcPct val="100000"/>
              </a:lnSpc>
              <a:buNone/>
            </a:pPr>
            <a:r>
              <a:rPr lang="en-US" sz="2025" dirty="0">
                <a:solidFill>
                  <a:srgbClr val="8A93A6"/>
                </a:solidFill>
                <a:latin typeface="Arial" pitchFamily="34" charset="0"/>
                <a:ea typeface="Arial" pitchFamily="34" charset="-122"/>
                <a:cs typeface="Arial" pitchFamily="34" charset="-120"/>
              </a:rPr>
              <a:t>×</a:t>
            </a:r>
            <a:endParaRPr lang="en-US" sz="4050" dirty="0"/>
          </a:p>
        </p:txBody>
      </p:sp>
      <p:sp>
        <p:nvSpPr>
          <p:cNvPr id="44" name="Text 42"/>
          <p:cNvSpPr/>
          <p:nvPr/>
        </p:nvSpPr>
        <p:spPr>
          <a:xfrm>
            <a:off x="6635669" y="8336310"/>
            <a:ext cx="5016512" cy="276225"/>
          </a:xfrm>
          <a:prstGeom prst="rect">
            <a:avLst/>
          </a:prstGeom>
          <a:noFill/>
          <a:ln/>
        </p:spPr>
        <p:txBody>
          <a:bodyPr wrap="square" lIns="25400" tIns="25400" rIns="25400" bIns="25400" rtlCol="0" anchor="t">
            <a:normAutofit/>
          </a:bodyPr>
          <a:lstStyle/>
          <a:p>
            <a:pPr algn="ctr" indent="0" marL="0">
              <a:lnSpc>
                <a:spcPct val="150000"/>
              </a:lnSpc>
              <a:buNone/>
            </a:pPr>
            <a:r>
              <a:rPr lang="en-US" sz="1200" dirty="0">
                <a:solidFill>
                  <a:srgbClr val="8A93A6"/>
                </a:solidFill>
                <a:latin typeface="-apple-system" pitchFamily="34" charset="0"/>
                <a:ea typeface="-apple-system" pitchFamily="34" charset="-122"/>
                <a:cs typeface="-apple-system" pitchFamily="34" charset="-120"/>
              </a:rPr>
              <a:t>141 </a:t>
            </a:r>
            <a:pPr algn="ctr" indent="0" marL="0">
              <a:lnSpc>
                <a:spcPct val="150000"/>
              </a:lnSpc>
              <a:buNone/>
            </a:pPr>
            <a:r>
              <a:rPr lang="en-US" sz="1200" dirty="0">
                <a:solidFill>
                  <a:srgbClr val="8A93A6"/>
                </a:solidFill>
                <a:latin typeface="Arial" pitchFamily="34" charset="0"/>
                <a:ea typeface="Arial" pitchFamily="34" charset="-122"/>
                <a:cs typeface="Arial" pitchFamily="34" charset="-120"/>
              </a:rPr>
              <a:t>→ </a:t>
            </a:r>
            <a:pPr algn="ctr" indent="0" marL="0">
              <a:lnSpc>
                <a:spcPct val="150000"/>
              </a:lnSpc>
              <a:buNone/>
            </a:pPr>
            <a:r>
              <a:rPr lang="en-US" sz="1200" dirty="0">
                <a:solidFill>
                  <a:srgbClr val="8A93A6"/>
                </a:solidFill>
                <a:latin typeface="-apple-system" pitchFamily="34" charset="0"/>
                <a:ea typeface="-apple-system" pitchFamily="34" charset="-122"/>
                <a:cs typeface="-apple-system" pitchFamily="34" charset="-120"/>
              </a:rPr>
              <a:t>33 fewer</a:t>
            </a:r>
            <a:endParaRPr lang="en-US" sz="1200" dirty="0"/>
          </a:p>
        </p:txBody>
      </p:sp>
      <p:sp>
        <p:nvSpPr>
          <p:cNvPr id="45" name="Shape 43"/>
          <p:cNvSpPr/>
          <p:nvPr/>
        </p:nvSpPr>
        <p:spPr>
          <a:xfrm>
            <a:off x="12026801" y="7336185"/>
            <a:ext cx="5308550" cy="1419225"/>
          </a:xfrm>
          <a:prstGeom prst="roundRect">
            <a:avLst>
              <a:gd name="adj" fmla="val 4027"/>
            </a:avLst>
          </a:prstGeom>
          <a:solidFill>
            <a:srgbClr val="141923"/>
          </a:solidFill>
          <a:ln w="9525">
            <a:solidFill>
              <a:srgbClr val="232A3A"/>
            </a:solidFill>
            <a:prstDash val="solid"/>
          </a:ln>
        </p:spPr>
      </p:sp>
      <p:sp>
        <p:nvSpPr>
          <p:cNvPr id="46" name="Text 44"/>
          <p:cNvSpPr/>
          <p:nvPr/>
        </p:nvSpPr>
        <p:spPr>
          <a:xfrm>
            <a:off x="12172820" y="7517160"/>
            <a:ext cx="5016512" cy="209550"/>
          </a:xfrm>
          <a:prstGeom prst="rect">
            <a:avLst/>
          </a:prstGeom>
          <a:noFill/>
          <a:ln/>
        </p:spPr>
        <p:txBody>
          <a:bodyPr wrap="square" lIns="25400" tIns="25400" rIns="25400" bIns="25400" rtlCol="0" anchor="t">
            <a:normAutofit/>
          </a:bodyPr>
          <a:lstStyle/>
          <a:p>
            <a:pPr algn="ctr" indent="0" marL="0">
              <a:buNone/>
            </a:pPr>
            <a:r>
              <a:rPr lang="en-US" sz="1050" spc="210" kern="0" dirty="0">
                <a:solidFill>
                  <a:srgbClr val="39C46F"/>
                </a:solidFill>
                <a:latin typeface="Arial" pitchFamily="34" charset="0"/>
                <a:ea typeface="Arial" pitchFamily="34" charset="-122"/>
                <a:cs typeface="Arial" pitchFamily="34" charset="-120"/>
              </a:rPr>
              <a:t>PLANNER COST</a:t>
            </a:r>
            <a:endParaRPr lang="en-US" sz="1050" dirty="0"/>
          </a:p>
        </p:txBody>
      </p:sp>
      <p:sp>
        <p:nvSpPr>
          <p:cNvPr id="47" name="Text 45"/>
          <p:cNvSpPr/>
          <p:nvPr/>
        </p:nvSpPr>
        <p:spPr>
          <a:xfrm>
            <a:off x="12172820" y="7764810"/>
            <a:ext cx="5016512" cy="552450"/>
          </a:xfrm>
          <a:prstGeom prst="rect">
            <a:avLst/>
          </a:prstGeom>
          <a:noFill/>
          <a:ln/>
        </p:spPr>
        <p:txBody>
          <a:bodyPr wrap="square" lIns="25400" tIns="25400" rIns="25400" bIns="25400" rtlCol="0" anchor="t">
            <a:normAutofit/>
          </a:bodyPr>
          <a:lstStyle/>
          <a:p>
            <a:pPr algn="ctr" indent="0" marL="0">
              <a:lnSpc>
                <a:spcPct val="100000"/>
              </a:lnSpc>
              <a:buNone/>
            </a:pPr>
            <a:r>
              <a:rPr lang="en-US" sz="4050" dirty="0">
                <a:solidFill>
                  <a:srgbClr val="E8ECF4"/>
                </a:solidFill>
                <a:latin typeface="Arial" pitchFamily="34" charset="0"/>
                <a:ea typeface="Arial" pitchFamily="34" charset="-122"/>
                <a:cs typeface="Arial" pitchFamily="34" charset="-120"/>
              </a:rPr>
              <a:t>~7</a:t>
            </a:r>
            <a:pPr algn="ctr" indent="0" marL="0">
              <a:lnSpc>
                <a:spcPct val="100000"/>
              </a:lnSpc>
              <a:buNone/>
            </a:pPr>
            <a:r>
              <a:rPr lang="en-US" sz="2025" dirty="0">
                <a:solidFill>
                  <a:srgbClr val="8A93A6"/>
                </a:solidFill>
                <a:latin typeface="Arial" pitchFamily="34" charset="0"/>
                <a:ea typeface="Arial" pitchFamily="34" charset="-122"/>
                <a:cs typeface="Arial" pitchFamily="34" charset="-120"/>
              </a:rPr>
              <a:t>×</a:t>
            </a:r>
            <a:endParaRPr lang="en-US" sz="4050" dirty="0"/>
          </a:p>
        </p:txBody>
      </p:sp>
      <p:sp>
        <p:nvSpPr>
          <p:cNvPr id="48" name="Text 46"/>
          <p:cNvSpPr/>
          <p:nvPr/>
        </p:nvSpPr>
        <p:spPr>
          <a:xfrm>
            <a:off x="12172820" y="8336310"/>
            <a:ext cx="5016512" cy="276225"/>
          </a:xfrm>
          <a:prstGeom prst="rect">
            <a:avLst/>
          </a:prstGeom>
          <a:noFill/>
          <a:ln/>
        </p:spPr>
        <p:txBody>
          <a:bodyPr wrap="square" lIns="25400" tIns="25400" rIns="25400" bIns="25400" rtlCol="0" anchor="t">
            <a:normAutofit/>
          </a:bodyPr>
          <a:lstStyle/>
          <a:p>
            <a:pPr algn="ctr" indent="0" marL="0">
              <a:lnSpc>
                <a:spcPct val="150000"/>
              </a:lnSpc>
              <a:buNone/>
            </a:pPr>
            <a:r>
              <a:rPr lang="en-US" sz="1200" dirty="0">
                <a:solidFill>
                  <a:srgbClr val="8A93A6"/>
                </a:solidFill>
                <a:latin typeface="-apple-system" pitchFamily="34" charset="0"/>
                <a:ea typeface="-apple-system" pitchFamily="34" charset="-122"/>
                <a:cs typeface="-apple-system" pitchFamily="34" charset="-120"/>
              </a:rPr>
              <a:t>171.22 </a:t>
            </a:r>
            <a:pPr algn="ctr" indent="0" marL="0">
              <a:lnSpc>
                <a:spcPct val="150000"/>
              </a:lnSpc>
              <a:buNone/>
            </a:pPr>
            <a:r>
              <a:rPr lang="en-US" sz="1200" dirty="0">
                <a:solidFill>
                  <a:srgbClr val="8A93A6"/>
                </a:solidFill>
                <a:latin typeface="Arial" pitchFamily="34" charset="0"/>
                <a:ea typeface="Arial" pitchFamily="34" charset="-122"/>
                <a:cs typeface="Arial" pitchFamily="34" charset="-120"/>
              </a:rPr>
              <a:t>→ </a:t>
            </a:r>
            <a:pPr algn="ctr" indent="0" marL="0">
              <a:lnSpc>
                <a:spcPct val="150000"/>
              </a:lnSpc>
              <a:buNone/>
            </a:pPr>
            <a:r>
              <a:rPr lang="en-US" sz="1200" dirty="0">
                <a:solidFill>
                  <a:srgbClr val="8A93A6"/>
                </a:solidFill>
                <a:latin typeface="-apple-system" pitchFamily="34" charset="0"/>
                <a:ea typeface="-apple-system" pitchFamily="34" charset="-122"/>
                <a:cs typeface="-apple-system" pitchFamily="34" charset="-120"/>
              </a:rPr>
              <a:t>24.79</a:t>
            </a:r>
            <a:endParaRPr lang="en-US" sz="1200" dirty="0"/>
          </a:p>
        </p:txBody>
      </p:sp>
      <p:sp>
        <p:nvSpPr>
          <p:cNvPr id="49" name="Shape 47"/>
          <p:cNvSpPr/>
          <p:nvPr/>
        </p:nvSpPr>
        <p:spPr>
          <a:xfrm>
            <a:off x="952500" y="8926860"/>
            <a:ext cx="16383000" cy="674340"/>
          </a:xfrm>
          <a:prstGeom prst="rect">
            <a:avLst/>
          </a:prstGeom>
          <a:solidFill>
            <a:srgbClr val="FF5A4E">
              <a:alpha val="6000"/>
            </a:srgbClr>
          </a:solidFill>
          <a:ln/>
        </p:spPr>
      </p:sp>
      <p:sp>
        <p:nvSpPr>
          <p:cNvPr id="50" name="Shape 48"/>
          <p:cNvSpPr/>
          <p:nvPr/>
        </p:nvSpPr>
        <p:spPr>
          <a:xfrm>
            <a:off x="952500" y="8926860"/>
            <a:ext cx="28575" cy="674340"/>
          </a:xfrm>
          <a:prstGeom prst="rect">
            <a:avLst/>
          </a:prstGeom>
          <a:solidFill>
            <a:srgbClr val="FF5A4E"/>
          </a:solidFill>
          <a:ln/>
        </p:spPr>
      </p:sp>
      <p:sp>
        <p:nvSpPr>
          <p:cNvPr id="51" name="Text 49"/>
          <p:cNvSpPr/>
          <p:nvPr/>
        </p:nvSpPr>
        <p:spPr>
          <a:xfrm>
            <a:off x="1209675" y="9098310"/>
            <a:ext cx="16388715"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Composite index design must match query shape: equality on </a:t>
            </a:r>
            <a:pPr algn="l" indent="0" marL="0">
              <a:lnSpc>
                <a:spcPct val="145000"/>
              </a:lnSpc>
              <a:buNone/>
            </a:pPr>
            <a:r>
              <a:rPr lang="en-US" sz="1656" i="1" dirty="0">
                <a:solidFill>
                  <a:srgbClr val="E8ECF4"/>
                </a:solidFill>
                <a:highlight>
                  <a:srgbClr val="1C2230"/>
                </a:highlight>
                <a:latin typeface="Arial" pitchFamily="34" charset="0"/>
                <a:ea typeface="Arial" pitchFamily="34" charset="-122"/>
                <a:cs typeface="Arial" pitchFamily="34" charset="-120"/>
              </a:rPr>
              <a:t>host_id </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first, range on </a:t>
            </a:r>
            <a:pPr algn="l" indent="0" marL="0">
              <a:lnSpc>
                <a:spcPct val="145000"/>
              </a:lnSpc>
              <a:buNone/>
            </a:pPr>
            <a:r>
              <a:rPr lang="en-US" sz="1656" i="1" dirty="0">
                <a:solidFill>
                  <a:srgbClr val="E8ECF4"/>
                </a:solidFill>
                <a:highlight>
                  <a:srgbClr val="1C2230"/>
                </a:highlight>
                <a:latin typeface="Arial" pitchFamily="34" charset="0"/>
                <a:ea typeface="Arial" pitchFamily="34" charset="-122"/>
                <a:cs typeface="Arial" pitchFamily="34" charset="-120"/>
              </a:rPr>
              <a:t>ae.timestamp </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second.</a:t>
            </a:r>
            <a:endParaRPr lang="en-US" sz="1800" dirty="0"/>
          </a:p>
        </p:txBody>
      </p:sp>
      <p:sp>
        <p:nvSpPr>
          <p:cNvPr id="52" name="Shape 50"/>
          <p:cNvSpPr/>
          <p:nvPr/>
        </p:nvSpPr>
        <p:spPr>
          <a:xfrm>
            <a:off x="952500" y="9648825"/>
            <a:ext cx="16383000" cy="9525"/>
          </a:xfrm>
          <a:prstGeom prst="rect">
            <a:avLst/>
          </a:prstGeom>
          <a:solidFill>
            <a:srgbClr val="232A3A"/>
          </a:solidFill>
          <a:ln/>
        </p:spPr>
      </p:sp>
      <p:sp>
        <p:nvSpPr>
          <p:cNvPr id="53" name="Text 51"/>
          <p:cNvSpPr/>
          <p:nvPr/>
        </p:nvSpPr>
        <p:spPr>
          <a:xfrm>
            <a:off x="952500" y="9810750"/>
            <a:ext cx="2372916"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09 / 11 · NAMAN · 1:20</a:t>
            </a:r>
            <a:endParaRPr lang="en-US" sz="1200" dirty="0"/>
          </a:p>
        </p:txBody>
      </p:sp>
      <p:sp>
        <p:nvSpPr>
          <p:cNvPr id="54" name="Text 52"/>
          <p:cNvSpPr/>
          <p:nvPr/>
        </p:nvSpPr>
        <p:spPr>
          <a:xfrm>
            <a:off x="14049524" y="9810750"/>
            <a:ext cx="3384555"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DEEP DIVE 04 · EXPLAIN ANALYZE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3682710"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05 </a:t>
            </a:r>
            <a:pPr algn="l" indent="0" marL="0">
              <a:buNone/>
            </a:pPr>
            <a:r>
              <a:rPr lang="en-US" sz="1350" spc="243" kern="0" dirty="0">
                <a:solidFill>
                  <a:srgbClr val="C3CAD8"/>
                </a:solidFill>
                <a:latin typeface="Arial" pitchFamily="34" charset="0"/>
                <a:ea typeface="Arial" pitchFamily="34" charset="-122"/>
                <a:cs typeface="Arial" pitchFamily="34" charset="-120"/>
              </a:rPr>
              <a:t>/ INTERACTIVE DASHBOARD</a:t>
            </a:r>
            <a:endParaRPr lang="en-US" sz="1350" dirty="0"/>
          </a:p>
        </p:txBody>
      </p:sp>
      <p:sp>
        <p:nvSpPr>
          <p:cNvPr id="4" name="Text 2"/>
          <p:cNvSpPr/>
          <p:nvPr/>
        </p:nvSpPr>
        <p:spPr>
          <a:xfrm>
            <a:off x="15329892" y="628650"/>
            <a:ext cx="2081808"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SECTION 10 OF 11</a:t>
            </a:r>
            <a:endParaRPr lang="en-US" sz="1350" dirty="0"/>
          </a:p>
        </p:txBody>
      </p:sp>
      <p:sp>
        <p:nvSpPr>
          <p:cNvPr id="5" name="Text 3"/>
          <p:cNvSpPr/>
          <p:nvPr/>
        </p:nvSpPr>
        <p:spPr>
          <a:xfrm>
            <a:off x="952500" y="1600200"/>
            <a:ext cx="16874490" cy="593527"/>
          </a:xfrm>
          <a:prstGeom prst="rect">
            <a:avLst/>
          </a:prstGeom>
          <a:noFill/>
          <a:ln/>
        </p:spPr>
        <p:txBody>
          <a:bodyPr wrap="square" lIns="25400" tIns="25400" rIns="25400" bIns="25400" rtlCol="0" anchor="t">
            <a:normAutofit/>
          </a:bodyPr>
          <a:lstStyle/>
          <a:p>
            <a:pPr algn="l" indent="0" marL="0">
              <a:lnSpc>
                <a:spcPct val="108000"/>
              </a:lnSpc>
              <a:buNone/>
            </a:pPr>
            <a:r>
              <a:rPr lang="en-US" sz="4050" spc="-49" kern="0" dirty="0">
                <a:solidFill>
                  <a:srgbClr val="E8ECF4"/>
                </a:solidFill>
                <a:latin typeface="Arial" pitchFamily="34" charset="0"/>
                <a:ea typeface="Arial" pitchFamily="34" charset="-122"/>
                <a:cs typeface="Arial" pitchFamily="34" charset="-120"/>
              </a:rPr>
              <a:t>Streamlit + SQLAlchemy + Plotly, hitting PostgreSQL directly.</a:t>
            </a:r>
            <a:endParaRPr lang="en-US" sz="4050" dirty="0"/>
          </a:p>
        </p:txBody>
      </p:sp>
      <p:sp>
        <p:nvSpPr>
          <p:cNvPr id="6" name="Text 4"/>
          <p:cNvSpPr/>
          <p:nvPr/>
        </p:nvSpPr>
        <p:spPr>
          <a:xfrm>
            <a:off x="952500" y="2308027"/>
            <a:ext cx="16678275" cy="352425"/>
          </a:xfrm>
          <a:prstGeom prst="rect">
            <a:avLst/>
          </a:prstGeom>
          <a:noFill/>
          <a:ln/>
        </p:spPr>
        <p:txBody>
          <a:bodyPr wrap="square" lIns="25400" tIns="25400" rIns="25400" bIns="25400" rtlCol="0" anchor="t">
            <a:normAutofit/>
          </a:bodyPr>
          <a:lstStyle/>
          <a:p>
            <a:pPr algn="l" indent="0" marL="0">
              <a:lnSpc>
                <a:spcPct val="150000"/>
              </a:lnSpc>
              <a:buNone/>
            </a:pPr>
            <a:r>
              <a:rPr lang="en-US" sz="1650" dirty="0">
                <a:solidFill>
                  <a:srgbClr val="8A93A6"/>
                </a:solidFill>
                <a:latin typeface="-apple-system" pitchFamily="34" charset="0"/>
                <a:ea typeface="-apple-system" pitchFamily="34" charset="-122"/>
                <a:cs typeface="-apple-system" pitchFamily="34" charset="-120"/>
              </a:rPr>
              <a:t>Sidebar filters: </a:t>
            </a:r>
            <a:pPr algn="l" indent="0" marL="0">
              <a:lnSpc>
                <a:spcPct val="150000"/>
              </a:lnSpc>
              <a:buNone/>
            </a:pPr>
            <a:r>
              <a:rPr lang="en-US" sz="1518" dirty="0">
                <a:solidFill>
                  <a:srgbClr val="E8ECF4"/>
                </a:solidFill>
                <a:highlight>
                  <a:srgbClr val="1C2230"/>
                </a:highlight>
                <a:latin typeface="Arial" pitchFamily="34" charset="0"/>
                <a:ea typeface="Arial" pitchFamily="34" charset="-122"/>
                <a:cs typeface="Arial" pitchFamily="34" charset="-120"/>
              </a:rPr>
              <a:t>host </a:t>
            </a:r>
            <a:pPr algn="l" indent="0" marL="0">
              <a:lnSpc>
                <a:spcPct val="150000"/>
              </a:lnSpc>
              <a:buNone/>
            </a:pPr>
            <a:r>
              <a:rPr lang="en-US" sz="1650" dirty="0">
                <a:solidFill>
                  <a:srgbClr val="8A93A6"/>
                </a:solidFill>
                <a:latin typeface="-apple-system" pitchFamily="34" charset="0"/>
                <a:ea typeface="-apple-system" pitchFamily="34" charset="-122"/>
                <a:cs typeface="-apple-system" pitchFamily="34" charset="-120"/>
              </a:rPr>
              <a:t>(default </a:t>
            </a:r>
            <a:pPr algn="l" indent="0" marL="0">
              <a:lnSpc>
                <a:spcPct val="150000"/>
              </a:lnSpc>
              <a:buNone/>
            </a:pPr>
            <a:r>
              <a:rPr lang="en-US" sz="1518" dirty="0">
                <a:solidFill>
                  <a:srgbClr val="E8ECF4"/>
                </a:solidFill>
                <a:highlight>
                  <a:srgbClr val="1C2230"/>
                </a:highlight>
                <a:latin typeface="Arial" pitchFamily="34" charset="0"/>
                <a:ea typeface="Arial" pitchFamily="34" charset="-122"/>
                <a:cs typeface="Arial" pitchFamily="34" charset="-120"/>
              </a:rPr>
              <a:t>intranet_server</a:t>
            </a:r>
            <a:pPr algn="l" indent="0" marL="0">
              <a:lnSpc>
                <a:spcPct val="150000"/>
              </a:lnSpc>
              <a:buNone/>
            </a:pPr>
            <a:r>
              <a:rPr lang="en-US" sz="1650" dirty="0">
                <a:solidFill>
                  <a:srgbClr val="8A93A6"/>
                </a:solidFill>
                <a:latin typeface="-apple-system" pitchFamily="34" charset="0"/>
                <a:ea typeface="-apple-system" pitchFamily="34" charset="-122"/>
                <a:cs typeface="-apple-system" pitchFamily="34" charset="-120"/>
              </a:rPr>
              <a:t>), </a:t>
            </a:r>
            <a:pPr algn="l" indent="0" marL="0">
              <a:lnSpc>
                <a:spcPct val="150000"/>
              </a:lnSpc>
              <a:buNone/>
            </a:pPr>
            <a:r>
              <a:rPr lang="en-US" sz="1518" dirty="0">
                <a:solidFill>
                  <a:srgbClr val="E8ECF4"/>
                </a:solidFill>
                <a:highlight>
                  <a:srgbClr val="1C2230"/>
                </a:highlight>
                <a:latin typeface="Arial" pitchFamily="34" charset="0"/>
                <a:ea typeface="Arial" pitchFamily="34" charset="-122"/>
                <a:cs typeface="Arial" pitchFamily="34" charset="-120"/>
              </a:rPr>
              <a:t>attack phase </a:t>
            </a:r>
            <a:pPr algn="l" indent="0" marL="0">
              <a:lnSpc>
                <a:spcPct val="150000"/>
              </a:lnSpc>
              <a:buNone/>
            </a:pPr>
            <a:r>
              <a:rPr lang="en-US" sz="1650" dirty="0">
                <a:solidFill>
                  <a:srgbClr val="8A93A6"/>
                </a:solidFill>
                <a:latin typeface="-apple-system" pitchFamily="34" charset="0"/>
                <a:ea typeface="-apple-system" pitchFamily="34" charset="-122"/>
                <a:cs typeface="-apple-system" pitchFamily="34" charset="-120"/>
              </a:rPr>
              <a:t>(default </a:t>
            </a:r>
            <a:pPr algn="l" indent="0" marL="0">
              <a:lnSpc>
                <a:spcPct val="150000"/>
              </a:lnSpc>
              <a:buNone/>
            </a:pPr>
            <a:r>
              <a:rPr lang="en-US" sz="1518" dirty="0">
                <a:solidFill>
                  <a:srgbClr val="E8ECF4"/>
                </a:solidFill>
                <a:highlight>
                  <a:srgbClr val="1C2230"/>
                </a:highlight>
                <a:latin typeface="Arial" pitchFamily="34" charset="0"/>
                <a:ea typeface="Arial" pitchFamily="34" charset="-122"/>
                <a:cs typeface="Arial" pitchFamily="34" charset="-120"/>
              </a:rPr>
              <a:t>initial_access </a:t>
            </a:r>
            <a:pPr algn="l" indent="0" marL="0">
              <a:lnSpc>
                <a:spcPct val="150000"/>
              </a:lnSpc>
              <a:buNone/>
            </a:pPr>
            <a:r>
              <a:rPr lang="en-US" sz="1650" dirty="0">
                <a:solidFill>
                  <a:srgbClr val="8A93A6"/>
                </a:solidFill>
                <a:latin typeface="-apple-system" pitchFamily="34" charset="0"/>
                <a:ea typeface="-apple-system" pitchFamily="34" charset="-122"/>
                <a:cs typeface="-apple-system" pitchFamily="34" charset="-120"/>
              </a:rPr>
              <a:t>+ </a:t>
            </a:r>
            <a:pPr algn="l" indent="0" marL="0">
              <a:lnSpc>
                <a:spcPct val="150000"/>
              </a:lnSpc>
              <a:buNone/>
            </a:pPr>
            <a:r>
              <a:rPr lang="en-US" sz="1518" dirty="0">
                <a:solidFill>
                  <a:srgbClr val="E8ECF4"/>
                </a:solidFill>
                <a:highlight>
                  <a:srgbClr val="1C2230"/>
                </a:highlight>
                <a:latin typeface="Arial" pitchFamily="34" charset="0"/>
                <a:ea typeface="Arial" pitchFamily="34" charset="-122"/>
                <a:cs typeface="Arial" pitchFamily="34" charset="-120"/>
              </a:rPr>
              <a:t>privilege_escalation</a:t>
            </a:r>
            <a:pPr algn="l" indent="0" marL="0">
              <a:lnSpc>
                <a:spcPct val="150000"/>
              </a:lnSpc>
              <a:buNone/>
            </a:pPr>
            <a:r>
              <a:rPr lang="en-US" sz="1650" dirty="0">
                <a:solidFill>
                  <a:srgbClr val="8A93A6"/>
                </a:solidFill>
                <a:latin typeface="-apple-system" pitchFamily="34" charset="0"/>
                <a:ea typeface="-apple-system" pitchFamily="34" charset="-122"/>
                <a:cs typeface="-apple-system" pitchFamily="34" charset="-120"/>
              </a:rPr>
              <a:t>), </a:t>
            </a:r>
            <a:pPr algn="l" indent="0" marL="0">
              <a:lnSpc>
                <a:spcPct val="150000"/>
              </a:lnSpc>
              <a:buNone/>
            </a:pPr>
            <a:r>
              <a:rPr lang="en-US" sz="1518" dirty="0">
                <a:solidFill>
                  <a:srgbClr val="E8ECF4"/>
                </a:solidFill>
                <a:highlight>
                  <a:srgbClr val="1C2230"/>
                </a:highlight>
                <a:latin typeface="Arial" pitchFamily="34" charset="0"/>
                <a:ea typeface="Arial" pitchFamily="34" charset="-122"/>
                <a:cs typeface="Arial" pitchFamily="34" charset="-120"/>
              </a:rPr>
              <a:t>source log </a:t>
            </a:r>
            <a:pPr algn="l" indent="0" marL="0">
              <a:lnSpc>
                <a:spcPct val="150000"/>
              </a:lnSpc>
              <a:buNone/>
            </a:pPr>
            <a:r>
              <a:rPr lang="en-US" sz="1650" dirty="0">
                <a:solidFill>
                  <a:srgbClr val="8A93A6"/>
                </a:solidFill>
                <a:latin typeface="-apple-system" pitchFamily="34" charset="0"/>
                <a:ea typeface="-apple-system" pitchFamily="34" charset="-122"/>
                <a:cs typeface="-apple-system" pitchFamily="34" charset="-120"/>
              </a:rPr>
              <a:t>(multi-select).</a:t>
            </a:r>
            <a:endParaRPr lang="en-US" sz="1650" dirty="0"/>
          </a:p>
        </p:txBody>
      </p:sp>
      <p:sp>
        <p:nvSpPr>
          <p:cNvPr id="7" name="Shape 5"/>
          <p:cNvSpPr/>
          <p:nvPr/>
        </p:nvSpPr>
        <p:spPr>
          <a:xfrm>
            <a:off x="952500" y="2831902"/>
            <a:ext cx="8077200" cy="1095375"/>
          </a:xfrm>
          <a:prstGeom prst="roundRect">
            <a:avLst>
              <a:gd name="adj" fmla="val 5217"/>
            </a:avLst>
          </a:prstGeom>
          <a:solidFill>
            <a:srgbClr val="141923"/>
          </a:solidFill>
          <a:ln w="9525">
            <a:solidFill>
              <a:srgbClr val="232A3A"/>
            </a:solidFill>
            <a:prstDash val="solid"/>
          </a:ln>
        </p:spPr>
      </p:sp>
      <p:sp>
        <p:nvSpPr>
          <p:cNvPr id="8" name="Text 6"/>
          <p:cNvSpPr/>
          <p:nvPr/>
        </p:nvSpPr>
        <p:spPr>
          <a:xfrm>
            <a:off x="1171575" y="3012877"/>
            <a:ext cx="7868221" cy="180975"/>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FF5A4E"/>
                </a:solidFill>
                <a:latin typeface="Arial" pitchFamily="34" charset="0"/>
                <a:ea typeface="Arial" pitchFamily="34" charset="-122"/>
                <a:cs typeface="Arial" pitchFamily="34" charset="-120"/>
              </a:rPr>
              <a:t>● </a:t>
            </a:r>
            <a:pPr algn="l" indent="0" marL="0">
              <a:buNone/>
            </a:pPr>
            <a:r>
              <a:rPr lang="en-US" sz="975" spc="195" kern="0" dirty="0">
                <a:solidFill>
                  <a:srgbClr val="8A93A6"/>
                </a:solidFill>
                <a:latin typeface="Arial" pitchFamily="34" charset="0"/>
                <a:ea typeface="Arial" pitchFamily="34" charset="-122"/>
                <a:cs typeface="Arial" pitchFamily="34" charset="-120"/>
              </a:rPr>
              <a:t>DEFAULT FILTERS · HOST = </a:t>
            </a:r>
            <a:pPr algn="l" indent="0" marL="0">
              <a:buNone/>
            </a:pPr>
            <a:r>
              <a:rPr lang="en-US" sz="897" spc="195" kern="0" dirty="0">
                <a:solidFill>
                  <a:srgbClr val="E8ECF4"/>
                </a:solidFill>
                <a:highlight>
                  <a:srgbClr val="1C2230"/>
                </a:highlight>
                <a:latin typeface="Arial" pitchFamily="34" charset="0"/>
                <a:ea typeface="Arial" pitchFamily="34" charset="-122"/>
                <a:cs typeface="Arial" pitchFamily="34" charset="-120"/>
              </a:rPr>
              <a:t>INTRANET_SERVER</a:t>
            </a:r>
            <a:endParaRPr lang="en-US" sz="975" dirty="0"/>
          </a:p>
        </p:txBody>
      </p:sp>
      <p:sp>
        <p:nvSpPr>
          <p:cNvPr id="9" name="Text 7"/>
          <p:cNvSpPr/>
          <p:nvPr/>
        </p:nvSpPr>
        <p:spPr>
          <a:xfrm>
            <a:off x="1171575" y="3251002"/>
            <a:ext cx="1900238"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8ECF4"/>
                </a:solidFill>
                <a:latin typeface="Arial" pitchFamily="34" charset="0"/>
                <a:ea typeface="Arial" pitchFamily="34" charset="-122"/>
                <a:cs typeface="Arial" pitchFamily="34" charset="-120"/>
              </a:rPr>
              <a:t>7,748</a:t>
            </a:r>
            <a:endParaRPr lang="en-US" sz="2400" dirty="0"/>
          </a:p>
        </p:txBody>
      </p:sp>
      <p:sp>
        <p:nvSpPr>
          <p:cNvPr id="10" name="Text 8"/>
          <p:cNvSpPr/>
          <p:nvPr/>
        </p:nvSpPr>
        <p:spPr>
          <a:xfrm>
            <a:off x="1171575" y="3612952"/>
            <a:ext cx="1900238"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5D6577"/>
                </a:solidFill>
                <a:latin typeface="Arial" pitchFamily="34" charset="0"/>
                <a:ea typeface="Arial" pitchFamily="34" charset="-122"/>
                <a:cs typeface="Arial" pitchFamily="34" charset="-120"/>
              </a:rPr>
              <a:t>LABELED LINES</a:t>
            </a:r>
            <a:endParaRPr lang="en-US" sz="900" dirty="0"/>
          </a:p>
        </p:txBody>
      </p:sp>
      <p:sp>
        <p:nvSpPr>
          <p:cNvPr id="11" name="Text 9"/>
          <p:cNvSpPr/>
          <p:nvPr/>
        </p:nvSpPr>
        <p:spPr>
          <a:xfrm>
            <a:off x="3109913" y="3251002"/>
            <a:ext cx="1900238"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8ECF4"/>
                </a:solidFill>
                <a:latin typeface="Arial" pitchFamily="34" charset="0"/>
                <a:ea typeface="Arial" pitchFamily="34" charset="-122"/>
                <a:cs typeface="Arial" pitchFamily="34" charset="-120"/>
              </a:rPr>
              <a:t>6</a:t>
            </a:r>
            <a:endParaRPr lang="en-US" sz="2400" dirty="0"/>
          </a:p>
        </p:txBody>
      </p:sp>
      <p:sp>
        <p:nvSpPr>
          <p:cNvPr id="12" name="Text 10"/>
          <p:cNvSpPr/>
          <p:nvPr/>
        </p:nvSpPr>
        <p:spPr>
          <a:xfrm>
            <a:off x="3109913" y="3612952"/>
            <a:ext cx="1900238"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5D6577"/>
                </a:solidFill>
                <a:latin typeface="Arial" pitchFamily="34" charset="0"/>
                <a:ea typeface="Arial" pitchFamily="34" charset="-122"/>
                <a:cs typeface="Arial" pitchFamily="34" charset="-120"/>
              </a:rPr>
              <a:t>DISTINCT LABELS</a:t>
            </a:r>
            <a:endParaRPr lang="en-US" sz="900" dirty="0"/>
          </a:p>
        </p:txBody>
      </p:sp>
      <p:sp>
        <p:nvSpPr>
          <p:cNvPr id="13" name="Text 11"/>
          <p:cNvSpPr/>
          <p:nvPr/>
        </p:nvSpPr>
        <p:spPr>
          <a:xfrm>
            <a:off x="5048250" y="3251002"/>
            <a:ext cx="1900238"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8ECF4"/>
                </a:solidFill>
                <a:latin typeface="Arial" pitchFamily="34" charset="0"/>
                <a:ea typeface="Arial" pitchFamily="34" charset="-122"/>
                <a:cs typeface="Arial" pitchFamily="34" charset="-120"/>
              </a:rPr>
              <a:t>4</a:t>
            </a:r>
            <a:endParaRPr lang="en-US" sz="2400" dirty="0"/>
          </a:p>
        </p:txBody>
      </p:sp>
      <p:sp>
        <p:nvSpPr>
          <p:cNvPr id="14" name="Text 12"/>
          <p:cNvSpPr/>
          <p:nvPr/>
        </p:nvSpPr>
        <p:spPr>
          <a:xfrm>
            <a:off x="5048250" y="3612952"/>
            <a:ext cx="1900238"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5D6577"/>
                </a:solidFill>
                <a:latin typeface="Arial" pitchFamily="34" charset="0"/>
                <a:ea typeface="Arial" pitchFamily="34" charset="-122"/>
                <a:cs typeface="Arial" pitchFamily="34" charset="-120"/>
              </a:rPr>
              <a:t>SOURCE LOGS</a:t>
            </a:r>
            <a:endParaRPr lang="en-US" sz="900" dirty="0"/>
          </a:p>
        </p:txBody>
      </p:sp>
      <p:sp>
        <p:nvSpPr>
          <p:cNvPr id="15" name="Text 13"/>
          <p:cNvSpPr/>
          <p:nvPr/>
        </p:nvSpPr>
        <p:spPr>
          <a:xfrm>
            <a:off x="6986588" y="3251002"/>
            <a:ext cx="1900238"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8ECF4"/>
                </a:solidFill>
                <a:latin typeface="Arial" pitchFamily="34" charset="0"/>
                <a:ea typeface="Arial" pitchFamily="34" charset="-122"/>
                <a:cs typeface="Arial" pitchFamily="34" charset="-120"/>
              </a:rPr>
              <a:t>9</a:t>
            </a:r>
            <a:endParaRPr lang="en-US" sz="2400" dirty="0"/>
          </a:p>
        </p:txBody>
      </p:sp>
      <p:sp>
        <p:nvSpPr>
          <p:cNvPr id="16" name="Text 14"/>
          <p:cNvSpPr/>
          <p:nvPr/>
        </p:nvSpPr>
        <p:spPr>
          <a:xfrm>
            <a:off x="6986588" y="3612952"/>
            <a:ext cx="1900238"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5D6577"/>
                </a:solidFill>
                <a:latin typeface="Arial" pitchFamily="34" charset="0"/>
                <a:ea typeface="Arial" pitchFamily="34" charset="-122"/>
                <a:cs typeface="Arial" pitchFamily="34" charset="-120"/>
              </a:rPr>
              <a:t>AUDIT EVENTS</a:t>
            </a:r>
            <a:endParaRPr lang="en-US" sz="900" dirty="0"/>
          </a:p>
        </p:txBody>
      </p:sp>
      <p:sp>
        <p:nvSpPr>
          <p:cNvPr id="17" name="Shape 15"/>
          <p:cNvSpPr/>
          <p:nvPr/>
        </p:nvSpPr>
        <p:spPr>
          <a:xfrm>
            <a:off x="9258300" y="2831902"/>
            <a:ext cx="8077200" cy="1095375"/>
          </a:xfrm>
          <a:prstGeom prst="roundRect">
            <a:avLst>
              <a:gd name="adj" fmla="val 5217"/>
            </a:avLst>
          </a:prstGeom>
          <a:solidFill>
            <a:srgbClr val="141923"/>
          </a:solidFill>
          <a:ln w="9525">
            <a:solidFill>
              <a:srgbClr val="232A3A"/>
            </a:solidFill>
            <a:prstDash val="solid"/>
          </a:ln>
        </p:spPr>
      </p:sp>
      <p:sp>
        <p:nvSpPr>
          <p:cNvPr id="18" name="Text 16"/>
          <p:cNvSpPr/>
          <p:nvPr/>
        </p:nvSpPr>
        <p:spPr>
          <a:xfrm>
            <a:off x="9477375" y="3012877"/>
            <a:ext cx="7868221" cy="180975"/>
          </a:xfrm>
          <a:prstGeom prst="rect">
            <a:avLst/>
          </a:prstGeom>
          <a:noFill/>
          <a:ln/>
        </p:spPr>
        <p:txBody>
          <a:bodyPr wrap="square" lIns="25400" tIns="25400" rIns="25400" bIns="25400" rtlCol="0" anchor="t">
            <a:normAutofit/>
          </a:bodyPr>
          <a:lstStyle/>
          <a:p>
            <a:pPr algn="l" indent="0" marL="0">
              <a:buNone/>
            </a:pPr>
            <a:r>
              <a:rPr lang="en-US" sz="975" spc="195" kern="0" dirty="0">
                <a:solidFill>
                  <a:srgbClr val="4EA8FF"/>
                </a:solidFill>
                <a:latin typeface="Arial" pitchFamily="34" charset="0"/>
                <a:ea typeface="Arial" pitchFamily="34" charset="-122"/>
                <a:cs typeface="Arial" pitchFamily="34" charset="-120"/>
              </a:rPr>
              <a:t>● </a:t>
            </a:r>
            <a:pPr algn="l" indent="0" marL="0">
              <a:buNone/>
            </a:pPr>
            <a:r>
              <a:rPr lang="en-US" sz="975" spc="195" kern="0" dirty="0">
                <a:solidFill>
                  <a:srgbClr val="8A93A6"/>
                </a:solidFill>
                <a:latin typeface="Arial" pitchFamily="34" charset="0"/>
                <a:ea typeface="Arial" pitchFamily="34" charset="-122"/>
                <a:cs typeface="Arial" pitchFamily="34" charset="-120"/>
              </a:rPr>
              <a:t>HOST FILTER CLEARED · ALL HOSTS</a:t>
            </a:r>
            <a:endParaRPr lang="en-US" sz="975" dirty="0"/>
          </a:p>
        </p:txBody>
      </p:sp>
      <p:sp>
        <p:nvSpPr>
          <p:cNvPr id="19" name="Text 17"/>
          <p:cNvSpPr/>
          <p:nvPr/>
        </p:nvSpPr>
        <p:spPr>
          <a:xfrm>
            <a:off x="9477375" y="3251002"/>
            <a:ext cx="1900238"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8ECF4"/>
                </a:solidFill>
                <a:latin typeface="Arial" pitchFamily="34" charset="0"/>
                <a:ea typeface="Arial" pitchFamily="34" charset="-122"/>
                <a:cs typeface="Arial" pitchFamily="34" charset="-120"/>
              </a:rPr>
              <a:t>8,806</a:t>
            </a:r>
            <a:endParaRPr lang="en-US" sz="2400" dirty="0"/>
          </a:p>
        </p:txBody>
      </p:sp>
      <p:sp>
        <p:nvSpPr>
          <p:cNvPr id="20" name="Text 18"/>
          <p:cNvSpPr/>
          <p:nvPr/>
        </p:nvSpPr>
        <p:spPr>
          <a:xfrm>
            <a:off x="9477375" y="3612952"/>
            <a:ext cx="1900238"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5D6577"/>
                </a:solidFill>
                <a:latin typeface="Arial" pitchFamily="34" charset="0"/>
                <a:ea typeface="Arial" pitchFamily="34" charset="-122"/>
                <a:cs typeface="Arial" pitchFamily="34" charset="-120"/>
              </a:rPr>
              <a:t>LABELED LINES</a:t>
            </a:r>
            <a:endParaRPr lang="en-US" sz="900" dirty="0"/>
          </a:p>
        </p:txBody>
      </p:sp>
      <p:sp>
        <p:nvSpPr>
          <p:cNvPr id="21" name="Text 19"/>
          <p:cNvSpPr/>
          <p:nvPr/>
        </p:nvSpPr>
        <p:spPr>
          <a:xfrm>
            <a:off x="11415713" y="3251002"/>
            <a:ext cx="1900238"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8ECF4"/>
                </a:solidFill>
                <a:latin typeface="Arial" pitchFamily="34" charset="0"/>
                <a:ea typeface="Arial" pitchFamily="34" charset="-122"/>
                <a:cs typeface="Arial" pitchFamily="34" charset="-120"/>
              </a:rPr>
              <a:t>7</a:t>
            </a:r>
            <a:endParaRPr lang="en-US" sz="2400" dirty="0"/>
          </a:p>
        </p:txBody>
      </p:sp>
      <p:sp>
        <p:nvSpPr>
          <p:cNvPr id="22" name="Text 20"/>
          <p:cNvSpPr/>
          <p:nvPr/>
        </p:nvSpPr>
        <p:spPr>
          <a:xfrm>
            <a:off x="11415713" y="3612952"/>
            <a:ext cx="1900238"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5D6577"/>
                </a:solidFill>
                <a:latin typeface="Arial" pitchFamily="34" charset="0"/>
                <a:ea typeface="Arial" pitchFamily="34" charset="-122"/>
                <a:cs typeface="Arial" pitchFamily="34" charset="-120"/>
              </a:rPr>
              <a:t>DISTINCT LABELS</a:t>
            </a:r>
            <a:endParaRPr lang="en-US" sz="900" dirty="0"/>
          </a:p>
        </p:txBody>
      </p:sp>
      <p:sp>
        <p:nvSpPr>
          <p:cNvPr id="23" name="Text 21"/>
          <p:cNvSpPr/>
          <p:nvPr/>
        </p:nvSpPr>
        <p:spPr>
          <a:xfrm>
            <a:off x="13354050" y="3251002"/>
            <a:ext cx="1900238"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8ECF4"/>
                </a:solidFill>
                <a:latin typeface="Arial" pitchFamily="34" charset="0"/>
                <a:ea typeface="Arial" pitchFamily="34" charset="-122"/>
                <a:cs typeface="Arial" pitchFamily="34" charset="-120"/>
              </a:rPr>
              <a:t>7</a:t>
            </a:r>
            <a:endParaRPr lang="en-US" sz="2400" dirty="0"/>
          </a:p>
        </p:txBody>
      </p:sp>
      <p:sp>
        <p:nvSpPr>
          <p:cNvPr id="24" name="Text 22"/>
          <p:cNvSpPr/>
          <p:nvPr/>
        </p:nvSpPr>
        <p:spPr>
          <a:xfrm>
            <a:off x="13354050" y="3612952"/>
            <a:ext cx="1900238"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5D6577"/>
                </a:solidFill>
                <a:latin typeface="Arial" pitchFamily="34" charset="0"/>
                <a:ea typeface="Arial" pitchFamily="34" charset="-122"/>
                <a:cs typeface="Arial" pitchFamily="34" charset="-120"/>
              </a:rPr>
              <a:t>SOURCE LOGS</a:t>
            </a:r>
            <a:endParaRPr lang="en-US" sz="900" dirty="0"/>
          </a:p>
        </p:txBody>
      </p:sp>
      <p:sp>
        <p:nvSpPr>
          <p:cNvPr id="25" name="Text 23"/>
          <p:cNvSpPr/>
          <p:nvPr/>
        </p:nvSpPr>
        <p:spPr>
          <a:xfrm>
            <a:off x="15292387" y="3251002"/>
            <a:ext cx="1900238" cy="342900"/>
          </a:xfrm>
          <a:prstGeom prst="rect">
            <a:avLst/>
          </a:prstGeom>
          <a:noFill/>
          <a:ln/>
        </p:spPr>
        <p:txBody>
          <a:bodyPr wrap="square" lIns="25400" tIns="25400" rIns="25400" bIns="25400" rtlCol="0" anchor="t">
            <a:normAutofit/>
          </a:bodyPr>
          <a:lstStyle/>
          <a:p>
            <a:pPr algn="l" indent="0" marL="0">
              <a:lnSpc>
                <a:spcPct val="100000"/>
              </a:lnSpc>
              <a:buNone/>
            </a:pPr>
            <a:r>
              <a:rPr lang="en-US" sz="2400" dirty="0">
                <a:solidFill>
                  <a:srgbClr val="E8ECF4"/>
                </a:solidFill>
                <a:latin typeface="Arial" pitchFamily="34" charset="0"/>
                <a:ea typeface="Arial" pitchFamily="34" charset="-122"/>
                <a:cs typeface="Arial" pitchFamily="34" charset="-120"/>
              </a:rPr>
              <a:t>9</a:t>
            </a:r>
            <a:endParaRPr lang="en-US" sz="2400" dirty="0"/>
          </a:p>
        </p:txBody>
      </p:sp>
      <p:sp>
        <p:nvSpPr>
          <p:cNvPr id="26" name="Text 24"/>
          <p:cNvSpPr/>
          <p:nvPr/>
        </p:nvSpPr>
        <p:spPr>
          <a:xfrm>
            <a:off x="15292387" y="3612952"/>
            <a:ext cx="1900238" cy="171450"/>
          </a:xfrm>
          <a:prstGeom prst="rect">
            <a:avLst/>
          </a:prstGeom>
          <a:noFill/>
          <a:ln/>
        </p:spPr>
        <p:txBody>
          <a:bodyPr wrap="square" lIns="25400" tIns="25400" rIns="25400" bIns="25400" rtlCol="0" anchor="t">
            <a:normAutofit/>
          </a:bodyPr>
          <a:lstStyle/>
          <a:p>
            <a:pPr algn="l" indent="0" marL="0">
              <a:buNone/>
            </a:pPr>
            <a:r>
              <a:rPr lang="en-US" sz="900" spc="108" kern="0" dirty="0">
                <a:solidFill>
                  <a:srgbClr val="5D6577"/>
                </a:solidFill>
                <a:latin typeface="Arial" pitchFamily="34" charset="0"/>
                <a:ea typeface="Arial" pitchFamily="34" charset="-122"/>
                <a:cs typeface="Arial" pitchFamily="34" charset="-120"/>
              </a:rPr>
              <a:t>AUDIT EVENTS</a:t>
            </a:r>
            <a:endParaRPr lang="en-US" sz="900" dirty="0"/>
          </a:p>
        </p:txBody>
      </p:sp>
      <p:sp>
        <p:nvSpPr>
          <p:cNvPr id="27" name="Shape 25"/>
          <p:cNvSpPr/>
          <p:nvPr/>
        </p:nvSpPr>
        <p:spPr>
          <a:xfrm>
            <a:off x="952500" y="4136827"/>
            <a:ext cx="6604695" cy="4618583"/>
          </a:xfrm>
          <a:prstGeom prst="roundRect">
            <a:avLst>
              <a:gd name="adj" fmla="val 1237"/>
            </a:avLst>
          </a:prstGeom>
          <a:solidFill>
            <a:srgbClr val="141923"/>
          </a:solidFill>
          <a:ln w="9525">
            <a:solidFill>
              <a:srgbClr val="232A3A"/>
            </a:solidFill>
            <a:prstDash val="solid"/>
          </a:ln>
        </p:spPr>
      </p:sp>
      <p:sp>
        <p:nvSpPr>
          <p:cNvPr id="28" name="Shape 26"/>
          <p:cNvSpPr/>
          <p:nvPr/>
        </p:nvSpPr>
        <p:spPr>
          <a:xfrm>
            <a:off x="962025" y="4146352"/>
            <a:ext cx="6585645" cy="3238500"/>
          </a:xfrm>
          <a:prstGeom prst="rect">
            <a:avLst/>
          </a:prstGeom>
          <a:solidFill>
            <a:srgbClr val="000000"/>
          </a:solidFill>
          <a:ln/>
        </p:spPr>
      </p:sp>
      <p:pic>
        <p:nvPicPr>
          <p:cNvPr id="29" name="Image 0" descr="preencoded.png">    </p:cNvPr>
          <p:cNvPicPr>
            <a:picLocks noChangeAspect="1"/>
          </p:cNvPicPr>
          <p:nvPr/>
        </p:nvPicPr>
        <p:blipFill>
          <a:blip r:embed="rId1"/>
          <a:srcRect l="0" r="0" t="0" b="0"/>
          <a:stretch/>
        </p:blipFill>
        <p:spPr>
          <a:xfrm>
            <a:off x="962025" y="4146352"/>
            <a:ext cx="6585645" cy="3238500"/>
          </a:xfrm>
          <a:prstGeom prst="rect">
            <a:avLst/>
          </a:prstGeom>
        </p:spPr>
      </p:pic>
      <p:sp>
        <p:nvSpPr>
          <p:cNvPr id="30" name="Shape 27"/>
          <p:cNvSpPr/>
          <p:nvPr/>
        </p:nvSpPr>
        <p:spPr>
          <a:xfrm>
            <a:off x="962025" y="7384852"/>
            <a:ext cx="6585645" cy="428625"/>
          </a:xfrm>
          <a:prstGeom prst="rect">
            <a:avLst/>
          </a:prstGeom>
          <a:solidFill>
            <a:srgbClr val="0F131A"/>
          </a:solidFill>
          <a:ln/>
        </p:spPr>
      </p:sp>
      <p:sp>
        <p:nvSpPr>
          <p:cNvPr id="31" name="Shape 28"/>
          <p:cNvSpPr/>
          <p:nvPr/>
        </p:nvSpPr>
        <p:spPr>
          <a:xfrm>
            <a:off x="962025" y="7384852"/>
            <a:ext cx="6585645" cy="9525"/>
          </a:xfrm>
          <a:prstGeom prst="rect">
            <a:avLst/>
          </a:prstGeom>
          <a:solidFill>
            <a:srgbClr val="232A3A"/>
          </a:solidFill>
          <a:ln/>
        </p:spPr>
      </p:sp>
      <p:sp>
        <p:nvSpPr>
          <p:cNvPr id="32" name="Text 29"/>
          <p:cNvSpPr/>
          <p:nvPr/>
        </p:nvSpPr>
        <p:spPr>
          <a:xfrm>
            <a:off x="1133475" y="7527727"/>
            <a:ext cx="6440314" cy="1905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8A93A6"/>
                </a:solidFill>
                <a:latin typeface="Arial" pitchFamily="34" charset="0"/>
                <a:ea typeface="Arial" pitchFamily="34" charset="-122"/>
                <a:cs typeface="Arial" pitchFamily="34" charset="-120"/>
              </a:rPr>
              <a:t>PANELS 2 TO 3 · CUMULATIVE FOOTHOLD &amp; SU-THEN-SUDO TIMELINE</a:t>
            </a:r>
            <a:endParaRPr lang="en-US" sz="1050" dirty="0"/>
          </a:p>
        </p:txBody>
      </p:sp>
      <p:sp>
        <p:nvSpPr>
          <p:cNvPr id="33" name="Shape 30"/>
          <p:cNvSpPr/>
          <p:nvPr/>
        </p:nvSpPr>
        <p:spPr>
          <a:xfrm>
            <a:off x="7728645" y="4136827"/>
            <a:ext cx="4717703" cy="2223492"/>
          </a:xfrm>
          <a:prstGeom prst="roundRect">
            <a:avLst>
              <a:gd name="adj" fmla="val 2570"/>
            </a:avLst>
          </a:prstGeom>
          <a:solidFill>
            <a:srgbClr val="141923"/>
          </a:solidFill>
          <a:ln w="9525">
            <a:solidFill>
              <a:srgbClr val="232A3A"/>
            </a:solidFill>
            <a:prstDash val="solid"/>
          </a:ln>
        </p:spPr>
      </p:sp>
      <p:sp>
        <p:nvSpPr>
          <p:cNvPr id="34" name="Shape 31"/>
          <p:cNvSpPr/>
          <p:nvPr/>
        </p:nvSpPr>
        <p:spPr>
          <a:xfrm>
            <a:off x="7738170" y="4146352"/>
            <a:ext cx="4698653" cy="1485900"/>
          </a:xfrm>
          <a:prstGeom prst="rect">
            <a:avLst/>
          </a:prstGeom>
          <a:solidFill>
            <a:srgbClr val="000000"/>
          </a:solidFill>
          <a:ln/>
        </p:spPr>
      </p:sp>
      <p:pic>
        <p:nvPicPr>
          <p:cNvPr id="35" name="Image 1" descr="preencoded.png">    </p:cNvPr>
          <p:cNvPicPr>
            <a:picLocks noChangeAspect="1"/>
          </p:cNvPicPr>
          <p:nvPr/>
        </p:nvPicPr>
        <p:blipFill>
          <a:blip r:embed="rId2"/>
          <a:srcRect l="0" r="0" t="0" b="0"/>
          <a:stretch/>
        </p:blipFill>
        <p:spPr>
          <a:xfrm>
            <a:off x="7738170" y="4146352"/>
            <a:ext cx="4698653" cy="1485900"/>
          </a:xfrm>
          <a:prstGeom prst="rect">
            <a:avLst/>
          </a:prstGeom>
        </p:spPr>
      </p:pic>
      <p:sp>
        <p:nvSpPr>
          <p:cNvPr id="36" name="Shape 32"/>
          <p:cNvSpPr/>
          <p:nvPr/>
        </p:nvSpPr>
        <p:spPr>
          <a:xfrm>
            <a:off x="7738170" y="5632252"/>
            <a:ext cx="4698653" cy="581025"/>
          </a:xfrm>
          <a:prstGeom prst="rect">
            <a:avLst/>
          </a:prstGeom>
          <a:solidFill>
            <a:srgbClr val="0F131A"/>
          </a:solidFill>
          <a:ln/>
        </p:spPr>
      </p:sp>
      <p:sp>
        <p:nvSpPr>
          <p:cNvPr id="37" name="Shape 33"/>
          <p:cNvSpPr/>
          <p:nvPr/>
        </p:nvSpPr>
        <p:spPr>
          <a:xfrm>
            <a:off x="7738170" y="5632252"/>
            <a:ext cx="4698653" cy="9525"/>
          </a:xfrm>
          <a:prstGeom prst="rect">
            <a:avLst/>
          </a:prstGeom>
          <a:solidFill>
            <a:srgbClr val="232A3A"/>
          </a:solidFill>
          <a:ln/>
        </p:spPr>
      </p:sp>
      <p:sp>
        <p:nvSpPr>
          <p:cNvPr id="38" name="Text 34"/>
          <p:cNvSpPr/>
          <p:nvPr/>
        </p:nvSpPr>
        <p:spPr>
          <a:xfrm>
            <a:off x="7909620" y="5775127"/>
            <a:ext cx="4496712" cy="342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8A93A6"/>
                </a:solidFill>
                <a:latin typeface="Arial" pitchFamily="34" charset="0"/>
                <a:ea typeface="Arial" pitchFamily="34" charset="-122"/>
                <a:cs typeface="Arial" pitchFamily="34" charset="-120"/>
              </a:rPr>
              <a:t>PANELS 4 TO 5 · CROSS-HOST TRACES &amp; RULE RANK</a:t>
            </a:r>
            <a:endParaRPr lang="en-US" sz="1050" dirty="0"/>
          </a:p>
        </p:txBody>
      </p:sp>
      <p:sp>
        <p:nvSpPr>
          <p:cNvPr id="39" name="Shape 35"/>
          <p:cNvSpPr/>
          <p:nvPr/>
        </p:nvSpPr>
        <p:spPr>
          <a:xfrm>
            <a:off x="12617797" y="4136827"/>
            <a:ext cx="4717554" cy="2223492"/>
          </a:xfrm>
          <a:prstGeom prst="roundRect">
            <a:avLst>
              <a:gd name="adj" fmla="val 2570"/>
            </a:avLst>
          </a:prstGeom>
          <a:solidFill>
            <a:srgbClr val="141923"/>
          </a:solidFill>
          <a:ln w="9525">
            <a:solidFill>
              <a:srgbClr val="232A3A"/>
            </a:solidFill>
            <a:prstDash val="solid"/>
          </a:ln>
        </p:spPr>
      </p:sp>
      <p:sp>
        <p:nvSpPr>
          <p:cNvPr id="40" name="Shape 36"/>
          <p:cNvSpPr/>
          <p:nvPr/>
        </p:nvSpPr>
        <p:spPr>
          <a:xfrm>
            <a:off x="12627322" y="4146352"/>
            <a:ext cx="4698504" cy="1485900"/>
          </a:xfrm>
          <a:prstGeom prst="rect">
            <a:avLst/>
          </a:prstGeom>
          <a:solidFill>
            <a:srgbClr val="000000"/>
          </a:solidFill>
          <a:ln/>
        </p:spPr>
      </p:sp>
      <p:pic>
        <p:nvPicPr>
          <p:cNvPr id="41" name="Image 2" descr="preencoded.png">    </p:cNvPr>
          <p:cNvPicPr>
            <a:picLocks noChangeAspect="1"/>
          </p:cNvPicPr>
          <p:nvPr/>
        </p:nvPicPr>
        <p:blipFill>
          <a:blip r:embed="rId3"/>
          <a:srcRect l="0" r="0" t="0" b="0"/>
          <a:stretch/>
        </p:blipFill>
        <p:spPr>
          <a:xfrm>
            <a:off x="12627322" y="4146352"/>
            <a:ext cx="4698504" cy="1485900"/>
          </a:xfrm>
          <a:prstGeom prst="rect">
            <a:avLst/>
          </a:prstGeom>
        </p:spPr>
      </p:pic>
      <p:sp>
        <p:nvSpPr>
          <p:cNvPr id="42" name="Shape 37"/>
          <p:cNvSpPr/>
          <p:nvPr/>
        </p:nvSpPr>
        <p:spPr>
          <a:xfrm>
            <a:off x="12627322" y="5632252"/>
            <a:ext cx="4698504" cy="428625"/>
          </a:xfrm>
          <a:prstGeom prst="rect">
            <a:avLst/>
          </a:prstGeom>
          <a:solidFill>
            <a:srgbClr val="0F131A"/>
          </a:solidFill>
          <a:ln/>
        </p:spPr>
      </p:sp>
      <p:sp>
        <p:nvSpPr>
          <p:cNvPr id="43" name="Shape 38"/>
          <p:cNvSpPr/>
          <p:nvPr/>
        </p:nvSpPr>
        <p:spPr>
          <a:xfrm>
            <a:off x="12627322" y="5632252"/>
            <a:ext cx="4698504" cy="9525"/>
          </a:xfrm>
          <a:prstGeom prst="rect">
            <a:avLst/>
          </a:prstGeom>
          <a:solidFill>
            <a:srgbClr val="232A3A"/>
          </a:solidFill>
          <a:ln/>
        </p:spPr>
      </p:sp>
      <p:sp>
        <p:nvSpPr>
          <p:cNvPr id="44" name="Text 39"/>
          <p:cNvSpPr/>
          <p:nvPr/>
        </p:nvSpPr>
        <p:spPr>
          <a:xfrm>
            <a:off x="12798772" y="5775127"/>
            <a:ext cx="4496559" cy="1905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8A93A6"/>
                </a:solidFill>
                <a:latin typeface="Arial" pitchFamily="34" charset="0"/>
                <a:ea typeface="Arial" pitchFamily="34" charset="-122"/>
                <a:cs typeface="Arial" pitchFamily="34" charset="-120"/>
              </a:rPr>
              <a:t>PANEL 7 · BUSIEST AUDIT DAY · ATTACK DAY = 3/4</a:t>
            </a:r>
            <a:endParaRPr lang="en-US" sz="1050" dirty="0"/>
          </a:p>
        </p:txBody>
      </p:sp>
      <p:sp>
        <p:nvSpPr>
          <p:cNvPr id="45" name="Shape 40"/>
          <p:cNvSpPr/>
          <p:nvPr/>
        </p:nvSpPr>
        <p:spPr>
          <a:xfrm>
            <a:off x="7728645" y="6531769"/>
            <a:ext cx="4717703" cy="2223641"/>
          </a:xfrm>
          <a:prstGeom prst="roundRect">
            <a:avLst>
              <a:gd name="adj" fmla="val 2570"/>
            </a:avLst>
          </a:prstGeom>
          <a:solidFill>
            <a:srgbClr val="141923"/>
          </a:solidFill>
          <a:ln w="9525">
            <a:solidFill>
              <a:srgbClr val="232A3A"/>
            </a:solidFill>
            <a:prstDash val="solid"/>
          </a:ln>
        </p:spPr>
      </p:sp>
      <p:sp>
        <p:nvSpPr>
          <p:cNvPr id="46" name="Shape 41"/>
          <p:cNvSpPr/>
          <p:nvPr/>
        </p:nvSpPr>
        <p:spPr>
          <a:xfrm>
            <a:off x="7738170" y="6541294"/>
            <a:ext cx="4698653" cy="1485900"/>
          </a:xfrm>
          <a:prstGeom prst="rect">
            <a:avLst/>
          </a:prstGeom>
          <a:solidFill>
            <a:srgbClr val="000000"/>
          </a:solidFill>
          <a:ln/>
        </p:spPr>
      </p:sp>
      <p:pic>
        <p:nvPicPr>
          <p:cNvPr id="47" name="Image 3" descr="preencoded.png">    </p:cNvPr>
          <p:cNvPicPr>
            <a:picLocks noChangeAspect="1"/>
          </p:cNvPicPr>
          <p:nvPr/>
        </p:nvPicPr>
        <p:blipFill>
          <a:blip r:embed="rId4"/>
          <a:srcRect l="0" r="0" t="0" b="0"/>
          <a:stretch/>
        </p:blipFill>
        <p:spPr>
          <a:xfrm>
            <a:off x="7738170" y="6541294"/>
            <a:ext cx="4698653" cy="1485900"/>
          </a:xfrm>
          <a:prstGeom prst="rect">
            <a:avLst/>
          </a:prstGeom>
        </p:spPr>
      </p:pic>
      <p:sp>
        <p:nvSpPr>
          <p:cNvPr id="48" name="Shape 42"/>
          <p:cNvSpPr/>
          <p:nvPr/>
        </p:nvSpPr>
        <p:spPr>
          <a:xfrm>
            <a:off x="7738170" y="8027194"/>
            <a:ext cx="4698653" cy="428625"/>
          </a:xfrm>
          <a:prstGeom prst="rect">
            <a:avLst/>
          </a:prstGeom>
          <a:solidFill>
            <a:srgbClr val="0F131A"/>
          </a:solidFill>
          <a:ln/>
        </p:spPr>
      </p:sp>
      <p:sp>
        <p:nvSpPr>
          <p:cNvPr id="49" name="Shape 43"/>
          <p:cNvSpPr/>
          <p:nvPr/>
        </p:nvSpPr>
        <p:spPr>
          <a:xfrm>
            <a:off x="7738170" y="8027194"/>
            <a:ext cx="4698653" cy="9525"/>
          </a:xfrm>
          <a:prstGeom prst="rect">
            <a:avLst/>
          </a:prstGeom>
          <a:solidFill>
            <a:srgbClr val="232A3A"/>
          </a:solidFill>
          <a:ln/>
        </p:spPr>
      </p:sp>
      <p:sp>
        <p:nvSpPr>
          <p:cNvPr id="50" name="Text 44"/>
          <p:cNvSpPr/>
          <p:nvPr/>
        </p:nvSpPr>
        <p:spPr>
          <a:xfrm>
            <a:off x="7909620" y="8170069"/>
            <a:ext cx="4496712" cy="1905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8A93A6"/>
                </a:solidFill>
                <a:latin typeface="Arial" pitchFamily="34" charset="0"/>
                <a:ea typeface="Arial" pitchFamily="34" charset="-122"/>
                <a:cs typeface="Arial" pitchFamily="34" charset="-120"/>
              </a:rPr>
              <a:t>FILTER DEMO · HOST CLEARED · KPIS UPDATE LIVE</a:t>
            </a:r>
            <a:endParaRPr lang="en-US" sz="1050" dirty="0"/>
          </a:p>
        </p:txBody>
      </p:sp>
      <p:sp>
        <p:nvSpPr>
          <p:cNvPr id="51" name="Shape 45"/>
          <p:cNvSpPr/>
          <p:nvPr/>
        </p:nvSpPr>
        <p:spPr>
          <a:xfrm>
            <a:off x="12617797" y="6531769"/>
            <a:ext cx="4717554" cy="2223641"/>
          </a:xfrm>
          <a:prstGeom prst="roundRect">
            <a:avLst>
              <a:gd name="adj" fmla="val 2570"/>
            </a:avLst>
          </a:prstGeom>
          <a:solidFill>
            <a:srgbClr val="141923"/>
          </a:solidFill>
          <a:ln w="9525">
            <a:solidFill>
              <a:srgbClr val="232A3A"/>
            </a:solidFill>
            <a:prstDash val="solid"/>
          </a:ln>
        </p:spPr>
      </p:sp>
      <p:sp>
        <p:nvSpPr>
          <p:cNvPr id="52" name="Shape 46"/>
          <p:cNvSpPr/>
          <p:nvPr/>
        </p:nvSpPr>
        <p:spPr>
          <a:xfrm>
            <a:off x="12627322" y="6541294"/>
            <a:ext cx="4698504" cy="1485900"/>
          </a:xfrm>
          <a:prstGeom prst="rect">
            <a:avLst/>
          </a:prstGeom>
          <a:solidFill>
            <a:srgbClr val="000000"/>
          </a:solidFill>
          <a:ln/>
        </p:spPr>
      </p:sp>
      <p:pic>
        <p:nvPicPr>
          <p:cNvPr id="53" name="Image 4" descr="preencoded.png">    </p:cNvPr>
          <p:cNvPicPr>
            <a:picLocks noChangeAspect="1"/>
          </p:cNvPicPr>
          <p:nvPr/>
        </p:nvPicPr>
        <p:blipFill>
          <a:blip r:embed="rId5"/>
          <a:srcRect l="0" r="0" t="0" b="0"/>
          <a:stretch/>
        </p:blipFill>
        <p:spPr>
          <a:xfrm>
            <a:off x="12627322" y="6541294"/>
            <a:ext cx="4698504" cy="1485900"/>
          </a:xfrm>
          <a:prstGeom prst="rect">
            <a:avLst/>
          </a:prstGeom>
        </p:spPr>
      </p:pic>
      <p:sp>
        <p:nvSpPr>
          <p:cNvPr id="54" name="Shape 47"/>
          <p:cNvSpPr/>
          <p:nvPr/>
        </p:nvSpPr>
        <p:spPr>
          <a:xfrm>
            <a:off x="12627322" y="8027194"/>
            <a:ext cx="4698504" cy="581025"/>
          </a:xfrm>
          <a:prstGeom prst="rect">
            <a:avLst/>
          </a:prstGeom>
          <a:solidFill>
            <a:srgbClr val="0F131A"/>
          </a:solidFill>
          <a:ln/>
        </p:spPr>
      </p:sp>
      <p:sp>
        <p:nvSpPr>
          <p:cNvPr id="55" name="Shape 48"/>
          <p:cNvSpPr/>
          <p:nvPr/>
        </p:nvSpPr>
        <p:spPr>
          <a:xfrm>
            <a:off x="12627322" y="8027194"/>
            <a:ext cx="4698504" cy="9525"/>
          </a:xfrm>
          <a:prstGeom prst="rect">
            <a:avLst/>
          </a:prstGeom>
          <a:solidFill>
            <a:srgbClr val="232A3A"/>
          </a:solidFill>
          <a:ln/>
        </p:spPr>
      </p:sp>
      <p:sp>
        <p:nvSpPr>
          <p:cNvPr id="56" name="Text 49"/>
          <p:cNvSpPr/>
          <p:nvPr/>
        </p:nvSpPr>
        <p:spPr>
          <a:xfrm>
            <a:off x="12798772" y="8170069"/>
            <a:ext cx="4496559" cy="342900"/>
          </a:xfrm>
          <a:prstGeom prst="rect">
            <a:avLst/>
          </a:prstGeom>
          <a:noFill/>
          <a:ln/>
        </p:spPr>
        <p:txBody>
          <a:bodyPr wrap="square" lIns="25400" tIns="25400" rIns="25400" bIns="25400" rtlCol="0" anchor="t">
            <a:normAutofit/>
          </a:bodyPr>
          <a:lstStyle/>
          <a:p>
            <a:pPr algn="l" indent="0" marL="0">
              <a:buNone/>
            </a:pPr>
            <a:r>
              <a:rPr lang="en-US" sz="1050" spc="168" kern="0" dirty="0">
                <a:solidFill>
                  <a:srgbClr val="8A93A6"/>
                </a:solidFill>
                <a:latin typeface="Arial" pitchFamily="34" charset="0"/>
                <a:ea typeface="Arial" pitchFamily="34" charset="-122"/>
                <a:cs typeface="Arial" pitchFamily="34" charset="-120"/>
              </a:rPr>
              <a:t>PANEL 8 · INDEX IMPROVEMENT · EXPLAIN SUMMARY</a:t>
            </a:r>
            <a:endParaRPr lang="en-US" sz="1050" dirty="0"/>
          </a:p>
        </p:txBody>
      </p:sp>
      <p:sp>
        <p:nvSpPr>
          <p:cNvPr id="57" name="Shape 50"/>
          <p:cNvSpPr/>
          <p:nvPr/>
        </p:nvSpPr>
        <p:spPr>
          <a:xfrm>
            <a:off x="952500" y="8926860"/>
            <a:ext cx="16383000" cy="674340"/>
          </a:xfrm>
          <a:prstGeom prst="rect">
            <a:avLst/>
          </a:prstGeom>
          <a:solidFill>
            <a:srgbClr val="FF5A4E">
              <a:alpha val="6000"/>
            </a:srgbClr>
          </a:solidFill>
          <a:ln/>
        </p:spPr>
      </p:sp>
      <p:sp>
        <p:nvSpPr>
          <p:cNvPr id="58" name="Shape 51"/>
          <p:cNvSpPr/>
          <p:nvPr/>
        </p:nvSpPr>
        <p:spPr>
          <a:xfrm>
            <a:off x="952500" y="8926860"/>
            <a:ext cx="28575" cy="674340"/>
          </a:xfrm>
          <a:prstGeom prst="rect">
            <a:avLst/>
          </a:prstGeom>
          <a:solidFill>
            <a:srgbClr val="FF5A4E"/>
          </a:solidFill>
          <a:ln/>
        </p:spPr>
      </p:sp>
      <p:sp>
        <p:nvSpPr>
          <p:cNvPr id="59" name="Text 52"/>
          <p:cNvSpPr/>
          <p:nvPr/>
        </p:nvSpPr>
        <p:spPr>
          <a:xfrm>
            <a:off x="1209675" y="9098310"/>
            <a:ext cx="16388715"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Attack day on </a:t>
            </a:r>
            <a:pPr algn="l" indent="0" marL="0">
              <a:lnSpc>
                <a:spcPct val="145000"/>
              </a:lnSpc>
              <a:buNone/>
            </a:pPr>
            <a:r>
              <a:rPr lang="en-US" sz="1656" i="1" dirty="0">
                <a:solidFill>
                  <a:srgbClr val="E8ECF4"/>
                </a:solidFill>
                <a:highlight>
                  <a:srgbClr val="1C2230"/>
                </a:highlight>
                <a:latin typeface="Arial" pitchFamily="34" charset="0"/>
                <a:ea typeface="Arial" pitchFamily="34" charset="-122"/>
                <a:cs typeface="Arial" pitchFamily="34" charset="-120"/>
              </a:rPr>
              <a:t>intranet_server </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ranks 3 of 4 days by raw audit volume. </a:t>
            </a:r>
            <a:pPr algn="l" indent="0" marL="0">
              <a:lnSpc>
                <a:spcPct val="145000"/>
              </a:lnSpc>
              <a:buNone/>
            </a:pPr>
            <a:r>
              <a:rPr lang="en-US" sz="1800" i="1" dirty="0">
                <a:solidFill>
                  <a:srgbClr val="FF5A4E"/>
                </a:solidFill>
                <a:latin typeface="Arial" pitchFamily="34" charset="0"/>
                <a:ea typeface="Arial" pitchFamily="34" charset="-122"/>
                <a:cs typeface="Arial" pitchFamily="34" charset="-120"/>
              </a:rPr>
              <a:t>Volume-only detection misses it</a:t>
            </a:r>
            <a:pPr algn="l" indent="0" marL="0">
              <a:lnSpc>
                <a:spcPct val="145000"/>
              </a:lnSpc>
              <a:buNone/>
            </a:pPr>
            <a:r>
              <a:rPr lang="en-US" sz="1800" i="1" dirty="0">
                <a:solidFill>
                  <a:srgbClr val="E8ECF4"/>
                </a:solidFill>
                <a:highlight>
                  <a:srgbClr val="FF5A4E"/>
                </a:highlight>
                <a:latin typeface="Arial" pitchFamily="34" charset="0"/>
                <a:ea typeface="Arial" pitchFamily="34" charset="-122"/>
                <a:cs typeface="Arial" pitchFamily="34" charset="-120"/>
              </a:rPr>
              <a:t>; the dashboard surfaces the chain anyway.</a:t>
            </a:r>
            <a:endParaRPr lang="en-US" sz="1800" dirty="0"/>
          </a:p>
        </p:txBody>
      </p:sp>
      <p:sp>
        <p:nvSpPr>
          <p:cNvPr id="60" name="Shape 53"/>
          <p:cNvSpPr/>
          <p:nvPr/>
        </p:nvSpPr>
        <p:spPr>
          <a:xfrm>
            <a:off x="952500" y="9648825"/>
            <a:ext cx="16383000" cy="9525"/>
          </a:xfrm>
          <a:prstGeom prst="rect">
            <a:avLst/>
          </a:prstGeom>
          <a:solidFill>
            <a:srgbClr val="232A3A"/>
          </a:solidFill>
          <a:ln/>
        </p:spPr>
      </p:sp>
      <p:sp>
        <p:nvSpPr>
          <p:cNvPr id="61" name="Text 54"/>
          <p:cNvSpPr/>
          <p:nvPr/>
        </p:nvSpPr>
        <p:spPr>
          <a:xfrm>
            <a:off x="952500" y="9810750"/>
            <a:ext cx="2411313"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10 / 11 · ISHAAN · 1:30</a:t>
            </a:r>
            <a:endParaRPr lang="en-US" sz="1200" dirty="0"/>
          </a:p>
        </p:txBody>
      </p:sp>
      <p:sp>
        <p:nvSpPr>
          <p:cNvPr id="62" name="Text 55"/>
          <p:cNvSpPr/>
          <p:nvPr/>
        </p:nvSpPr>
        <p:spPr>
          <a:xfrm>
            <a:off x="14871948" y="9810750"/>
            <a:ext cx="2539752"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INTERACTIVE DASHBOARD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12"/>
        </a:solidFill>
      </p:bgPr>
    </p:bg>
    <p:spTree>
      <p:nvGrpSpPr>
        <p:cNvPr id="1" name=""/>
        <p:cNvGrpSpPr/>
        <p:nvPr/>
      </p:nvGrpSpPr>
      <p:grpSpPr>
        <a:xfrm>
          <a:off x="0" y="0"/>
          <a:ext cx="0" cy="0"/>
          <a:chOff x="0" y="0"/>
          <a:chExt cx="0" cy="0"/>
        </a:xfrm>
      </p:grpSpPr>
      <p:sp>
        <p:nvSpPr>
          <p:cNvPr id="2" name="Shape 0"/>
          <p:cNvSpPr/>
          <p:nvPr/>
        </p:nvSpPr>
        <p:spPr>
          <a:xfrm>
            <a:off x="952500" y="1057275"/>
            <a:ext cx="16383000" cy="9525"/>
          </a:xfrm>
          <a:prstGeom prst="rect">
            <a:avLst/>
          </a:prstGeom>
          <a:solidFill>
            <a:srgbClr val="232A3A"/>
          </a:solidFill>
          <a:ln/>
        </p:spPr>
      </p:sp>
      <p:sp>
        <p:nvSpPr>
          <p:cNvPr id="3" name="Text 1"/>
          <p:cNvSpPr/>
          <p:nvPr/>
        </p:nvSpPr>
        <p:spPr>
          <a:xfrm>
            <a:off x="952500" y="609600"/>
            <a:ext cx="2846804" cy="257175"/>
          </a:xfrm>
          <a:prstGeom prst="rect">
            <a:avLst/>
          </a:prstGeom>
          <a:noFill/>
          <a:ln/>
        </p:spPr>
        <p:txBody>
          <a:bodyPr wrap="square" lIns="25400" tIns="25400" rIns="25400" bIns="25400" rtlCol="0" anchor="t">
            <a:normAutofit/>
          </a:bodyPr>
          <a:lstStyle/>
          <a:p>
            <a:pPr algn="l" indent="0" marL="0">
              <a:buNone/>
            </a:pPr>
            <a:r>
              <a:rPr lang="en-US" sz="1350" b="1" spc="243" kern="0" dirty="0">
                <a:solidFill>
                  <a:srgbClr val="FF5A4E"/>
                </a:solidFill>
                <a:latin typeface="Arial" pitchFamily="34" charset="0"/>
                <a:ea typeface="Arial" pitchFamily="34" charset="-122"/>
                <a:cs typeface="Arial" pitchFamily="34" charset="-120"/>
              </a:rPr>
              <a:t>06 </a:t>
            </a:r>
            <a:pPr algn="l" indent="0" marL="0">
              <a:buNone/>
            </a:pPr>
            <a:r>
              <a:rPr lang="en-US" sz="1350" spc="243" kern="0" dirty="0">
                <a:solidFill>
                  <a:srgbClr val="C3CAD8"/>
                </a:solidFill>
                <a:latin typeface="Arial" pitchFamily="34" charset="0"/>
                <a:ea typeface="Arial" pitchFamily="34" charset="-122"/>
                <a:cs typeface="Arial" pitchFamily="34" charset="-120"/>
              </a:rPr>
              <a:t>/ FINDINGS &amp; CLOSE</a:t>
            </a:r>
            <a:endParaRPr lang="en-US" sz="1350" dirty="0"/>
          </a:p>
        </p:txBody>
      </p:sp>
      <p:sp>
        <p:nvSpPr>
          <p:cNvPr id="4" name="Text 2"/>
          <p:cNvSpPr/>
          <p:nvPr/>
        </p:nvSpPr>
        <p:spPr>
          <a:xfrm>
            <a:off x="15342691" y="628650"/>
            <a:ext cx="2069009" cy="238125"/>
          </a:xfrm>
          <a:prstGeom prst="rect">
            <a:avLst/>
          </a:prstGeom>
          <a:noFill/>
          <a:ln/>
        </p:spPr>
        <p:txBody>
          <a:bodyPr wrap="square" lIns="25400" tIns="25400" rIns="25400" bIns="25400" rtlCol="0" anchor="t">
            <a:normAutofit/>
          </a:bodyPr>
          <a:lstStyle/>
          <a:p>
            <a:pPr algn="l" indent="0" marL="0">
              <a:buNone/>
            </a:pPr>
            <a:r>
              <a:rPr lang="en-US" sz="1350" spc="243" kern="0" dirty="0">
                <a:solidFill>
                  <a:srgbClr val="8A93A6"/>
                </a:solidFill>
                <a:latin typeface="Arial" pitchFamily="34" charset="0"/>
                <a:ea typeface="Arial" pitchFamily="34" charset="-122"/>
                <a:cs typeface="Arial" pitchFamily="34" charset="-120"/>
              </a:rPr>
              <a:t>SECTION 11 OF 11</a:t>
            </a:r>
            <a:endParaRPr lang="en-US" sz="1350" dirty="0"/>
          </a:p>
        </p:txBody>
      </p:sp>
      <p:sp>
        <p:nvSpPr>
          <p:cNvPr id="5" name="Text 3"/>
          <p:cNvSpPr/>
          <p:nvPr/>
        </p:nvSpPr>
        <p:spPr>
          <a:xfrm>
            <a:off x="952500" y="1600200"/>
            <a:ext cx="16874490" cy="614065"/>
          </a:xfrm>
          <a:prstGeom prst="rect">
            <a:avLst/>
          </a:prstGeom>
          <a:noFill/>
          <a:ln/>
        </p:spPr>
        <p:txBody>
          <a:bodyPr wrap="square" lIns="25400" tIns="25400" rIns="25400" bIns="25400" rtlCol="0" anchor="t">
            <a:normAutofit/>
          </a:bodyPr>
          <a:lstStyle/>
          <a:p>
            <a:pPr algn="l" indent="0" marL="0">
              <a:lnSpc>
                <a:spcPct val="108000"/>
              </a:lnSpc>
              <a:buNone/>
            </a:pPr>
            <a:r>
              <a:rPr lang="en-US" sz="4200" spc="-50" kern="0" dirty="0">
                <a:solidFill>
                  <a:srgbClr val="E8ECF4"/>
                </a:solidFill>
                <a:latin typeface="Arial" pitchFamily="34" charset="0"/>
                <a:ea typeface="Arial" pitchFamily="34" charset="-122"/>
                <a:cs typeface="Arial" pitchFamily="34" charset="-120"/>
              </a:rPr>
              <a:t>Three findings the schema lets us defend.</a:t>
            </a:r>
            <a:endParaRPr lang="en-US" sz="4200" dirty="0"/>
          </a:p>
        </p:txBody>
      </p:sp>
      <p:sp>
        <p:nvSpPr>
          <p:cNvPr id="6" name="Shape 4"/>
          <p:cNvSpPr/>
          <p:nvPr/>
        </p:nvSpPr>
        <p:spPr>
          <a:xfrm>
            <a:off x="952500" y="2442865"/>
            <a:ext cx="5283101" cy="2252663"/>
          </a:xfrm>
          <a:prstGeom prst="roundRect">
            <a:avLst>
              <a:gd name="adj" fmla="val 2537"/>
            </a:avLst>
          </a:prstGeom>
          <a:solidFill>
            <a:srgbClr val="141923"/>
          </a:solidFill>
          <a:ln/>
        </p:spPr>
      </p:sp>
      <p:sp>
        <p:nvSpPr>
          <p:cNvPr id="7" name="Shape 5"/>
          <p:cNvSpPr/>
          <p:nvPr/>
        </p:nvSpPr>
        <p:spPr>
          <a:xfrm>
            <a:off x="952500" y="4686002"/>
            <a:ext cx="5283101" cy="9525"/>
          </a:xfrm>
          <a:prstGeom prst="rect">
            <a:avLst/>
          </a:prstGeom>
          <a:solidFill>
            <a:srgbClr val="232A3A"/>
          </a:solidFill>
          <a:ln/>
        </p:spPr>
      </p:sp>
      <p:sp>
        <p:nvSpPr>
          <p:cNvPr id="8" name="Shape 6"/>
          <p:cNvSpPr/>
          <p:nvPr/>
        </p:nvSpPr>
        <p:spPr>
          <a:xfrm>
            <a:off x="952500" y="2442865"/>
            <a:ext cx="5283101" cy="28575"/>
          </a:xfrm>
          <a:prstGeom prst="rect">
            <a:avLst/>
          </a:prstGeom>
          <a:solidFill>
            <a:srgbClr val="FF5A4E"/>
          </a:solidFill>
          <a:ln/>
        </p:spPr>
      </p:sp>
      <p:sp>
        <p:nvSpPr>
          <p:cNvPr id="9" name="Shape 7"/>
          <p:cNvSpPr/>
          <p:nvPr/>
        </p:nvSpPr>
        <p:spPr>
          <a:xfrm>
            <a:off x="952500" y="2442865"/>
            <a:ext cx="9525" cy="2252663"/>
          </a:xfrm>
          <a:prstGeom prst="rect">
            <a:avLst/>
          </a:prstGeom>
          <a:solidFill>
            <a:srgbClr val="232A3A"/>
          </a:solidFill>
          <a:ln/>
        </p:spPr>
      </p:sp>
      <p:sp>
        <p:nvSpPr>
          <p:cNvPr id="10" name="Shape 8"/>
          <p:cNvSpPr/>
          <p:nvPr/>
        </p:nvSpPr>
        <p:spPr>
          <a:xfrm>
            <a:off x="6226076" y="2442865"/>
            <a:ext cx="9525" cy="2252663"/>
          </a:xfrm>
          <a:prstGeom prst="rect">
            <a:avLst/>
          </a:prstGeom>
          <a:solidFill>
            <a:srgbClr val="232A3A"/>
          </a:solidFill>
          <a:ln/>
        </p:spPr>
      </p:sp>
      <p:sp>
        <p:nvSpPr>
          <p:cNvPr id="11" name="Text 9"/>
          <p:cNvSpPr/>
          <p:nvPr/>
        </p:nvSpPr>
        <p:spPr>
          <a:xfrm>
            <a:off x="1228725" y="2700040"/>
            <a:ext cx="4872570" cy="238125"/>
          </a:xfrm>
          <a:prstGeom prst="rect">
            <a:avLst/>
          </a:prstGeom>
          <a:noFill/>
          <a:ln/>
        </p:spPr>
        <p:txBody>
          <a:bodyPr wrap="square" lIns="25400" tIns="25400" rIns="25400" bIns="25400" rtlCol="0" anchor="t">
            <a:normAutofit/>
          </a:bodyPr>
          <a:lstStyle/>
          <a:p>
            <a:pPr algn="l" indent="0" marL="0">
              <a:buNone/>
            </a:pPr>
            <a:r>
              <a:rPr lang="en-US" sz="1350" spc="203" kern="0" dirty="0">
                <a:solidFill>
                  <a:srgbClr val="FF5A4E"/>
                </a:solidFill>
                <a:latin typeface="Arial" pitchFamily="34" charset="0"/>
                <a:ea typeface="Arial" pitchFamily="34" charset="-122"/>
                <a:cs typeface="Arial" pitchFamily="34" charset="-120"/>
              </a:rPr>
              <a:t>01</a:t>
            </a:r>
            <a:endParaRPr lang="en-US" sz="1350" dirty="0"/>
          </a:p>
        </p:txBody>
      </p:sp>
      <p:sp>
        <p:nvSpPr>
          <p:cNvPr id="12" name="Text 10"/>
          <p:cNvSpPr/>
          <p:nvPr/>
        </p:nvSpPr>
        <p:spPr>
          <a:xfrm>
            <a:off x="1228725" y="3033415"/>
            <a:ext cx="4872570" cy="397669"/>
          </a:xfrm>
          <a:prstGeom prst="rect">
            <a:avLst/>
          </a:prstGeom>
          <a:noFill/>
          <a:ln/>
        </p:spPr>
        <p:txBody>
          <a:bodyPr wrap="square" lIns="25400" tIns="25400" rIns="25400" bIns="25400" rtlCol="0" anchor="t">
            <a:normAutofit/>
          </a:bodyPr>
          <a:lstStyle/>
          <a:p>
            <a:pPr algn="l" indent="0" marL="0">
              <a:lnSpc>
                <a:spcPct val="118000"/>
              </a:lnSpc>
              <a:buNone/>
            </a:pPr>
            <a:r>
              <a:rPr lang="en-US" sz="2400" dirty="0">
                <a:solidFill>
                  <a:srgbClr val="E8ECF4"/>
                </a:solidFill>
                <a:latin typeface="Arial" pitchFamily="34" charset="0"/>
                <a:ea typeface="Arial" pitchFamily="34" charset="-122"/>
                <a:cs typeface="Arial" pitchFamily="34" charset="-120"/>
              </a:rPr>
              <a:t>Volume is not coverage.</a:t>
            </a:r>
            <a:endParaRPr lang="en-US" sz="2400" dirty="0"/>
          </a:p>
        </p:txBody>
      </p:sp>
      <p:sp>
        <p:nvSpPr>
          <p:cNvPr id="13" name="Text 11"/>
          <p:cNvSpPr/>
          <p:nvPr/>
        </p:nvSpPr>
        <p:spPr>
          <a:xfrm>
            <a:off x="1228725" y="3526334"/>
            <a:ext cx="4872570"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8A93A6"/>
                </a:solidFill>
                <a:latin typeface="-apple-system" pitchFamily="34" charset="0"/>
                <a:ea typeface="-apple-system" pitchFamily="34" charset="-122"/>
                <a:cs typeface="-apple-system" pitchFamily="34" charset="-120"/>
              </a:rPr>
              <a:t>Privilege escalation has only 9 audit events, yet it is the most consequential phase of the attack.</a:t>
            </a:r>
            <a:endParaRPr lang="en-US" sz="1500" dirty="0"/>
          </a:p>
        </p:txBody>
      </p:sp>
      <p:sp>
        <p:nvSpPr>
          <p:cNvPr id="14" name="Shape 12"/>
          <p:cNvSpPr/>
          <p:nvPr/>
        </p:nvSpPr>
        <p:spPr>
          <a:xfrm>
            <a:off x="6502301" y="2442865"/>
            <a:ext cx="5283250" cy="2252663"/>
          </a:xfrm>
          <a:prstGeom prst="roundRect">
            <a:avLst>
              <a:gd name="adj" fmla="val 2537"/>
            </a:avLst>
          </a:prstGeom>
          <a:solidFill>
            <a:srgbClr val="141923"/>
          </a:solidFill>
          <a:ln/>
        </p:spPr>
      </p:sp>
      <p:sp>
        <p:nvSpPr>
          <p:cNvPr id="15" name="Shape 13"/>
          <p:cNvSpPr/>
          <p:nvPr/>
        </p:nvSpPr>
        <p:spPr>
          <a:xfrm>
            <a:off x="6502301" y="4686002"/>
            <a:ext cx="5283250" cy="9525"/>
          </a:xfrm>
          <a:prstGeom prst="rect">
            <a:avLst/>
          </a:prstGeom>
          <a:solidFill>
            <a:srgbClr val="232A3A"/>
          </a:solidFill>
          <a:ln/>
        </p:spPr>
      </p:sp>
      <p:sp>
        <p:nvSpPr>
          <p:cNvPr id="16" name="Shape 14"/>
          <p:cNvSpPr/>
          <p:nvPr/>
        </p:nvSpPr>
        <p:spPr>
          <a:xfrm>
            <a:off x="6502301" y="2442865"/>
            <a:ext cx="5283250" cy="28575"/>
          </a:xfrm>
          <a:prstGeom prst="rect">
            <a:avLst/>
          </a:prstGeom>
          <a:solidFill>
            <a:srgbClr val="FF5A4E"/>
          </a:solidFill>
          <a:ln/>
        </p:spPr>
      </p:sp>
      <p:sp>
        <p:nvSpPr>
          <p:cNvPr id="17" name="Shape 15"/>
          <p:cNvSpPr/>
          <p:nvPr/>
        </p:nvSpPr>
        <p:spPr>
          <a:xfrm>
            <a:off x="6502301" y="2442865"/>
            <a:ext cx="9525" cy="2252663"/>
          </a:xfrm>
          <a:prstGeom prst="rect">
            <a:avLst/>
          </a:prstGeom>
          <a:solidFill>
            <a:srgbClr val="232A3A"/>
          </a:solidFill>
          <a:ln/>
        </p:spPr>
      </p:sp>
      <p:sp>
        <p:nvSpPr>
          <p:cNvPr id="18" name="Shape 16"/>
          <p:cNvSpPr/>
          <p:nvPr/>
        </p:nvSpPr>
        <p:spPr>
          <a:xfrm>
            <a:off x="11776025" y="2442865"/>
            <a:ext cx="9525" cy="2252663"/>
          </a:xfrm>
          <a:prstGeom prst="rect">
            <a:avLst/>
          </a:prstGeom>
          <a:solidFill>
            <a:srgbClr val="232A3A"/>
          </a:solidFill>
          <a:ln/>
        </p:spPr>
      </p:sp>
      <p:sp>
        <p:nvSpPr>
          <p:cNvPr id="19" name="Text 17"/>
          <p:cNvSpPr/>
          <p:nvPr/>
        </p:nvSpPr>
        <p:spPr>
          <a:xfrm>
            <a:off x="6778526" y="2700040"/>
            <a:ext cx="4872724" cy="238125"/>
          </a:xfrm>
          <a:prstGeom prst="rect">
            <a:avLst/>
          </a:prstGeom>
          <a:noFill/>
          <a:ln/>
        </p:spPr>
        <p:txBody>
          <a:bodyPr wrap="square" lIns="25400" tIns="25400" rIns="25400" bIns="25400" rtlCol="0" anchor="t">
            <a:normAutofit/>
          </a:bodyPr>
          <a:lstStyle/>
          <a:p>
            <a:pPr algn="l" indent="0" marL="0">
              <a:buNone/>
            </a:pPr>
            <a:r>
              <a:rPr lang="en-US" sz="1350" spc="203" kern="0" dirty="0">
                <a:solidFill>
                  <a:srgbClr val="FF5A4E"/>
                </a:solidFill>
                <a:latin typeface="Arial" pitchFamily="34" charset="0"/>
                <a:ea typeface="Arial" pitchFamily="34" charset="-122"/>
                <a:cs typeface="Arial" pitchFamily="34" charset="-120"/>
              </a:rPr>
              <a:t>02</a:t>
            </a:r>
            <a:endParaRPr lang="en-US" sz="1350" dirty="0"/>
          </a:p>
        </p:txBody>
      </p:sp>
      <p:sp>
        <p:nvSpPr>
          <p:cNvPr id="20" name="Text 18"/>
          <p:cNvSpPr/>
          <p:nvPr/>
        </p:nvSpPr>
        <p:spPr>
          <a:xfrm>
            <a:off x="6778526" y="3033415"/>
            <a:ext cx="4872724" cy="757238"/>
          </a:xfrm>
          <a:prstGeom prst="rect">
            <a:avLst/>
          </a:prstGeom>
          <a:noFill/>
          <a:ln/>
        </p:spPr>
        <p:txBody>
          <a:bodyPr wrap="square" lIns="25400" tIns="25400" rIns="25400" bIns="25400" rtlCol="0" anchor="t">
            <a:normAutofit/>
          </a:bodyPr>
          <a:lstStyle/>
          <a:p>
            <a:pPr algn="l" indent="0" marL="0">
              <a:lnSpc>
                <a:spcPct val="118000"/>
              </a:lnSpc>
              <a:buNone/>
            </a:pPr>
            <a:r>
              <a:rPr lang="en-US" sz="2400" dirty="0">
                <a:solidFill>
                  <a:srgbClr val="E8ECF4"/>
                </a:solidFill>
                <a:latin typeface="Arial" pitchFamily="34" charset="0"/>
                <a:ea typeface="Arial" pitchFamily="34" charset="-122"/>
                <a:cs typeface="Arial" pitchFamily="34" charset="-120"/>
              </a:rPr>
              <a:t>Volume-only detection misses the attack.</a:t>
            </a:r>
            <a:endParaRPr lang="en-US" sz="2400" dirty="0"/>
          </a:p>
        </p:txBody>
      </p:sp>
      <p:sp>
        <p:nvSpPr>
          <p:cNvPr id="21" name="Text 19"/>
          <p:cNvSpPr/>
          <p:nvPr/>
        </p:nvSpPr>
        <p:spPr>
          <a:xfrm>
            <a:off x="6778526" y="3885902"/>
            <a:ext cx="4872724"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8A93A6"/>
                </a:solidFill>
                <a:latin typeface="-apple-system" pitchFamily="34" charset="0"/>
                <a:ea typeface="-apple-system" pitchFamily="34" charset="-122"/>
                <a:cs typeface="-apple-system" pitchFamily="34" charset="-120"/>
              </a:rPr>
              <a:t>Attack day ranks 3 of 4 by raw audit volume on </a:t>
            </a:r>
            <a:pPr algn="l" indent="0" marL="0">
              <a:lnSpc>
                <a:spcPct val="150000"/>
              </a:lnSpc>
              <a:buNone/>
            </a:pPr>
            <a:r>
              <a:rPr lang="en-US" sz="1380" dirty="0">
                <a:solidFill>
                  <a:srgbClr val="E8ECF4"/>
                </a:solidFill>
                <a:highlight>
                  <a:srgbClr val="1C2230"/>
                </a:highlight>
                <a:latin typeface="Arial" pitchFamily="34" charset="0"/>
                <a:ea typeface="Arial" pitchFamily="34" charset="-122"/>
                <a:cs typeface="Arial" pitchFamily="34" charset="-120"/>
              </a:rPr>
              <a:t>intranet_server</a:t>
            </a:r>
            <a:pPr algn="l" indent="0" marL="0">
              <a:lnSpc>
                <a:spcPct val="150000"/>
              </a:lnSpc>
              <a:buNone/>
            </a:pPr>
            <a:r>
              <a:rPr lang="en-US" sz="1500" dirty="0">
                <a:solidFill>
                  <a:srgbClr val="8A93A6"/>
                </a:solidFill>
                <a:latin typeface="-apple-system" pitchFamily="34" charset="0"/>
                <a:ea typeface="-apple-system" pitchFamily="34" charset="-122"/>
                <a:cs typeface="-apple-system" pitchFamily="34" charset="-120"/>
              </a:rPr>
              <a:t>. The chain hides inside baseline noise.</a:t>
            </a:r>
            <a:endParaRPr lang="en-US" sz="1500" dirty="0"/>
          </a:p>
        </p:txBody>
      </p:sp>
      <p:sp>
        <p:nvSpPr>
          <p:cNvPr id="22" name="Shape 20"/>
          <p:cNvSpPr/>
          <p:nvPr/>
        </p:nvSpPr>
        <p:spPr>
          <a:xfrm>
            <a:off x="12052250" y="2442865"/>
            <a:ext cx="5283250" cy="2252663"/>
          </a:xfrm>
          <a:prstGeom prst="roundRect">
            <a:avLst>
              <a:gd name="adj" fmla="val 2537"/>
            </a:avLst>
          </a:prstGeom>
          <a:solidFill>
            <a:srgbClr val="141923"/>
          </a:solidFill>
          <a:ln/>
        </p:spPr>
      </p:sp>
      <p:sp>
        <p:nvSpPr>
          <p:cNvPr id="23" name="Shape 21"/>
          <p:cNvSpPr/>
          <p:nvPr/>
        </p:nvSpPr>
        <p:spPr>
          <a:xfrm>
            <a:off x="12052250" y="4686002"/>
            <a:ext cx="5283250" cy="9525"/>
          </a:xfrm>
          <a:prstGeom prst="rect">
            <a:avLst/>
          </a:prstGeom>
          <a:solidFill>
            <a:srgbClr val="232A3A"/>
          </a:solidFill>
          <a:ln/>
        </p:spPr>
      </p:sp>
      <p:sp>
        <p:nvSpPr>
          <p:cNvPr id="24" name="Shape 22"/>
          <p:cNvSpPr/>
          <p:nvPr/>
        </p:nvSpPr>
        <p:spPr>
          <a:xfrm>
            <a:off x="12052250" y="2442865"/>
            <a:ext cx="5283250" cy="28575"/>
          </a:xfrm>
          <a:prstGeom prst="rect">
            <a:avLst/>
          </a:prstGeom>
          <a:solidFill>
            <a:srgbClr val="FF5A4E"/>
          </a:solidFill>
          <a:ln/>
        </p:spPr>
      </p:sp>
      <p:sp>
        <p:nvSpPr>
          <p:cNvPr id="25" name="Shape 23"/>
          <p:cNvSpPr/>
          <p:nvPr/>
        </p:nvSpPr>
        <p:spPr>
          <a:xfrm>
            <a:off x="12052250" y="2442865"/>
            <a:ext cx="9525" cy="2252663"/>
          </a:xfrm>
          <a:prstGeom prst="rect">
            <a:avLst/>
          </a:prstGeom>
          <a:solidFill>
            <a:srgbClr val="232A3A"/>
          </a:solidFill>
          <a:ln/>
        </p:spPr>
      </p:sp>
      <p:sp>
        <p:nvSpPr>
          <p:cNvPr id="26" name="Shape 24"/>
          <p:cNvSpPr/>
          <p:nvPr/>
        </p:nvSpPr>
        <p:spPr>
          <a:xfrm>
            <a:off x="17325975" y="2442865"/>
            <a:ext cx="9525" cy="2252663"/>
          </a:xfrm>
          <a:prstGeom prst="rect">
            <a:avLst/>
          </a:prstGeom>
          <a:solidFill>
            <a:srgbClr val="232A3A"/>
          </a:solidFill>
          <a:ln/>
        </p:spPr>
      </p:sp>
      <p:sp>
        <p:nvSpPr>
          <p:cNvPr id="27" name="Text 25"/>
          <p:cNvSpPr/>
          <p:nvPr/>
        </p:nvSpPr>
        <p:spPr>
          <a:xfrm>
            <a:off x="12328475" y="2700040"/>
            <a:ext cx="4872724" cy="238125"/>
          </a:xfrm>
          <a:prstGeom prst="rect">
            <a:avLst/>
          </a:prstGeom>
          <a:noFill/>
          <a:ln/>
        </p:spPr>
        <p:txBody>
          <a:bodyPr wrap="square" lIns="25400" tIns="25400" rIns="25400" bIns="25400" rtlCol="0" anchor="t">
            <a:normAutofit/>
          </a:bodyPr>
          <a:lstStyle/>
          <a:p>
            <a:pPr algn="l" indent="0" marL="0">
              <a:buNone/>
            </a:pPr>
            <a:r>
              <a:rPr lang="en-US" sz="1350" spc="203" kern="0" dirty="0">
                <a:solidFill>
                  <a:srgbClr val="FF5A4E"/>
                </a:solidFill>
                <a:latin typeface="Arial" pitchFamily="34" charset="0"/>
                <a:ea typeface="Arial" pitchFamily="34" charset="-122"/>
                <a:cs typeface="Arial" pitchFamily="34" charset="-120"/>
              </a:rPr>
              <a:t>03</a:t>
            </a:r>
            <a:endParaRPr lang="en-US" sz="1350" dirty="0"/>
          </a:p>
        </p:txBody>
      </p:sp>
      <p:sp>
        <p:nvSpPr>
          <p:cNvPr id="28" name="Text 26"/>
          <p:cNvSpPr/>
          <p:nvPr/>
        </p:nvSpPr>
        <p:spPr>
          <a:xfrm>
            <a:off x="12328475" y="3033415"/>
            <a:ext cx="4872724" cy="757238"/>
          </a:xfrm>
          <a:prstGeom prst="rect">
            <a:avLst/>
          </a:prstGeom>
          <a:noFill/>
          <a:ln/>
        </p:spPr>
        <p:txBody>
          <a:bodyPr wrap="square" lIns="25400" tIns="25400" rIns="25400" bIns="25400" rtlCol="0" anchor="t">
            <a:normAutofit/>
          </a:bodyPr>
          <a:lstStyle/>
          <a:p>
            <a:pPr algn="l" indent="0" marL="0">
              <a:lnSpc>
                <a:spcPct val="118000"/>
              </a:lnSpc>
              <a:buNone/>
            </a:pPr>
            <a:r>
              <a:rPr lang="en-US" sz="2400" dirty="0">
                <a:solidFill>
                  <a:srgbClr val="E8ECF4"/>
                </a:solidFill>
                <a:latin typeface="Arial" pitchFamily="34" charset="0"/>
                <a:ea typeface="Arial" pitchFamily="34" charset="-122"/>
                <a:cs typeface="Arial" pitchFamily="34" charset="-120"/>
              </a:rPr>
              <a:t>Relational design enables cross-source reconstruction.</a:t>
            </a:r>
            <a:endParaRPr lang="en-US" sz="2400" dirty="0"/>
          </a:p>
        </p:txBody>
      </p:sp>
      <p:sp>
        <p:nvSpPr>
          <p:cNvPr id="29" name="Text 27"/>
          <p:cNvSpPr/>
          <p:nvPr/>
        </p:nvSpPr>
        <p:spPr>
          <a:xfrm>
            <a:off x="12328475" y="3885902"/>
            <a:ext cx="4872724"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8A93A6"/>
                </a:solidFill>
                <a:latin typeface="-apple-system" pitchFamily="34" charset="0"/>
                <a:ea typeface="-apple-system" pitchFamily="34" charset="-122"/>
                <a:cs typeface="-apple-system" pitchFamily="34" charset="-120"/>
              </a:rPr>
              <a:t>Host inventory + audit events + labels + rules in one query is what made the 9-event chain readable.</a:t>
            </a:r>
            <a:endParaRPr lang="en-US" sz="1500" dirty="0"/>
          </a:p>
        </p:txBody>
      </p:sp>
      <p:sp>
        <p:nvSpPr>
          <p:cNvPr id="30" name="Text 28"/>
          <p:cNvSpPr/>
          <p:nvPr/>
        </p:nvSpPr>
        <p:spPr>
          <a:xfrm>
            <a:off x="952500" y="5000327"/>
            <a:ext cx="9315920" cy="209550"/>
          </a:xfrm>
          <a:prstGeom prst="rect">
            <a:avLst/>
          </a:prstGeom>
          <a:noFill/>
          <a:ln/>
        </p:spPr>
        <p:txBody>
          <a:bodyPr wrap="square" lIns="25400" tIns="25400" rIns="25400" bIns="25400" rtlCol="0" anchor="t">
            <a:normAutofit/>
          </a:bodyPr>
          <a:lstStyle/>
          <a:p>
            <a:pPr algn="l" indent="0" marL="0">
              <a:buNone/>
            </a:pPr>
            <a:r>
              <a:rPr lang="en-US" sz="1200" spc="264" kern="0" dirty="0">
                <a:solidFill>
                  <a:srgbClr val="8A93A6"/>
                </a:solidFill>
                <a:latin typeface="Arial" pitchFamily="34" charset="0"/>
                <a:ea typeface="Arial" pitchFamily="34" charset="-122"/>
                <a:cs typeface="Arial" pitchFamily="34" charset="-120"/>
              </a:rPr>
              <a:t>DELIVERABLES</a:t>
            </a:r>
            <a:endParaRPr lang="en-US" sz="1200" dirty="0"/>
          </a:p>
        </p:txBody>
      </p:sp>
      <p:sp>
        <p:nvSpPr>
          <p:cNvPr id="31" name="Shape 29"/>
          <p:cNvSpPr/>
          <p:nvPr/>
        </p:nvSpPr>
        <p:spPr>
          <a:xfrm>
            <a:off x="952500" y="5247977"/>
            <a:ext cx="9044583" cy="9525"/>
          </a:xfrm>
          <a:prstGeom prst="rect">
            <a:avLst/>
          </a:prstGeom>
          <a:solidFill>
            <a:srgbClr val="232A3A"/>
          </a:solidFill>
          <a:ln/>
        </p:spPr>
      </p:sp>
      <p:sp>
        <p:nvSpPr>
          <p:cNvPr id="32" name="Text 30"/>
          <p:cNvSpPr/>
          <p:nvPr/>
        </p:nvSpPr>
        <p:spPr>
          <a:xfrm>
            <a:off x="952500" y="5505152"/>
            <a:ext cx="2171700" cy="19050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5D6577"/>
                </a:solidFill>
                <a:latin typeface="Arial" pitchFamily="34" charset="0"/>
                <a:ea typeface="Arial" pitchFamily="34" charset="-122"/>
                <a:cs typeface="Arial" pitchFamily="34" charset="-120"/>
              </a:rPr>
              <a:t>GITHUB REPO</a:t>
            </a:r>
            <a:endParaRPr lang="en-US" sz="1050" dirty="0"/>
          </a:p>
        </p:txBody>
      </p:sp>
      <p:sp>
        <p:nvSpPr>
          <p:cNvPr id="33" name="Text 31"/>
          <p:cNvSpPr/>
          <p:nvPr/>
        </p:nvSpPr>
        <p:spPr>
          <a:xfrm>
            <a:off x="3219450" y="5409902"/>
            <a:ext cx="6980962" cy="645616"/>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C3CAD8"/>
                </a:solidFill>
                <a:latin typeface="-apple-system" pitchFamily="34" charset="0"/>
                <a:ea typeface="-apple-system" pitchFamily="34" charset="-122"/>
                <a:cs typeface="-apple-system" pitchFamily="34" charset="-120"/>
              </a:rPr>
              <a:t>22-table 3NF schema · Alembic migrations · 23 SQL queries · Streamlit dashboard · README run steps.</a:t>
            </a:r>
            <a:endParaRPr lang="en-US" sz="1650" dirty="0"/>
          </a:p>
        </p:txBody>
      </p:sp>
      <p:sp>
        <p:nvSpPr>
          <p:cNvPr id="34" name="Shape 32"/>
          <p:cNvSpPr/>
          <p:nvPr/>
        </p:nvSpPr>
        <p:spPr>
          <a:xfrm>
            <a:off x="952500" y="6341269"/>
            <a:ext cx="9044583" cy="9525"/>
          </a:xfrm>
          <a:prstGeom prst="rect">
            <a:avLst/>
          </a:prstGeom>
          <a:solidFill>
            <a:srgbClr val="232A3A"/>
          </a:solidFill>
          <a:ln/>
        </p:spPr>
      </p:sp>
      <p:sp>
        <p:nvSpPr>
          <p:cNvPr id="35" name="Text 33"/>
          <p:cNvSpPr/>
          <p:nvPr/>
        </p:nvSpPr>
        <p:spPr>
          <a:xfrm>
            <a:off x="952500" y="6598444"/>
            <a:ext cx="2171700" cy="19050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5D6577"/>
                </a:solidFill>
                <a:latin typeface="Arial" pitchFamily="34" charset="0"/>
                <a:ea typeface="Arial" pitchFamily="34" charset="-122"/>
                <a:cs typeface="Arial" pitchFamily="34" charset="-120"/>
              </a:rPr>
              <a:t>TECHNICAL REPORT</a:t>
            </a:r>
            <a:endParaRPr lang="en-US" sz="1050" dirty="0"/>
          </a:p>
        </p:txBody>
      </p:sp>
      <p:sp>
        <p:nvSpPr>
          <p:cNvPr id="36" name="Text 34"/>
          <p:cNvSpPr/>
          <p:nvPr/>
        </p:nvSpPr>
        <p:spPr>
          <a:xfrm>
            <a:off x="3219450" y="6503194"/>
            <a:ext cx="6980962"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C3CAD8"/>
                </a:solidFill>
                <a:latin typeface="-apple-system" pitchFamily="34" charset="0"/>
                <a:ea typeface="-apple-system" pitchFamily="34" charset="-122"/>
                <a:cs typeface="-apple-system" pitchFamily="34" charset="-120"/>
              </a:rPr>
              <a:t>10-section PDF; full SQL portfolio in section 6.</a:t>
            </a:r>
            <a:endParaRPr lang="en-US" sz="1650" dirty="0"/>
          </a:p>
        </p:txBody>
      </p:sp>
      <p:sp>
        <p:nvSpPr>
          <p:cNvPr id="37" name="Shape 35"/>
          <p:cNvSpPr/>
          <p:nvPr/>
        </p:nvSpPr>
        <p:spPr>
          <a:xfrm>
            <a:off x="952500" y="7130802"/>
            <a:ext cx="9044583" cy="9525"/>
          </a:xfrm>
          <a:prstGeom prst="rect">
            <a:avLst/>
          </a:prstGeom>
          <a:solidFill>
            <a:srgbClr val="232A3A"/>
          </a:solidFill>
          <a:ln/>
        </p:spPr>
      </p:sp>
      <p:sp>
        <p:nvSpPr>
          <p:cNvPr id="38" name="Text 36"/>
          <p:cNvSpPr/>
          <p:nvPr/>
        </p:nvSpPr>
        <p:spPr>
          <a:xfrm>
            <a:off x="952500" y="7387977"/>
            <a:ext cx="2171700" cy="19050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5D6577"/>
                </a:solidFill>
                <a:latin typeface="Arial" pitchFamily="34" charset="0"/>
                <a:ea typeface="Arial" pitchFamily="34" charset="-122"/>
                <a:cs typeface="Arial" pitchFamily="34" charset="-120"/>
              </a:rPr>
              <a:t>DASHBOARD DEMO</a:t>
            </a:r>
            <a:endParaRPr lang="en-US" sz="1050" dirty="0"/>
          </a:p>
        </p:txBody>
      </p:sp>
      <p:sp>
        <p:nvSpPr>
          <p:cNvPr id="39" name="Text 37"/>
          <p:cNvSpPr/>
          <p:nvPr/>
        </p:nvSpPr>
        <p:spPr>
          <a:xfrm>
            <a:off x="3219450" y="7292727"/>
            <a:ext cx="6980962"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C3CAD8"/>
                </a:solidFill>
                <a:latin typeface="-apple-system" pitchFamily="34" charset="0"/>
                <a:ea typeface="-apple-system" pitchFamily="34" charset="-122"/>
                <a:cs typeface="-apple-system" pitchFamily="34" charset="-120"/>
              </a:rPr>
              <a:t>Live Streamlit app with screen-recording fallback.</a:t>
            </a:r>
            <a:endParaRPr lang="en-US" sz="1650" dirty="0"/>
          </a:p>
        </p:txBody>
      </p:sp>
      <p:sp>
        <p:nvSpPr>
          <p:cNvPr id="40" name="Shape 38"/>
          <p:cNvSpPr/>
          <p:nvPr/>
        </p:nvSpPr>
        <p:spPr>
          <a:xfrm>
            <a:off x="952500" y="7920335"/>
            <a:ext cx="9044583" cy="9525"/>
          </a:xfrm>
          <a:prstGeom prst="rect">
            <a:avLst/>
          </a:prstGeom>
          <a:solidFill>
            <a:srgbClr val="232A3A"/>
          </a:solidFill>
          <a:ln/>
        </p:spPr>
      </p:sp>
      <p:sp>
        <p:nvSpPr>
          <p:cNvPr id="41" name="Text 39"/>
          <p:cNvSpPr/>
          <p:nvPr/>
        </p:nvSpPr>
        <p:spPr>
          <a:xfrm>
            <a:off x="952500" y="8177510"/>
            <a:ext cx="2171700" cy="190500"/>
          </a:xfrm>
          <a:prstGeom prst="rect">
            <a:avLst/>
          </a:prstGeom>
          <a:noFill/>
          <a:ln/>
        </p:spPr>
        <p:txBody>
          <a:bodyPr wrap="square" lIns="25400" tIns="25400" rIns="25400" bIns="25400" rtlCol="0" anchor="t">
            <a:normAutofit/>
          </a:bodyPr>
          <a:lstStyle/>
          <a:p>
            <a:pPr algn="l" indent="0" marL="0">
              <a:buNone/>
            </a:pPr>
            <a:r>
              <a:rPr lang="en-US" sz="1050" spc="189" kern="0" dirty="0">
                <a:solidFill>
                  <a:srgbClr val="5D6577"/>
                </a:solidFill>
                <a:latin typeface="Arial" pitchFamily="34" charset="0"/>
                <a:ea typeface="Arial" pitchFamily="34" charset="-122"/>
                <a:cs typeface="Arial" pitchFamily="34" charset="-120"/>
              </a:rPr>
              <a:t>WHAT HAPPENED NEXT</a:t>
            </a:r>
            <a:endParaRPr lang="en-US" sz="1050" dirty="0"/>
          </a:p>
        </p:txBody>
      </p:sp>
      <p:sp>
        <p:nvSpPr>
          <p:cNvPr id="42" name="Text 40"/>
          <p:cNvSpPr/>
          <p:nvPr/>
        </p:nvSpPr>
        <p:spPr>
          <a:xfrm>
            <a:off x="3219450" y="8082260"/>
            <a:ext cx="6980962" cy="341858"/>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C3CAD8"/>
                </a:solidFill>
                <a:latin typeface="-apple-system" pitchFamily="34" charset="0"/>
                <a:ea typeface="-apple-system" pitchFamily="34" charset="-122"/>
                <a:cs typeface="-apple-system" pitchFamily="34" charset="-120"/>
              </a:rPr>
              <a:t>Exfiltration on </a:t>
            </a:r>
            <a:pPr algn="l" indent="0" marL="0">
              <a:lnSpc>
                <a:spcPct val="145000"/>
              </a:lnSpc>
              <a:buNone/>
            </a:pPr>
            <a:r>
              <a:rPr lang="en-US" sz="1518" dirty="0">
                <a:solidFill>
                  <a:srgbClr val="E8ECF4"/>
                </a:solidFill>
                <a:highlight>
                  <a:srgbClr val="1C2230"/>
                </a:highlight>
                <a:latin typeface="Arial" pitchFamily="34" charset="0"/>
                <a:ea typeface="Arial" pitchFamily="34" charset="-122"/>
                <a:cs typeface="Arial" pitchFamily="34" charset="-120"/>
              </a:rPr>
              <a:t>internal_share </a:t>
            </a:r>
            <a:pPr algn="l" indent="0" marL="0">
              <a:lnSpc>
                <a:spcPct val="145000"/>
              </a:lnSpc>
              <a:buNone/>
            </a:pPr>
            <a:r>
              <a:rPr lang="en-US" sz="1650" dirty="0">
                <a:solidFill>
                  <a:srgbClr val="C3CAD8"/>
                </a:solidFill>
                <a:latin typeface="-apple-system" pitchFamily="34" charset="0"/>
                <a:ea typeface="-apple-system" pitchFamily="34" charset="-122"/>
                <a:cs typeface="-apple-system" pitchFamily="34" charset="-120"/>
              </a:rPr>
              <a:t>is documented in the report appendix.</a:t>
            </a:r>
            <a:endParaRPr lang="en-US" sz="1650" dirty="0"/>
          </a:p>
        </p:txBody>
      </p:sp>
      <p:sp>
        <p:nvSpPr>
          <p:cNvPr id="43" name="Shape 41"/>
          <p:cNvSpPr/>
          <p:nvPr/>
        </p:nvSpPr>
        <p:spPr>
          <a:xfrm>
            <a:off x="10378083" y="5000327"/>
            <a:ext cx="6957417" cy="4600873"/>
          </a:xfrm>
          <a:prstGeom prst="roundRect">
            <a:avLst>
              <a:gd name="adj" fmla="val 1242"/>
            </a:avLst>
          </a:prstGeom>
          <a:solidFill>
            <a:srgbClr val="141923"/>
          </a:solidFill>
          <a:ln w="9525">
            <a:solidFill>
              <a:srgbClr val="232A3A"/>
            </a:solidFill>
            <a:prstDash val="solid"/>
          </a:ln>
        </p:spPr>
      </p:sp>
      <p:sp>
        <p:nvSpPr>
          <p:cNvPr id="44" name="Text 42"/>
          <p:cNvSpPr/>
          <p:nvPr/>
        </p:nvSpPr>
        <p:spPr>
          <a:xfrm>
            <a:off x="13272939" y="6176814"/>
            <a:ext cx="1243905" cy="190500"/>
          </a:xfrm>
          <a:prstGeom prst="rect">
            <a:avLst/>
          </a:prstGeom>
          <a:noFill/>
          <a:ln/>
        </p:spPr>
        <p:txBody>
          <a:bodyPr wrap="square" lIns="25400" tIns="25400" rIns="25400" bIns="25400" rtlCol="0" anchor="t">
            <a:normAutofit/>
          </a:bodyPr>
          <a:lstStyle/>
          <a:p>
            <a:pPr algn="l" indent="0" marL="0">
              <a:buNone/>
            </a:pPr>
            <a:r>
              <a:rPr lang="en-US" sz="1050" spc="231" kern="0" dirty="0">
                <a:solidFill>
                  <a:srgbClr val="FF5A4E"/>
                </a:solidFill>
                <a:latin typeface="Arial" pitchFamily="34" charset="0"/>
                <a:ea typeface="Arial" pitchFamily="34" charset="-122"/>
                <a:cs typeface="Arial" pitchFamily="34" charset="-120"/>
              </a:rPr>
              <a:t>FLOOR OPEN</a:t>
            </a:r>
            <a:endParaRPr lang="en-US" sz="1050" dirty="0"/>
          </a:p>
        </p:txBody>
      </p:sp>
      <p:sp>
        <p:nvSpPr>
          <p:cNvPr id="45" name="Text 43"/>
          <p:cNvSpPr/>
          <p:nvPr/>
        </p:nvSpPr>
        <p:spPr>
          <a:xfrm>
            <a:off x="12062520" y="6462564"/>
            <a:ext cx="3696047" cy="800100"/>
          </a:xfrm>
          <a:prstGeom prst="rect">
            <a:avLst/>
          </a:prstGeom>
          <a:noFill/>
          <a:ln/>
        </p:spPr>
        <p:txBody>
          <a:bodyPr wrap="square" lIns="25400" tIns="25400" rIns="25400" bIns="25400" rtlCol="0" anchor="t">
            <a:normAutofit/>
          </a:bodyPr>
          <a:lstStyle/>
          <a:p>
            <a:pPr algn="l" indent="0" marL="0">
              <a:lnSpc>
                <a:spcPct val="100000"/>
              </a:lnSpc>
              <a:buNone/>
            </a:pPr>
            <a:r>
              <a:rPr lang="en-US" sz="6000" dirty="0">
                <a:solidFill>
                  <a:srgbClr val="E8ECF4"/>
                </a:solidFill>
                <a:latin typeface="Arial" pitchFamily="34" charset="0"/>
                <a:ea typeface="Arial" pitchFamily="34" charset="-122"/>
                <a:cs typeface="Arial" pitchFamily="34" charset="-120"/>
              </a:rPr>
              <a:t>Questions?</a:t>
            </a:r>
            <a:endParaRPr lang="en-US" sz="6000" dirty="0"/>
          </a:p>
        </p:txBody>
      </p:sp>
      <p:sp>
        <p:nvSpPr>
          <p:cNvPr id="46" name="Text 44"/>
          <p:cNvSpPr/>
          <p:nvPr/>
        </p:nvSpPr>
        <p:spPr>
          <a:xfrm>
            <a:off x="12743408" y="7396014"/>
            <a:ext cx="2226766" cy="1066800"/>
          </a:xfrm>
          <a:prstGeom prst="rect">
            <a:avLst/>
          </a:prstGeom>
          <a:noFill/>
          <a:ln/>
        </p:spPr>
        <p:txBody>
          <a:bodyPr wrap="square" lIns="25400" tIns="25400" rIns="25400" bIns="25400" rtlCol="0" anchor="t">
            <a:normAutofit/>
          </a:bodyPr>
          <a:lstStyle/>
          <a:p>
            <a:pPr algn="ctr" indent="0" marL="0">
              <a:lnSpc>
                <a:spcPct val="150000"/>
              </a:lnSpc>
              <a:buNone/>
            </a:pPr>
            <a:r>
              <a:rPr lang="en-US" sz="1800" dirty="0">
                <a:solidFill>
                  <a:srgbClr val="8A93A6"/>
                </a:solidFill>
                <a:latin typeface="-apple-system" pitchFamily="34" charset="0"/>
                <a:ea typeface="-apple-system" pitchFamily="34" charset="-122"/>
                <a:cs typeface="-apple-system" pitchFamily="34" charset="-120"/>
              </a:rPr>
              <a:t>Naman Sudan River Roseveare-Hunt Ishaan Shetty</a:t>
            </a:r>
            <a:endParaRPr lang="en-US" sz="1800" dirty="0"/>
          </a:p>
        </p:txBody>
      </p:sp>
      <p:sp>
        <p:nvSpPr>
          <p:cNvPr id="47" name="Shape 45"/>
          <p:cNvSpPr/>
          <p:nvPr/>
        </p:nvSpPr>
        <p:spPr>
          <a:xfrm>
            <a:off x="952500" y="9648825"/>
            <a:ext cx="16383000" cy="9525"/>
          </a:xfrm>
          <a:prstGeom prst="rect">
            <a:avLst/>
          </a:prstGeom>
          <a:solidFill>
            <a:srgbClr val="232A3A"/>
          </a:solidFill>
          <a:ln/>
        </p:spPr>
      </p:sp>
      <p:sp>
        <p:nvSpPr>
          <p:cNvPr id="48" name="Text 46"/>
          <p:cNvSpPr/>
          <p:nvPr/>
        </p:nvSpPr>
        <p:spPr>
          <a:xfrm>
            <a:off x="952500" y="9810750"/>
            <a:ext cx="2277070"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11 / 11 · RIVER · 0:55</a:t>
            </a:r>
            <a:endParaRPr lang="en-US" sz="1200" dirty="0"/>
          </a:p>
        </p:txBody>
      </p:sp>
      <p:sp>
        <p:nvSpPr>
          <p:cNvPr id="49" name="Text 47"/>
          <p:cNvSpPr/>
          <p:nvPr/>
        </p:nvSpPr>
        <p:spPr>
          <a:xfrm>
            <a:off x="15155763" y="9810750"/>
            <a:ext cx="2255937" cy="209550"/>
          </a:xfrm>
          <a:prstGeom prst="rect">
            <a:avLst/>
          </a:prstGeom>
          <a:noFill/>
          <a:ln/>
        </p:spPr>
        <p:txBody>
          <a:bodyPr wrap="square" lIns="25400" tIns="25400" rIns="25400" bIns="25400" rtlCol="0" anchor="t">
            <a:normAutofit/>
          </a:bodyPr>
          <a:lstStyle/>
          <a:p>
            <a:pPr algn="l" indent="0" marL="0">
              <a:buNone/>
            </a:pPr>
            <a:r>
              <a:rPr lang="en-US" sz="1200" spc="168" kern="0" dirty="0">
                <a:solidFill>
                  <a:srgbClr val="8A93A6"/>
                </a:solidFill>
                <a:latin typeface="Arial" pitchFamily="34" charset="0"/>
                <a:ea typeface="Arial" pitchFamily="34" charset="-122"/>
                <a:cs typeface="Arial" pitchFamily="34" charset="-120"/>
              </a:rPr>
              <a:t>FINDINGS, REPO &amp; Q&amp;A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2026-05-03T23:50:48Z</dcterms:created>
  <dcterms:modified xsi:type="dcterms:W3CDTF">2026-05-03T23:50:48Z</dcterms:modified>
</cp:coreProperties>
</file>