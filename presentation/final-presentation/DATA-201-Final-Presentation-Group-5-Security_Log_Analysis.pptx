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x="18288000" cy="10287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 name="Shape 40"/>
          <p:cNvSpPr/>
          <p:nvPr>
            <p:ph type="sldImg"/>
          </p:nvPr>
        </p:nvSpPr>
        <p:spPr>
          <a:prstGeom prst="rect">
            <a:avLst/>
          </a:prstGeom>
        </p:spPr>
        <p:txBody>
          <a:bodyPr/>
          <a:lstStyle/>
          <a:p>
            <a:pPr/>
          </a:p>
        </p:txBody>
      </p:sp>
      <p:sp>
        <p:nvSpPr>
          <p:cNvPr id="41" name="Shape 41"/>
          <p:cNvSpPr/>
          <p:nvPr>
            <p:ph type="body" sz="quarter" idx="1"/>
          </p:nvPr>
        </p:nvSpPr>
        <p:spPr>
          <a:prstGeom prst="rect">
            <a:avLst/>
          </a:prstGeom>
        </p:spPr>
        <p:txBody>
          <a:bodyPr/>
          <a:lstStyle/>
          <a:p>
            <a:pPr/>
            <a:r>
              <a:t>Slot 0:15. Hi everyone, I am Naman, and with River and Ishaan we are Group 5. Our project is a security log analysis. We took the russellmitchell slice of the AIT Log Data Set V2.0, loaded it into a 3NF PostgreSQL schema, and used SQL plus a Streamlit dashboard to reconstruct one specific attack: a web foothold that becomes a privilege escalation chain on a host called intranet_server. The whole story today fits inside 9 audit events on one host on one day. I cover tech stack first, then Ishaan walks the data and the schema, River covers the SQL portfolio, then we each take a deep dive (Naman has two), Ishaan demos the dashboard, and River closes with findings.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6" name="Shape 76"/>
          <p:cNvSpPr/>
          <p:nvPr>
            <p:ph type="sldImg"/>
          </p:nvPr>
        </p:nvSpPr>
        <p:spPr>
          <a:prstGeom prst="rect">
            <a:avLst/>
          </a:prstGeom>
        </p:spPr>
        <p:txBody>
          <a:bodyPr/>
          <a:lstStyle/>
          <a:p>
            <a:pPr/>
          </a:p>
        </p:txBody>
      </p:sp>
      <p:sp>
        <p:nvSpPr>
          <p:cNvPr id="77" name="Shape 77"/>
          <p:cNvSpPr/>
          <p:nvPr>
            <p:ph type="body" sz="quarter" idx="1"/>
          </p:nvPr>
        </p:nvSpPr>
        <p:spPr>
          <a:prstGeom prst="rect">
            <a:avLst/>
          </a:prstGeom>
        </p:spPr>
        <p:txBody>
          <a:bodyPr/>
          <a:lstStyle/>
          <a:p>
            <a:pPr/>
            <a:r>
              <a:t>Slot 0:45. Quick word on how we built this. Github for version control with PRs reviewed before merge. Linear for sprint planning and task tracking against the rubric line items. Slack for day-to-day. Docker for a reproducible PostgreSQL 16 environment so any of us can rebuild the database from scratch in one command. Alembic for schema migrations, every table change is a migration in the repo. Streamlit plus Plotly for the dashboard layer hitting Postgres. Project management is a rubric line item, so this slide is partly that evidence. Hand to Ishaan for the dataset.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8" name="Shape 108"/>
          <p:cNvSpPr/>
          <p:nvPr>
            <p:ph type="sldImg"/>
          </p:nvPr>
        </p:nvSpPr>
        <p:spPr>
          <a:prstGeom prst="rect">
            <a:avLst/>
          </a:prstGeom>
        </p:spPr>
        <p:txBody>
          <a:bodyPr/>
          <a:lstStyle/>
          <a:p>
            <a:pPr/>
          </a:p>
        </p:txBody>
      </p:sp>
      <p:sp>
        <p:nvSpPr>
          <p:cNvPr id="109" name="Shape 109"/>
          <p:cNvSpPr/>
          <p:nvPr>
            <p:ph type="body" sz="quarter" idx="1"/>
          </p:nvPr>
        </p:nvSpPr>
        <p:spPr>
          <a:prstGeom prst="rect">
            <a:avLst/>
          </a:prstGeom>
        </p:spPr>
        <p:txBody>
          <a:bodyPr/>
          <a:lstStyle/>
          <a:p>
            <a:pPr/>
            <a:r>
              <a:t>Slot 1:00. Thanks Naman. The dataset is the AIT Log Data Set V2.0, russellmitchell testbed, a published academic intrusion dataset. Inside that slice there are 22 hosts in the inventory, 8 distinct source log files, and 61,862 lines that researchers labeled as attack activity. We loaded it into PostgreSQL 16 in third normal form, about 439,000 rows total across 22 tables in 3 domains: host inventory, audit events, and attack labels. The story we will tell today crosses all three domains: a foothold on access.log.2 leads into the audit.log su and then sudo chain on intranet_server. Next slide shows the schema.</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Shape 135"/>
          <p:cNvSpPr/>
          <p:nvPr>
            <p:ph type="sldImg"/>
          </p:nvPr>
        </p:nvSpPr>
        <p:spPr>
          <a:prstGeom prst="rect">
            <a:avLst/>
          </a:prstGeom>
        </p:spPr>
        <p:txBody>
          <a:bodyPr/>
          <a:lstStyle/>
          <a:p>
            <a:pPr/>
          </a:p>
        </p:txBody>
      </p:sp>
      <p:sp>
        <p:nvSpPr>
          <p:cNvPr id="136" name="Shape 136"/>
          <p:cNvSpPr/>
          <p:nvPr>
            <p:ph type="body" sz="quarter" idx="1"/>
          </p:nvPr>
        </p:nvSpPr>
        <p:spPr>
          <a:prstGeom prst="rect">
            <a:avLst/>
          </a:prstGeom>
        </p:spPr>
        <p:txBody>
          <a:bodyPr/>
          <a:lstStyle/>
          <a:p>
            <a:pPr/>
            <a:r>
              <a:t>Slot 0:55. This is the official EER diagram for the schema, Chen notation, primary keys underlined, FK constraints arrowed. Three takeaways before we move on. One, audit_event is a supertype: it joins host on host_id and decomposes into 8 subtype tables, one per audit type family, plus audit_message for the PAM payload. That is the key normalization decision. Two, labeled_line gives provenance into both access.log and audit.log via source_host plus source_log plus line_number, which is how we tie attack labels to either log family. Three, the join we use across the deck is audit_event to host on host_id, plus audit_event to labeled_line on the line_number key, plus labeled_line to attack_label and attack_phase through the M-to-N junction. Handing over to River for the SQL portfolio.</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Shape 238"/>
          <p:cNvSpPr/>
          <p:nvPr>
            <p:ph type="sldImg"/>
          </p:nvPr>
        </p:nvSpPr>
        <p:spPr>
          <a:prstGeom prst="rect">
            <a:avLst/>
          </a:prstGeom>
        </p:spPr>
        <p:txBody>
          <a:bodyPr/>
          <a:lstStyle/>
          <a:p>
            <a:pPr/>
          </a:p>
        </p:txBody>
      </p:sp>
      <p:sp>
        <p:nvSpPr>
          <p:cNvPr id="239" name="Shape 239"/>
          <p:cNvSpPr/>
          <p:nvPr>
            <p:ph type="body" sz="quarter" idx="1"/>
          </p:nvPr>
        </p:nvSpPr>
        <p:spPr>
          <a:prstGeom prst="rect">
            <a:avLst/>
          </a:prstGeom>
        </p:spPr>
        <p:txBody>
          <a:bodyPr/>
          <a:lstStyle/>
          <a:p>
            <a:pPr/>
            <a:r>
              <a:t>Slot 0:50. We wrote 23 SQL items total, 7 basic and 16 advanced, across 6 SQL categories. The full portfolio is in the GitHub repo and section 6 of the technical report. We are not going to walk every query. We picked four deep dives that map to the attack story and show diverse advanced SQL across the three of us. Mine, CTE plus NTILE on the foothold log. Naman, the saved view that builds the privilege escalation timeline, plus EXPLAIN ANALYZE with a composite index for incident-response performance. Ishaan, EXISTS subquery on which auditd types fire during the chain. Everything else lives in the repo. Next is my deep dive.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8" name="Shape 268"/>
          <p:cNvSpPr/>
          <p:nvPr>
            <p:ph type="sldImg"/>
          </p:nvPr>
        </p:nvSpPr>
        <p:spPr>
          <a:prstGeom prst="rect">
            <a:avLst/>
          </a:prstGeom>
        </p:spPr>
        <p:txBody>
          <a:bodyPr/>
          <a:lstStyle/>
          <a:p>
            <a:pPr/>
          </a:p>
        </p:txBody>
      </p:sp>
      <p:sp>
        <p:nvSpPr>
          <p:cNvPr id="269" name="Shape 269"/>
          <p:cNvSpPr/>
          <p:nvPr>
            <p:ph type="body" sz="quarter" idx="1"/>
          </p:nvPr>
        </p:nvSpPr>
        <p:spPr>
          <a:prstGeom prst="rect">
            <a:avLst/>
          </a:prstGeom>
        </p:spPr>
        <p:txBody>
          <a:bodyPr/>
          <a:lstStyle/>
          <a:p>
            <a:pPr/>
            <a:r>
              <a:t>Slot 1:15. Question: where in access.log.2 does the foothold turn into escalation evidence. The query uses a CTE that joins labeled_line, the M-to-N junction labeled_line_label, attack_label, and attack_phase, scoped to source_host intranet_server, source_log access.log.2, and the two phases initial_access and privilege_escalation. NTILE of 3 over line_number buckets the log into thirds. The result has phase split by third. Initial-access foothold lines spread across all three thirds. Privilege-escalation evidence appears only in the late third. So the inflection point is in the access log itself, you just need a window function to see it. NTILE turns raw line position into a readable attack journey. Hand to Naman.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7" name="Shape 337"/>
          <p:cNvSpPr/>
          <p:nvPr>
            <p:ph type="sldImg"/>
          </p:nvPr>
        </p:nvSpPr>
        <p:spPr>
          <a:prstGeom prst="rect">
            <a:avLst/>
          </a:prstGeom>
        </p:spPr>
        <p:txBody>
          <a:bodyPr/>
          <a:lstStyle/>
          <a:p>
            <a:pPr/>
          </a:p>
        </p:txBody>
      </p:sp>
      <p:sp>
        <p:nvSpPr>
          <p:cNvPr id="338" name="Shape 338"/>
          <p:cNvSpPr/>
          <p:nvPr>
            <p:ph type="body" sz="quarter" idx="1"/>
          </p:nvPr>
        </p:nvSpPr>
        <p:spPr>
          <a:prstGeom prst="rect">
            <a:avLst/>
          </a:prstGeom>
        </p:spPr>
        <p:txBody>
          <a:bodyPr/>
          <a:lstStyle/>
          <a:p>
            <a:pPr/>
            <a:r>
              <a:t>Slot 1:15. Hi, I am Naman. My contribution is a saved view that builds the privilege escalation timeline as a single relation the dashboard can query. The view joins audit_event to host, left joins audit_message for the PAM payload, then joins labeled_line and the M-to-N path to attack_label and attack_phase, filtered to phase_name privilege_escalation. string_agg with DISTINCT and ORDER BY collapses many labels per event into one readable column, and a left join to labeled_line_rule does the same for rule names. Eight tables, one view, group-by on the seven non-aggregated columns. The result is the timeline rows you see on the right: nine events, two bursts, su then sudo. The dashboard reads from this view, not from a giant ad-hoc join. That is the saved view as a reusable abstraction. Hand to Ishaan.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3" name="Shape 393"/>
          <p:cNvSpPr/>
          <p:nvPr>
            <p:ph type="sldImg"/>
          </p:nvPr>
        </p:nvSpPr>
        <p:spPr>
          <a:prstGeom prst="rect">
            <a:avLst/>
          </a:prstGeom>
        </p:spPr>
        <p:txBody>
          <a:bodyPr/>
          <a:lstStyle/>
          <a:p>
            <a:pPr/>
          </a:p>
        </p:txBody>
      </p:sp>
      <p:sp>
        <p:nvSpPr>
          <p:cNvPr id="394" name="Shape 394"/>
          <p:cNvSpPr/>
          <p:nvPr>
            <p:ph type="body" sz="quarter" idx="1"/>
          </p:nvPr>
        </p:nvSpPr>
        <p:spPr>
          <a:prstGeom prst="rect">
            <a:avLst/>
          </a:prstGeom>
        </p:spPr>
        <p:txBody>
          <a:bodyPr/>
          <a:lstStyle/>
          <a:p>
            <a:pPr/>
            <a:r>
              <a:t>Slot 1:10. Question: which audit event types fire on the same intranet_server lines that carry a privilege_escalation label. The query is an EXISTS subquery with a 4-table body, joining labeled_line, labeled_line_label, attack_label, attack_phase, correlated to audit_event by host_key plus line_number. The outer query is DISTINCT type from audit_event filtered by host_key intranet_server. Result: 8 rows. Three CRED types, ACQ, DISP, REFR. Five USER types, ACCT, AUTH, CMD, END, START. The screenshot from pgAdmin on the right is the proof that the query runs in 0.233 seconds and returns those 8 rows. The point: the chain triggers a specific subset of the auditd taxonomy, only credential and user-session events plus one USER_CMD, not arbitrary host noise. A detector subscribed to those 8 types catches the chain without the full auditd firehose. Hand back to me.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9" name="Shape 449"/>
          <p:cNvSpPr/>
          <p:nvPr>
            <p:ph type="sldImg"/>
          </p:nvPr>
        </p:nvSpPr>
        <p:spPr>
          <a:prstGeom prst="rect">
            <a:avLst/>
          </a:prstGeom>
        </p:spPr>
        <p:txBody>
          <a:bodyPr/>
          <a:lstStyle/>
          <a:p>
            <a:pPr/>
          </a:p>
        </p:txBody>
      </p:sp>
      <p:sp>
        <p:nvSpPr>
          <p:cNvPr id="450" name="Shape 450"/>
          <p:cNvSpPr/>
          <p:nvPr>
            <p:ph type="body" sz="quarter" idx="1"/>
          </p:nvPr>
        </p:nvSpPr>
        <p:spPr>
          <a:prstGeom prst="rect">
            <a:avLst/>
          </a:prstGeom>
        </p:spPr>
        <p:txBody>
          <a:bodyPr/>
          <a:lstStyle/>
          <a:p>
            <a:pPr/>
            <a:r>
              <a:t>Slot 1:20. Naman again, post-midterm material, weighted heavily on the rubric. Workload is a triage zoom: one host, intranet_server, on a 45-second timestamp window covering both bursts. EXPLAIN ANALYZE on the unindexed query: sequential scan of audit_event, 1.462 milliseconds, 141 shared buffers, planner cost 171.22. We added a composite index on host_id and timestamp in that order, migration 742e860d116f. Index scan instead of sequential scan, 0.640 milliseconds, 33 shared buffers, planner cost 24.79. About 2.3 times faster on execution, about 4 times fewer buffers, about 7 times lower planner cost. The design lesson: composite index column order must match the query shape, equality first, range second. Hand to Ishaan for the dashboard.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3" name="Shape 513"/>
          <p:cNvSpPr/>
          <p:nvPr>
            <p:ph type="sldImg"/>
          </p:nvPr>
        </p:nvSpPr>
        <p:spPr>
          <a:prstGeom prst="rect">
            <a:avLst/>
          </a:prstGeom>
        </p:spPr>
        <p:txBody>
          <a:bodyPr/>
          <a:lstStyle/>
          <a:p>
            <a:pPr/>
          </a:p>
        </p:txBody>
      </p:sp>
      <p:sp>
        <p:nvSpPr>
          <p:cNvPr id="514" name="Shape 514"/>
          <p:cNvSpPr/>
          <p:nvPr>
            <p:ph type="body" sz="quarter" idx="1"/>
          </p:nvPr>
        </p:nvSpPr>
        <p:spPr>
          <a:prstGeom prst="rect">
            <a:avLst/>
          </a:prstGeom>
        </p:spPr>
        <p:txBody>
          <a:bodyPr/>
          <a:lstStyle/>
          <a:p>
            <a:pPr/>
            <a:r>
              <a:t>Slot 1:30. The dashboard is the demo layer on top of the SQL. Streamlit plus SQLAlchemy plus Plotly, queries PostgreSQL directly, no static export. 9 visuals: one KPI panel with four metrics, plus 8 story panels, one per major query. Sidebar filters: host, attack phase, source log. Default canon: host intranet_server, both phases selected. KPIs read 7,748 labeled lines, 6 distinct labels, 4 source logs touched, 9 audit events on host. If I clear the host filter, labeled lines goes to 8,806, source logs to 7, but audit events on host stays at 9. The attack day on intranet_server ranks 3 of 4 days by raw audit volume; volume-only detection misses it. Hand to River.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4" name="Shape 564"/>
          <p:cNvSpPr/>
          <p:nvPr>
            <p:ph type="sldImg"/>
          </p:nvPr>
        </p:nvSpPr>
        <p:spPr>
          <a:prstGeom prst="rect">
            <a:avLst/>
          </a:prstGeom>
        </p:spPr>
        <p:txBody>
          <a:bodyPr/>
          <a:lstStyle/>
          <a:p>
            <a:pPr/>
          </a:p>
        </p:txBody>
      </p:sp>
      <p:sp>
        <p:nvSpPr>
          <p:cNvPr id="565" name="Shape 565"/>
          <p:cNvSpPr/>
          <p:nvPr>
            <p:ph type="body" sz="quarter" idx="1"/>
          </p:nvPr>
        </p:nvSpPr>
        <p:spPr>
          <a:prstGeom prst="rect">
            <a:avLst/>
          </a:prstGeom>
        </p:spPr>
        <p:txBody>
          <a:bodyPr/>
          <a:lstStyle/>
          <a:p>
            <a:pPr/>
            <a:r>
              <a:t>Slot 0:55. River closing. Three findings. One, volume is not coverage. Privilege escalation has only 9 audit events but it is the most consequential phase. Two, volume-only detection misses this attack: attack day ranks 3 of 4 by audit volume on intranet_server, the chain hides inside baseline noise. Three, relational design matters: pulling host inventory, audit events, labels, and rules into one shape is what made cross-source reconstruction possible. What happened next, exfiltration on internal_share, is in the report appendix. Deliverables: GitHub repo with the schema, migrations, 23 queries, and the dashboard; the technical report PDF; and the live dashboard demo. Happy to take questions.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914400" y="138112"/>
            <a:ext cx="16459200" cy="2262188"/>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914400" y="2400300"/>
            <a:ext cx="16459200" cy="78867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839200" y="9260681"/>
            <a:ext cx="4267200" cy="547688"/>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B0D12"/>
        </a:solidFill>
      </p:bgPr>
    </p:bg>
    <p:spTree>
      <p:nvGrpSpPr>
        <p:cNvPr id="1" name=""/>
        <p:cNvGrpSpPr/>
        <p:nvPr/>
      </p:nvGrpSpPr>
      <p:grpSpPr>
        <a:xfrm>
          <a:off x="0" y="0"/>
          <a:ext cx="0" cy="0"/>
          <a:chOff x="0" y="0"/>
          <a:chExt cx="0" cy="0"/>
        </a:xfrm>
      </p:grpSpPr>
      <p:sp>
        <p:nvSpPr>
          <p:cNvPr id="20" name="Shape 0"/>
          <p:cNvSpPr/>
          <p:nvPr/>
        </p:nvSpPr>
        <p:spPr>
          <a:xfrm>
            <a:off x="0" y="0"/>
            <a:ext cx="18288000" cy="10287000"/>
          </a:xfrm>
          <a:prstGeom prst="rect">
            <a:avLst/>
          </a:prstGeom>
          <a:solidFill>
            <a:srgbClr val="4EA8FF">
              <a:alpha val="5000"/>
            </a:srgbClr>
          </a:solidFill>
          <a:ln w="12700">
            <a:miter lim="400000"/>
          </a:ln>
        </p:spPr>
        <p:txBody>
          <a:bodyPr lIns="45719" rIns="45719"/>
          <a:lstStyle/>
          <a:p>
            <a:pPr/>
          </a:p>
        </p:txBody>
      </p:sp>
      <p:sp>
        <p:nvSpPr>
          <p:cNvPr id="21" name="Shape 1"/>
          <p:cNvSpPr/>
          <p:nvPr/>
        </p:nvSpPr>
        <p:spPr>
          <a:xfrm>
            <a:off x="952500" y="1055687"/>
            <a:ext cx="16383000" cy="12701"/>
          </a:xfrm>
          <a:prstGeom prst="rect">
            <a:avLst/>
          </a:prstGeom>
          <a:solidFill>
            <a:srgbClr val="232A3A"/>
          </a:solidFill>
          <a:ln w="12700">
            <a:miter lim="400000"/>
          </a:ln>
        </p:spPr>
        <p:txBody>
          <a:bodyPr lIns="45719" rIns="45719"/>
          <a:lstStyle/>
          <a:p>
            <a:pPr/>
          </a:p>
        </p:txBody>
      </p:sp>
      <p:sp>
        <p:nvSpPr>
          <p:cNvPr id="22" name="Text 2"/>
          <p:cNvSpPr txBox="1"/>
          <p:nvPr/>
        </p:nvSpPr>
        <p:spPr>
          <a:xfrm>
            <a:off x="952499" y="609600"/>
            <a:ext cx="5387330" cy="25717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defRPr b="1" spc="200" sz="1300">
                <a:solidFill>
                  <a:srgbClr val="FF5A4E"/>
                </a:solidFill>
                <a:latin typeface="Arial"/>
                <a:ea typeface="Arial"/>
                <a:cs typeface="Arial"/>
                <a:sym typeface="Arial"/>
              </a:defRPr>
            </a:pPr>
            <a:r>
              <a:t>DATA 201 </a:t>
            </a:r>
            <a:r>
              <a:rPr b="0">
                <a:solidFill>
                  <a:srgbClr val="C3CAD8"/>
                </a:solidFill>
              </a:rPr>
              <a:t>/ FINAL PRESENTATION / GROUP 5</a:t>
            </a:r>
          </a:p>
        </p:txBody>
      </p:sp>
      <p:sp>
        <p:nvSpPr>
          <p:cNvPr id="23" name="Text 3"/>
          <p:cNvSpPr txBox="1"/>
          <p:nvPr/>
        </p:nvSpPr>
        <p:spPr>
          <a:xfrm>
            <a:off x="12240070" y="628650"/>
            <a:ext cx="5248292" cy="23812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200" sz="1300">
                <a:solidFill>
                  <a:srgbClr val="8A93A6"/>
                </a:solidFill>
                <a:latin typeface="Arial"/>
                <a:ea typeface="Arial"/>
                <a:cs typeface="Arial"/>
                <a:sym typeface="Arial"/>
              </a:defRPr>
            </a:lvl1pPr>
          </a:lstStyle>
          <a:p>
            <a:pPr/>
            <a:r>
              <a:t>SAN JOSÉ STATE UNIVERSITY · SPRING 2026</a:t>
            </a:r>
          </a:p>
        </p:txBody>
      </p:sp>
      <p:sp>
        <p:nvSpPr>
          <p:cNvPr id="24" name="Text 4"/>
          <p:cNvSpPr txBox="1"/>
          <p:nvPr/>
        </p:nvSpPr>
        <p:spPr>
          <a:xfrm>
            <a:off x="952500" y="1600200"/>
            <a:ext cx="16874490" cy="263643"/>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defTabSz="905255">
              <a:defRPr spc="297" sz="1485">
                <a:solidFill>
                  <a:srgbClr val="FF5A4E"/>
                </a:solidFill>
                <a:latin typeface="Arial"/>
                <a:ea typeface="Arial"/>
                <a:cs typeface="Arial"/>
                <a:sym typeface="Arial"/>
              </a:defRPr>
            </a:pPr>
            <a:r>
              <a:t>CASE FILE </a:t>
            </a:r>
            <a:r>
              <a:rPr>
                <a:solidFill>
                  <a:srgbClr val="8A93A6"/>
                </a:solidFill>
              </a:rPr>
              <a:t>// AIT-LDS V2.0 / RUSSELLMITCHELL</a:t>
            </a:r>
          </a:p>
        </p:txBody>
      </p:sp>
      <p:sp>
        <p:nvSpPr>
          <p:cNvPr id="25" name="Text 5"/>
          <p:cNvSpPr txBox="1"/>
          <p:nvPr/>
        </p:nvSpPr>
        <p:spPr>
          <a:xfrm>
            <a:off x="952500" y="2085974"/>
            <a:ext cx="11576685" cy="241518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04000"/>
              </a:lnSpc>
              <a:defRPr spc="-100" sz="6000">
                <a:solidFill>
                  <a:srgbClr val="E8ECF4"/>
                </a:solidFill>
                <a:latin typeface="Arial"/>
                <a:ea typeface="Arial"/>
                <a:cs typeface="Arial"/>
                <a:sym typeface="Arial"/>
              </a:defRPr>
            </a:lvl1pPr>
          </a:lstStyle>
          <a:p>
            <a:pPr/>
            <a:r>
              <a:t>Reconstructing a privilege escalation attack from raw logs.</a:t>
            </a:r>
          </a:p>
        </p:txBody>
      </p:sp>
      <p:sp>
        <p:nvSpPr>
          <p:cNvPr id="26" name="Text 6"/>
          <p:cNvSpPr txBox="1"/>
          <p:nvPr/>
        </p:nvSpPr>
        <p:spPr>
          <a:xfrm>
            <a:off x="952500" y="4767857"/>
            <a:ext cx="10595610" cy="8763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lnSpc>
                <a:spcPct val="145000"/>
              </a:lnSpc>
              <a:defRPr sz="2200">
                <a:solidFill>
                  <a:srgbClr val="C3CAD8"/>
                </a:solidFill>
                <a:latin typeface="-apple-system"/>
                <a:ea typeface="-apple-system"/>
                <a:cs typeface="-apple-system"/>
                <a:sym typeface="-apple-system"/>
              </a:defRPr>
            </a:pPr>
            <a:r>
              <a:t>A 3NF PostgreSQL schema turns an </a:t>
            </a:r>
            <a:r>
              <a:rPr sz="2000">
                <a:solidFill>
                  <a:srgbClr val="E8ECF4"/>
                </a:solidFill>
                <a:latin typeface="Arial"/>
                <a:ea typeface="Arial"/>
                <a:cs typeface="Arial"/>
                <a:sym typeface="Arial"/>
              </a:rPr>
              <a:t>access.log.2 </a:t>
            </a:r>
            <a:r>
              <a:t>foothold into a </a:t>
            </a:r>
            <a:r>
              <a:rPr>
                <a:solidFill>
                  <a:srgbClr val="FF5A4E"/>
                </a:solidFill>
              </a:rPr>
              <a:t>9-event </a:t>
            </a:r>
            <a:r>
              <a:rPr sz="2000">
                <a:solidFill>
                  <a:srgbClr val="E8ECF4"/>
                </a:solidFill>
                <a:latin typeface="Arial"/>
                <a:ea typeface="Arial"/>
                <a:cs typeface="Arial"/>
                <a:sym typeface="Arial"/>
              </a:rPr>
              <a:t>su </a:t>
            </a:r>
            <a:r>
              <a:rPr>
                <a:solidFill>
                  <a:srgbClr val="FF5A4E"/>
                </a:solidFill>
              </a:rPr>
              <a:t>+ </a:t>
            </a:r>
            <a:r>
              <a:rPr sz="2000">
                <a:solidFill>
                  <a:srgbClr val="E8ECF4"/>
                </a:solidFill>
                <a:latin typeface="Arial"/>
                <a:ea typeface="Arial"/>
                <a:cs typeface="Arial"/>
                <a:sym typeface="Arial"/>
              </a:rPr>
              <a:t>sudo </a:t>
            </a:r>
            <a:r>
              <a:rPr>
                <a:solidFill>
                  <a:srgbClr val="FF5A4E"/>
                </a:solidFill>
              </a:rPr>
              <a:t>chain </a:t>
            </a:r>
            <a:r>
              <a:t>on </a:t>
            </a:r>
            <a:r>
              <a:rPr sz="2000">
                <a:solidFill>
                  <a:srgbClr val="E8ECF4"/>
                </a:solidFill>
                <a:latin typeface="Arial"/>
                <a:ea typeface="Arial"/>
                <a:cs typeface="Arial"/>
                <a:sym typeface="Arial"/>
              </a:rPr>
              <a:t>intranet_server</a:t>
            </a:r>
            <a:r>
              <a:t>.</a:t>
            </a:r>
          </a:p>
        </p:txBody>
      </p:sp>
      <p:sp>
        <p:nvSpPr>
          <p:cNvPr id="27" name="Shape 7"/>
          <p:cNvSpPr/>
          <p:nvPr/>
        </p:nvSpPr>
        <p:spPr>
          <a:xfrm>
            <a:off x="952500" y="7253783"/>
            <a:ext cx="16383000" cy="12701"/>
          </a:xfrm>
          <a:prstGeom prst="rect">
            <a:avLst/>
          </a:prstGeom>
          <a:solidFill>
            <a:srgbClr val="232A3A"/>
          </a:solidFill>
          <a:ln w="12700">
            <a:miter lim="400000"/>
          </a:ln>
        </p:spPr>
        <p:txBody>
          <a:bodyPr lIns="45719" rIns="45719"/>
          <a:lstStyle/>
          <a:p>
            <a:pPr/>
          </a:p>
        </p:txBody>
      </p:sp>
      <p:sp>
        <p:nvSpPr>
          <p:cNvPr id="28" name="Text 8"/>
          <p:cNvSpPr txBox="1"/>
          <p:nvPr/>
        </p:nvSpPr>
        <p:spPr>
          <a:xfrm>
            <a:off x="952500" y="7607796"/>
            <a:ext cx="5258562"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200" sz="1000">
                <a:solidFill>
                  <a:srgbClr val="5D6577"/>
                </a:solidFill>
                <a:latin typeface="Arial"/>
                <a:ea typeface="Arial"/>
                <a:cs typeface="Arial"/>
                <a:sym typeface="Arial"/>
              </a:defRPr>
            </a:lvl1pPr>
          </a:lstStyle>
          <a:p>
            <a:pPr/>
            <a:r>
              <a:t>TEAM</a:t>
            </a:r>
          </a:p>
        </p:txBody>
      </p:sp>
      <p:sp>
        <p:nvSpPr>
          <p:cNvPr id="29" name="Text 9"/>
          <p:cNvSpPr txBox="1"/>
          <p:nvPr/>
        </p:nvSpPr>
        <p:spPr>
          <a:xfrm>
            <a:off x="952500" y="7874496"/>
            <a:ext cx="5258562" cy="104090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35000"/>
              </a:lnSpc>
              <a:defRPr sz="1900">
                <a:solidFill>
                  <a:srgbClr val="E8ECF4"/>
                </a:solidFill>
                <a:latin typeface="-apple-system"/>
                <a:ea typeface="-apple-system"/>
                <a:cs typeface="-apple-system"/>
                <a:sym typeface="-apple-system"/>
              </a:defRPr>
            </a:lvl1pPr>
          </a:lstStyle>
          <a:p>
            <a:pPr/>
            <a:r>
              <a:t>Naman Sudan River Roseveare-Hunt Ishaan Shetty</a:t>
            </a:r>
          </a:p>
        </p:txBody>
      </p:sp>
      <p:sp>
        <p:nvSpPr>
          <p:cNvPr id="30" name="Text 10"/>
          <p:cNvSpPr txBox="1"/>
          <p:nvPr/>
        </p:nvSpPr>
        <p:spPr>
          <a:xfrm>
            <a:off x="6591300" y="7607796"/>
            <a:ext cx="5258562"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200" sz="1000">
                <a:solidFill>
                  <a:srgbClr val="5D6577"/>
                </a:solidFill>
                <a:latin typeface="Arial"/>
                <a:ea typeface="Arial"/>
                <a:cs typeface="Arial"/>
                <a:sym typeface="Arial"/>
              </a:defRPr>
            </a:lvl1pPr>
          </a:lstStyle>
          <a:p>
            <a:pPr/>
            <a:r>
              <a:t>INSTRUCTOR</a:t>
            </a:r>
          </a:p>
        </p:txBody>
      </p:sp>
      <p:sp>
        <p:nvSpPr>
          <p:cNvPr id="31" name="Text 11"/>
          <p:cNvSpPr txBox="1"/>
          <p:nvPr/>
        </p:nvSpPr>
        <p:spPr>
          <a:xfrm>
            <a:off x="6591300" y="7874496"/>
            <a:ext cx="5258562" cy="372369"/>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35000"/>
              </a:lnSpc>
              <a:defRPr sz="1900">
                <a:solidFill>
                  <a:srgbClr val="E8ECF4"/>
                </a:solidFill>
                <a:latin typeface="-apple-system"/>
                <a:ea typeface="-apple-system"/>
                <a:cs typeface="-apple-system"/>
                <a:sym typeface="-apple-system"/>
              </a:defRPr>
            </a:lvl1pPr>
          </a:lstStyle>
          <a:p>
            <a:pPr/>
            <a:r>
              <a:t>Dr. Liu</a:t>
            </a:r>
          </a:p>
        </p:txBody>
      </p:sp>
      <p:sp>
        <p:nvSpPr>
          <p:cNvPr id="32" name="Text 12"/>
          <p:cNvSpPr txBox="1"/>
          <p:nvPr/>
        </p:nvSpPr>
        <p:spPr>
          <a:xfrm>
            <a:off x="6591300" y="8437364"/>
            <a:ext cx="5258562"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200" sz="1000">
                <a:solidFill>
                  <a:srgbClr val="5D6577"/>
                </a:solidFill>
                <a:latin typeface="Arial"/>
                <a:ea typeface="Arial"/>
                <a:cs typeface="Arial"/>
                <a:sym typeface="Arial"/>
              </a:defRPr>
            </a:lvl1pPr>
          </a:lstStyle>
          <a:p>
            <a:pPr/>
            <a:r>
              <a:t>STACK</a:t>
            </a:r>
          </a:p>
        </p:txBody>
      </p:sp>
      <p:sp>
        <p:nvSpPr>
          <p:cNvPr id="33" name="Text 13"/>
          <p:cNvSpPr txBox="1"/>
          <p:nvPr/>
        </p:nvSpPr>
        <p:spPr>
          <a:xfrm>
            <a:off x="6591300" y="8704064"/>
            <a:ext cx="5258562" cy="70663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905255">
              <a:lnSpc>
                <a:spcPct val="135000"/>
              </a:lnSpc>
              <a:defRPr sz="1881">
                <a:solidFill>
                  <a:srgbClr val="E8ECF4"/>
                </a:solidFill>
                <a:latin typeface="-apple-system"/>
                <a:ea typeface="-apple-system"/>
                <a:cs typeface="-apple-system"/>
                <a:sym typeface="-apple-system"/>
              </a:defRPr>
            </a:lvl1pPr>
          </a:lstStyle>
          <a:p>
            <a:pPr/>
            <a:r>
              <a:t>PostgreSQL 16 · Alembic SQLAlchemy · Streamlit · Plotly</a:t>
            </a:r>
          </a:p>
        </p:txBody>
      </p:sp>
      <p:sp>
        <p:nvSpPr>
          <p:cNvPr id="34" name="Text 14"/>
          <p:cNvSpPr txBox="1"/>
          <p:nvPr/>
        </p:nvSpPr>
        <p:spPr>
          <a:xfrm>
            <a:off x="12230100" y="7607796"/>
            <a:ext cx="5258562"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200" sz="1000">
                <a:solidFill>
                  <a:srgbClr val="5D6577"/>
                </a:solidFill>
                <a:latin typeface="Arial"/>
                <a:ea typeface="Arial"/>
                <a:cs typeface="Arial"/>
                <a:sym typeface="Arial"/>
              </a:defRPr>
            </a:lvl1pPr>
          </a:lstStyle>
          <a:p>
            <a:pPr/>
            <a:r>
              <a:t>DELIVERABLES</a:t>
            </a:r>
          </a:p>
        </p:txBody>
      </p:sp>
      <p:sp>
        <p:nvSpPr>
          <p:cNvPr id="35" name="Text 15"/>
          <p:cNvSpPr txBox="1"/>
          <p:nvPr/>
        </p:nvSpPr>
        <p:spPr>
          <a:xfrm>
            <a:off x="12230100" y="7874496"/>
            <a:ext cx="5258562" cy="1375173"/>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35000"/>
              </a:lnSpc>
              <a:defRPr sz="1900">
                <a:solidFill>
                  <a:srgbClr val="E8ECF4"/>
                </a:solidFill>
                <a:latin typeface="-apple-system"/>
                <a:ea typeface="-apple-system"/>
                <a:cs typeface="-apple-system"/>
                <a:sym typeface="-apple-system"/>
              </a:defRPr>
            </a:lvl1pPr>
          </a:lstStyle>
          <a:p>
            <a:pPr/>
            <a:r>
              <a:t>22-table schema 23 SQL queries 9-panel dashboard 10-section report</a:t>
            </a:r>
          </a:p>
        </p:txBody>
      </p:sp>
      <p:pic>
        <p:nvPicPr>
          <p:cNvPr id="36" name="Image 0" descr="Image 0"/>
          <p:cNvPicPr>
            <a:picLocks noChangeAspect="1"/>
          </p:cNvPicPr>
          <p:nvPr/>
        </p:nvPicPr>
        <p:blipFill>
          <a:blip r:embed="rId3">
            <a:alphaModFix amt="70000"/>
            <a:extLst/>
          </a:blip>
          <a:stretch>
            <a:fillRect/>
          </a:stretch>
        </p:blipFill>
        <p:spPr>
          <a:xfrm>
            <a:off x="12954000" y="4898678"/>
            <a:ext cx="4381500" cy="2816573"/>
          </a:xfrm>
          <a:prstGeom prst="rect">
            <a:avLst/>
          </a:prstGeom>
          <a:ln w="12700">
            <a:miter lim="400000"/>
          </a:ln>
        </p:spPr>
      </p:pic>
      <p:sp>
        <p:nvSpPr>
          <p:cNvPr id="37" name="Shape 16"/>
          <p:cNvSpPr/>
          <p:nvPr/>
        </p:nvSpPr>
        <p:spPr>
          <a:xfrm>
            <a:off x="952500" y="9618662"/>
            <a:ext cx="16383000" cy="12701"/>
          </a:xfrm>
          <a:prstGeom prst="rect">
            <a:avLst/>
          </a:prstGeom>
          <a:solidFill>
            <a:srgbClr val="232A3A"/>
          </a:solidFill>
          <a:ln w="12700">
            <a:miter lim="400000"/>
          </a:ln>
        </p:spPr>
        <p:txBody>
          <a:bodyPr lIns="45719" rIns="45719"/>
          <a:lstStyle/>
          <a:p>
            <a:pPr/>
          </a:p>
        </p:txBody>
      </p:sp>
      <p:sp>
        <p:nvSpPr>
          <p:cNvPr id="38" name="Text 17"/>
          <p:cNvSpPr txBox="1"/>
          <p:nvPr/>
        </p:nvSpPr>
        <p:spPr>
          <a:xfrm>
            <a:off x="952499" y="9796463"/>
            <a:ext cx="2288383"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defRPr spc="96" sz="1152">
                <a:solidFill>
                  <a:srgbClr val="8A93A6"/>
                </a:solidFill>
                <a:latin typeface="Arial"/>
                <a:ea typeface="Arial"/>
                <a:cs typeface="Arial"/>
                <a:sym typeface="Arial"/>
              </a:defRPr>
            </a:lvl1pPr>
          </a:lstStyle>
          <a:p>
            <a:pPr/>
            <a:r>
              <a:t>01 / 11 · Naman · 0:15</a:t>
            </a:r>
          </a:p>
        </p:txBody>
      </p:sp>
      <p:sp>
        <p:nvSpPr>
          <p:cNvPr id="39" name="Text 18"/>
          <p:cNvSpPr txBox="1"/>
          <p:nvPr/>
        </p:nvSpPr>
        <p:spPr>
          <a:xfrm>
            <a:off x="13935074" y="9782175"/>
            <a:ext cx="3502440" cy="23812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defRPr b="1" spc="100" sz="1200">
                <a:solidFill>
                  <a:srgbClr val="E8ECF4"/>
                </a:solidFill>
                <a:latin typeface="Arial"/>
                <a:ea typeface="Arial"/>
                <a:cs typeface="Arial"/>
                <a:sym typeface="Arial"/>
              </a:defRPr>
            </a:pPr>
            <a:r>
              <a:t>SECURITY LOG ANALYSIS </a:t>
            </a:r>
            <a:r>
              <a:rPr b="0">
                <a:solidFill>
                  <a:srgbClr val="8A93A6"/>
                </a:solidFill>
              </a:rPr>
              <a:t>· GROUP 5</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B0D12"/>
        </a:solidFill>
      </p:bgPr>
    </p:bg>
    <p:spTree>
      <p:nvGrpSpPr>
        <p:cNvPr id="1" name=""/>
        <p:cNvGrpSpPr/>
        <p:nvPr/>
      </p:nvGrpSpPr>
      <p:grpSpPr>
        <a:xfrm>
          <a:off x="0" y="0"/>
          <a:ext cx="0" cy="0"/>
          <a:chOff x="0" y="0"/>
          <a:chExt cx="0" cy="0"/>
        </a:xfrm>
      </p:grpSpPr>
      <p:sp>
        <p:nvSpPr>
          <p:cNvPr id="43" name="Shape 0"/>
          <p:cNvSpPr/>
          <p:nvPr/>
        </p:nvSpPr>
        <p:spPr>
          <a:xfrm>
            <a:off x="952500" y="1055687"/>
            <a:ext cx="16383000" cy="12701"/>
          </a:xfrm>
          <a:prstGeom prst="rect">
            <a:avLst/>
          </a:prstGeom>
          <a:solidFill>
            <a:srgbClr val="232A3A"/>
          </a:solidFill>
          <a:ln w="12700">
            <a:miter lim="400000"/>
          </a:ln>
        </p:spPr>
        <p:txBody>
          <a:bodyPr lIns="45719" rIns="45719"/>
          <a:lstStyle/>
          <a:p>
            <a:pPr/>
          </a:p>
        </p:txBody>
      </p:sp>
      <p:sp>
        <p:nvSpPr>
          <p:cNvPr id="44" name="Text 1"/>
          <p:cNvSpPr txBox="1"/>
          <p:nvPr/>
        </p:nvSpPr>
        <p:spPr>
          <a:xfrm>
            <a:off x="952500" y="609600"/>
            <a:ext cx="4969758" cy="25717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defRPr b="1" spc="200" sz="1300">
                <a:solidFill>
                  <a:srgbClr val="FF5A4E"/>
                </a:solidFill>
                <a:latin typeface="Arial"/>
                <a:ea typeface="Arial"/>
                <a:cs typeface="Arial"/>
                <a:sym typeface="Arial"/>
              </a:defRPr>
            </a:pPr>
            <a:r>
              <a:t>01 </a:t>
            </a:r>
            <a:r>
              <a:rPr b="0">
                <a:solidFill>
                  <a:srgbClr val="C3CAD8"/>
                </a:solidFill>
              </a:rPr>
              <a:t>/ PROJECT MANAGEMENT &amp; DEV STACK</a:t>
            </a:r>
          </a:p>
        </p:txBody>
      </p:sp>
      <p:sp>
        <p:nvSpPr>
          <p:cNvPr id="45" name="Text 2"/>
          <p:cNvSpPr txBox="1"/>
          <p:nvPr/>
        </p:nvSpPr>
        <p:spPr>
          <a:xfrm>
            <a:off x="15329892" y="628650"/>
            <a:ext cx="2081809" cy="23812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200" sz="1300">
                <a:solidFill>
                  <a:srgbClr val="8A93A6"/>
                </a:solidFill>
                <a:latin typeface="Arial"/>
                <a:ea typeface="Arial"/>
                <a:cs typeface="Arial"/>
                <a:sym typeface="Arial"/>
              </a:defRPr>
            </a:lvl1pPr>
          </a:lstStyle>
          <a:p>
            <a:pPr/>
            <a:r>
              <a:t>SECTION 02 OF 11</a:t>
            </a:r>
          </a:p>
        </p:txBody>
      </p:sp>
      <p:sp>
        <p:nvSpPr>
          <p:cNvPr id="46" name="Text 3"/>
          <p:cNvSpPr txBox="1"/>
          <p:nvPr/>
        </p:nvSpPr>
        <p:spPr>
          <a:xfrm>
            <a:off x="952500" y="1600200"/>
            <a:ext cx="16874490" cy="69636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108000"/>
              </a:lnSpc>
              <a:defRPr spc="-95" sz="4560">
                <a:solidFill>
                  <a:srgbClr val="E8ECF4"/>
                </a:solidFill>
                <a:latin typeface="Arial"/>
                <a:ea typeface="Arial"/>
                <a:cs typeface="Arial"/>
                <a:sym typeface="Arial"/>
              </a:defRPr>
            </a:lvl1pPr>
          </a:lstStyle>
          <a:p>
            <a:pPr/>
            <a:r>
              <a:t>How we built it.</a:t>
            </a:r>
          </a:p>
        </p:txBody>
      </p:sp>
      <p:sp>
        <p:nvSpPr>
          <p:cNvPr id="47" name="Shape 4"/>
          <p:cNvSpPr/>
          <p:nvPr/>
        </p:nvSpPr>
        <p:spPr>
          <a:xfrm>
            <a:off x="952500" y="2601366"/>
            <a:ext cx="5283102" cy="3009307"/>
          </a:xfrm>
          <a:prstGeom prst="roundRect">
            <a:avLst>
              <a:gd name="adj" fmla="val 3165"/>
            </a:avLst>
          </a:prstGeom>
          <a:solidFill>
            <a:srgbClr val="1E2A55"/>
          </a:solidFill>
          <a:ln w="12700">
            <a:miter lim="400000"/>
          </a:ln>
        </p:spPr>
        <p:txBody>
          <a:bodyPr lIns="45719" rIns="45719"/>
          <a:lstStyle/>
          <a:p>
            <a:pPr/>
          </a:p>
        </p:txBody>
      </p:sp>
      <p:sp>
        <p:nvSpPr>
          <p:cNvPr id="48" name="Text 5"/>
          <p:cNvSpPr txBox="1"/>
          <p:nvPr/>
        </p:nvSpPr>
        <p:spPr>
          <a:xfrm>
            <a:off x="1295400" y="2906166"/>
            <a:ext cx="4735220" cy="3810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58951">
              <a:defRPr b="1" spc="-83" sz="2241">
                <a:solidFill>
                  <a:srgbClr val="FFFFFF"/>
                </a:solidFill>
                <a:latin typeface="Arial"/>
                <a:ea typeface="Arial"/>
                <a:cs typeface="Arial"/>
                <a:sym typeface="Arial"/>
              </a:defRPr>
            </a:lvl1pPr>
          </a:lstStyle>
          <a:p>
            <a:pPr/>
            <a:r>
              <a:t>GitHub</a:t>
            </a:r>
          </a:p>
        </p:txBody>
      </p:sp>
      <p:pic>
        <p:nvPicPr>
          <p:cNvPr id="49" name="Image 0" descr="Image 0"/>
          <p:cNvPicPr>
            <a:picLocks noChangeAspect="1"/>
          </p:cNvPicPr>
          <p:nvPr/>
        </p:nvPicPr>
        <p:blipFill>
          <a:blip r:embed="rId3">
            <a:extLst/>
          </a:blip>
          <a:stretch>
            <a:fillRect/>
          </a:stretch>
        </p:blipFill>
        <p:spPr>
          <a:xfrm>
            <a:off x="5435501" y="2868066"/>
            <a:ext cx="533401" cy="533401"/>
          </a:xfrm>
          <a:prstGeom prst="rect">
            <a:avLst/>
          </a:prstGeom>
          <a:ln w="12700">
            <a:miter lim="400000"/>
          </a:ln>
        </p:spPr>
      </p:pic>
      <p:sp>
        <p:nvSpPr>
          <p:cNvPr id="50" name="Text 6"/>
          <p:cNvSpPr txBox="1"/>
          <p:nvPr/>
        </p:nvSpPr>
        <p:spPr>
          <a:xfrm>
            <a:off x="1384935" y="3477667"/>
            <a:ext cx="4583967" cy="61138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marL="120014" indent="-120014">
              <a:lnSpc>
                <a:spcPct val="145000"/>
              </a:lnSpc>
              <a:buSzPct val="100000"/>
              <a:buChar char="•"/>
              <a:tabLst>
                <a:tab pos="114300" algn="l"/>
              </a:tabLst>
              <a:defRPr sz="1300">
                <a:solidFill>
                  <a:srgbClr val="FFFFFF"/>
                </a:solidFill>
                <a:latin typeface="-apple-system"/>
                <a:ea typeface="-apple-system"/>
                <a:cs typeface="-apple-system"/>
                <a:sym typeface="-apple-system"/>
              </a:defRPr>
            </a:pPr>
            <a:r>
              <a:t>Version control with reviewed pull requests.</a:t>
            </a:r>
          </a:p>
          <a:p>
            <a:pPr marL="120014" indent="-120014">
              <a:lnSpc>
                <a:spcPct val="145000"/>
              </a:lnSpc>
              <a:buSzPct val="100000"/>
              <a:buChar char="•"/>
              <a:tabLst>
                <a:tab pos="114300" algn="l"/>
              </a:tabLst>
              <a:defRPr sz="1300">
                <a:solidFill>
                  <a:srgbClr val="FFFFFF"/>
                </a:solidFill>
                <a:latin typeface="-apple-system"/>
                <a:ea typeface="-apple-system"/>
                <a:cs typeface="-apple-system"/>
                <a:sym typeface="-apple-system"/>
              </a:defRPr>
            </a:pPr>
            <a:r>
              <a:t>Single source of truth for schema, queries, dashboard.</a:t>
            </a:r>
          </a:p>
        </p:txBody>
      </p:sp>
      <p:sp>
        <p:nvSpPr>
          <p:cNvPr id="51" name="Shape 7"/>
          <p:cNvSpPr/>
          <p:nvPr/>
        </p:nvSpPr>
        <p:spPr>
          <a:xfrm>
            <a:off x="6502301" y="2601366"/>
            <a:ext cx="5283251" cy="3009307"/>
          </a:xfrm>
          <a:prstGeom prst="roundRect">
            <a:avLst>
              <a:gd name="adj" fmla="val 3165"/>
            </a:avLst>
          </a:prstGeom>
          <a:solidFill>
            <a:srgbClr val="0A0D12"/>
          </a:solidFill>
          <a:ln>
            <a:solidFill>
              <a:srgbClr val="1A2030"/>
            </a:solidFill>
          </a:ln>
        </p:spPr>
        <p:txBody>
          <a:bodyPr lIns="45719" rIns="45719"/>
          <a:lstStyle/>
          <a:p>
            <a:pPr/>
          </a:p>
        </p:txBody>
      </p:sp>
      <p:sp>
        <p:nvSpPr>
          <p:cNvPr id="52" name="Text 8"/>
          <p:cNvSpPr txBox="1"/>
          <p:nvPr/>
        </p:nvSpPr>
        <p:spPr>
          <a:xfrm>
            <a:off x="6854725" y="2915691"/>
            <a:ext cx="4715753" cy="3810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58951">
              <a:defRPr b="1" spc="-83" sz="2241">
                <a:solidFill>
                  <a:srgbClr val="FFFFFF"/>
                </a:solidFill>
                <a:latin typeface="Arial"/>
                <a:ea typeface="Arial"/>
                <a:cs typeface="Arial"/>
                <a:sym typeface="Arial"/>
              </a:defRPr>
            </a:lvl1pPr>
          </a:lstStyle>
          <a:p>
            <a:pPr/>
            <a:r>
              <a:t>Linear</a:t>
            </a:r>
          </a:p>
        </p:txBody>
      </p:sp>
      <p:pic>
        <p:nvPicPr>
          <p:cNvPr id="53" name="Image 1" descr="Image 1"/>
          <p:cNvPicPr>
            <a:picLocks noChangeAspect="1"/>
          </p:cNvPicPr>
          <p:nvPr/>
        </p:nvPicPr>
        <p:blipFill>
          <a:blip r:embed="rId4">
            <a:extLst/>
          </a:blip>
          <a:stretch>
            <a:fillRect/>
          </a:stretch>
        </p:blipFill>
        <p:spPr>
          <a:xfrm>
            <a:off x="10975924" y="2877591"/>
            <a:ext cx="533401" cy="533401"/>
          </a:xfrm>
          <a:prstGeom prst="rect">
            <a:avLst/>
          </a:prstGeom>
          <a:ln w="12700">
            <a:miter lim="400000"/>
          </a:ln>
        </p:spPr>
      </p:pic>
      <p:sp>
        <p:nvSpPr>
          <p:cNvPr id="54" name="Text 9"/>
          <p:cNvSpPr txBox="1"/>
          <p:nvPr/>
        </p:nvSpPr>
        <p:spPr>
          <a:xfrm>
            <a:off x="6944260" y="3487192"/>
            <a:ext cx="4565066" cy="61138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marL="120014" indent="-120014">
              <a:lnSpc>
                <a:spcPct val="145000"/>
              </a:lnSpc>
              <a:buSzPct val="100000"/>
              <a:buChar char="•"/>
              <a:tabLst>
                <a:tab pos="114300" algn="l"/>
              </a:tabLst>
              <a:defRPr sz="1300">
                <a:solidFill>
                  <a:srgbClr val="FFFFFF">
                    <a:alpha val="92000"/>
                  </a:srgbClr>
                </a:solidFill>
                <a:latin typeface="-apple-system"/>
                <a:ea typeface="-apple-system"/>
                <a:cs typeface="-apple-system"/>
                <a:sym typeface="-apple-system"/>
              </a:defRPr>
            </a:pPr>
            <a:r>
              <a:t>Sprint planning against rubric line items.</a:t>
            </a:r>
          </a:p>
          <a:p>
            <a:pPr marL="120014" indent="-120014">
              <a:lnSpc>
                <a:spcPct val="145000"/>
              </a:lnSpc>
              <a:buSzPct val="100000"/>
              <a:buChar char="•"/>
              <a:tabLst>
                <a:tab pos="114300" algn="l"/>
              </a:tabLst>
              <a:defRPr sz="1300">
                <a:solidFill>
                  <a:srgbClr val="FFFFFF">
                    <a:alpha val="92000"/>
                  </a:srgbClr>
                </a:solidFill>
                <a:latin typeface="-apple-system"/>
                <a:ea typeface="-apple-system"/>
                <a:cs typeface="-apple-system"/>
                <a:sym typeface="-apple-system"/>
              </a:defRPr>
            </a:pPr>
            <a:r>
              <a:t>Task tracking and ownership.</a:t>
            </a:r>
          </a:p>
        </p:txBody>
      </p:sp>
      <p:sp>
        <p:nvSpPr>
          <p:cNvPr id="55" name="Shape 10"/>
          <p:cNvSpPr/>
          <p:nvPr/>
        </p:nvSpPr>
        <p:spPr>
          <a:xfrm>
            <a:off x="12052249" y="2601366"/>
            <a:ext cx="5283251" cy="3009307"/>
          </a:xfrm>
          <a:prstGeom prst="roundRect">
            <a:avLst>
              <a:gd name="adj" fmla="val 3165"/>
            </a:avLst>
          </a:prstGeom>
          <a:solidFill>
            <a:srgbClr val="1E2A55"/>
          </a:solidFill>
          <a:ln w="12700">
            <a:miter lim="400000"/>
          </a:ln>
        </p:spPr>
        <p:txBody>
          <a:bodyPr lIns="45719" rIns="45719"/>
          <a:lstStyle/>
          <a:p>
            <a:pPr/>
          </a:p>
        </p:txBody>
      </p:sp>
      <p:sp>
        <p:nvSpPr>
          <p:cNvPr id="56" name="Text 11"/>
          <p:cNvSpPr txBox="1"/>
          <p:nvPr/>
        </p:nvSpPr>
        <p:spPr>
          <a:xfrm>
            <a:off x="12395149" y="2906166"/>
            <a:ext cx="4735374" cy="3810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58951">
              <a:defRPr b="1" spc="-83" sz="2241">
                <a:solidFill>
                  <a:srgbClr val="FFFFFF"/>
                </a:solidFill>
                <a:latin typeface="Arial"/>
                <a:ea typeface="Arial"/>
                <a:cs typeface="Arial"/>
                <a:sym typeface="Arial"/>
              </a:defRPr>
            </a:lvl1pPr>
          </a:lstStyle>
          <a:p>
            <a:pPr/>
            <a:r>
              <a:t>Slack</a:t>
            </a:r>
          </a:p>
        </p:txBody>
      </p:sp>
      <p:pic>
        <p:nvPicPr>
          <p:cNvPr id="57" name="Image 2" descr="Image 2"/>
          <p:cNvPicPr>
            <a:picLocks noChangeAspect="1"/>
          </p:cNvPicPr>
          <p:nvPr/>
        </p:nvPicPr>
        <p:blipFill>
          <a:blip r:embed="rId5">
            <a:extLst/>
          </a:blip>
          <a:stretch>
            <a:fillRect/>
          </a:stretch>
        </p:blipFill>
        <p:spPr>
          <a:xfrm>
            <a:off x="16535400" y="2868066"/>
            <a:ext cx="533400" cy="533401"/>
          </a:xfrm>
          <a:prstGeom prst="rect">
            <a:avLst/>
          </a:prstGeom>
          <a:ln w="12700">
            <a:miter lim="400000"/>
          </a:ln>
        </p:spPr>
      </p:pic>
      <p:sp>
        <p:nvSpPr>
          <p:cNvPr id="58" name="Text 12"/>
          <p:cNvSpPr txBox="1"/>
          <p:nvPr/>
        </p:nvSpPr>
        <p:spPr>
          <a:xfrm>
            <a:off x="12484685" y="3477667"/>
            <a:ext cx="4584116" cy="28664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marL="120014" indent="-120014">
              <a:lnSpc>
                <a:spcPct val="145000"/>
              </a:lnSpc>
              <a:buSzPct val="100000"/>
              <a:buChar char="•"/>
              <a:tabLst>
                <a:tab pos="114300" algn="l"/>
              </a:tabLst>
              <a:defRPr sz="1300">
                <a:solidFill>
                  <a:srgbClr val="FFFFFF"/>
                </a:solidFill>
                <a:latin typeface="-apple-system"/>
                <a:ea typeface="-apple-system"/>
                <a:cs typeface="-apple-system"/>
                <a:sym typeface="-apple-system"/>
              </a:defRPr>
            </a:lvl1pPr>
          </a:lstStyle>
          <a:p>
            <a:pPr/>
            <a:r>
              <a:t>Day-to-day team communications.</a:t>
            </a:r>
          </a:p>
        </p:txBody>
      </p:sp>
      <p:sp>
        <p:nvSpPr>
          <p:cNvPr id="59" name="Shape 13"/>
          <p:cNvSpPr/>
          <p:nvPr/>
        </p:nvSpPr>
        <p:spPr>
          <a:xfrm>
            <a:off x="952500" y="5877371"/>
            <a:ext cx="5283102" cy="3009454"/>
          </a:xfrm>
          <a:prstGeom prst="roundRect">
            <a:avLst>
              <a:gd name="adj" fmla="val 3165"/>
            </a:avLst>
          </a:prstGeom>
          <a:solidFill>
            <a:srgbClr val="0A0D12"/>
          </a:solidFill>
          <a:ln>
            <a:solidFill>
              <a:srgbClr val="1A2030"/>
            </a:solidFill>
          </a:ln>
        </p:spPr>
        <p:txBody>
          <a:bodyPr lIns="45719" rIns="45719"/>
          <a:lstStyle/>
          <a:p>
            <a:pPr/>
          </a:p>
        </p:txBody>
      </p:sp>
      <p:sp>
        <p:nvSpPr>
          <p:cNvPr id="60" name="Text 14"/>
          <p:cNvSpPr txBox="1"/>
          <p:nvPr/>
        </p:nvSpPr>
        <p:spPr>
          <a:xfrm>
            <a:off x="1304925" y="6191696"/>
            <a:ext cx="4715598" cy="3810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58951">
              <a:defRPr b="1" spc="-83" sz="2241">
                <a:solidFill>
                  <a:srgbClr val="FFFFFF"/>
                </a:solidFill>
                <a:latin typeface="Arial"/>
                <a:ea typeface="Arial"/>
                <a:cs typeface="Arial"/>
                <a:sym typeface="Arial"/>
              </a:defRPr>
            </a:lvl1pPr>
          </a:lstStyle>
          <a:p>
            <a:pPr/>
            <a:r>
              <a:t>Docker</a:t>
            </a:r>
          </a:p>
        </p:txBody>
      </p:sp>
      <p:pic>
        <p:nvPicPr>
          <p:cNvPr id="61" name="Image 3" descr="Image 3"/>
          <p:cNvPicPr>
            <a:picLocks noChangeAspect="1"/>
          </p:cNvPicPr>
          <p:nvPr/>
        </p:nvPicPr>
        <p:blipFill>
          <a:blip r:embed="rId6">
            <a:extLst/>
          </a:blip>
          <a:stretch>
            <a:fillRect/>
          </a:stretch>
        </p:blipFill>
        <p:spPr>
          <a:xfrm>
            <a:off x="5425976" y="6153596"/>
            <a:ext cx="533401" cy="533401"/>
          </a:xfrm>
          <a:prstGeom prst="rect">
            <a:avLst/>
          </a:prstGeom>
          <a:ln w="12700">
            <a:miter lim="400000"/>
          </a:ln>
        </p:spPr>
      </p:pic>
      <p:sp>
        <p:nvSpPr>
          <p:cNvPr id="62" name="Text 15"/>
          <p:cNvSpPr txBox="1"/>
          <p:nvPr/>
        </p:nvSpPr>
        <p:spPr>
          <a:xfrm>
            <a:off x="1394460" y="6763195"/>
            <a:ext cx="4564917" cy="61138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marL="120014" indent="-120014">
              <a:lnSpc>
                <a:spcPct val="145000"/>
              </a:lnSpc>
              <a:buSzPct val="100000"/>
              <a:buChar char="•"/>
              <a:tabLst>
                <a:tab pos="114300" algn="l"/>
              </a:tabLst>
              <a:defRPr sz="1300">
                <a:solidFill>
                  <a:srgbClr val="FFFFFF">
                    <a:alpha val="92000"/>
                  </a:srgbClr>
                </a:solidFill>
                <a:latin typeface="-apple-system"/>
                <a:ea typeface="-apple-system"/>
                <a:cs typeface="-apple-system"/>
                <a:sym typeface="-apple-system"/>
              </a:defRPr>
            </a:pPr>
            <a:r>
              <a:t>Reproducible PostgreSQL 16 environment.</a:t>
            </a:r>
          </a:p>
          <a:p>
            <a:pPr marL="120014" indent="-120014">
              <a:lnSpc>
                <a:spcPct val="145000"/>
              </a:lnSpc>
              <a:buSzPct val="100000"/>
              <a:buChar char="•"/>
              <a:tabLst>
                <a:tab pos="114300" algn="l"/>
              </a:tabLst>
              <a:defRPr sz="1300">
                <a:solidFill>
                  <a:srgbClr val="FFFFFF">
                    <a:alpha val="92000"/>
                  </a:srgbClr>
                </a:solidFill>
                <a:latin typeface="-apple-system"/>
                <a:ea typeface="-apple-system"/>
                <a:cs typeface="-apple-system"/>
                <a:sym typeface="-apple-system"/>
              </a:defRPr>
            </a:pPr>
            <a:r>
              <a:t>One-command database rebuild from scratch.</a:t>
            </a:r>
          </a:p>
        </p:txBody>
      </p:sp>
      <p:sp>
        <p:nvSpPr>
          <p:cNvPr id="63" name="Shape 16"/>
          <p:cNvSpPr/>
          <p:nvPr/>
        </p:nvSpPr>
        <p:spPr>
          <a:xfrm>
            <a:off x="6502301" y="5877371"/>
            <a:ext cx="5283251" cy="3009454"/>
          </a:xfrm>
          <a:prstGeom prst="roundRect">
            <a:avLst>
              <a:gd name="adj" fmla="val 3165"/>
            </a:avLst>
          </a:prstGeom>
          <a:solidFill>
            <a:srgbClr val="1E2A55"/>
          </a:solidFill>
          <a:ln w="12700">
            <a:miter lim="400000"/>
          </a:ln>
        </p:spPr>
        <p:txBody>
          <a:bodyPr lIns="45719" rIns="45719"/>
          <a:lstStyle/>
          <a:p>
            <a:pPr/>
          </a:p>
        </p:txBody>
      </p:sp>
      <p:sp>
        <p:nvSpPr>
          <p:cNvPr id="64" name="Text 17"/>
          <p:cNvSpPr txBox="1"/>
          <p:nvPr/>
        </p:nvSpPr>
        <p:spPr>
          <a:xfrm>
            <a:off x="6845200" y="6182171"/>
            <a:ext cx="4735374" cy="3810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58951">
              <a:defRPr b="1" spc="-83" sz="2241">
                <a:solidFill>
                  <a:srgbClr val="FFFFFF"/>
                </a:solidFill>
                <a:latin typeface="Arial"/>
                <a:ea typeface="Arial"/>
                <a:cs typeface="Arial"/>
                <a:sym typeface="Arial"/>
              </a:defRPr>
            </a:lvl1pPr>
          </a:lstStyle>
          <a:p>
            <a:pPr/>
            <a:r>
              <a:t>Alembic</a:t>
            </a:r>
          </a:p>
        </p:txBody>
      </p:sp>
      <p:pic>
        <p:nvPicPr>
          <p:cNvPr id="65" name="Image 4" descr="Image 4"/>
          <p:cNvPicPr>
            <a:picLocks noChangeAspect="1"/>
          </p:cNvPicPr>
          <p:nvPr/>
        </p:nvPicPr>
        <p:blipFill>
          <a:blip r:embed="rId7">
            <a:extLst/>
          </a:blip>
          <a:stretch>
            <a:fillRect/>
          </a:stretch>
        </p:blipFill>
        <p:spPr>
          <a:xfrm>
            <a:off x="10985449" y="6144071"/>
            <a:ext cx="533401" cy="533401"/>
          </a:xfrm>
          <a:prstGeom prst="rect">
            <a:avLst/>
          </a:prstGeom>
          <a:ln w="12700">
            <a:miter lim="400000"/>
          </a:ln>
        </p:spPr>
      </p:pic>
      <p:sp>
        <p:nvSpPr>
          <p:cNvPr id="66" name="Text 18"/>
          <p:cNvSpPr txBox="1"/>
          <p:nvPr/>
        </p:nvSpPr>
        <p:spPr>
          <a:xfrm>
            <a:off x="6934735" y="6753670"/>
            <a:ext cx="4584116" cy="61138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marL="120014" indent="-120014">
              <a:lnSpc>
                <a:spcPct val="145000"/>
              </a:lnSpc>
              <a:buSzPct val="100000"/>
              <a:buChar char="•"/>
              <a:tabLst>
                <a:tab pos="114300" algn="l"/>
              </a:tabLst>
              <a:defRPr sz="1300">
                <a:solidFill>
                  <a:srgbClr val="FFFFFF"/>
                </a:solidFill>
                <a:latin typeface="-apple-system"/>
                <a:ea typeface="-apple-system"/>
                <a:cs typeface="-apple-system"/>
                <a:sym typeface="-apple-system"/>
              </a:defRPr>
            </a:pPr>
            <a:r>
              <a:t>Schema migrations versioned in Git.</a:t>
            </a:r>
          </a:p>
          <a:p>
            <a:pPr marL="120014" indent="-120014">
              <a:lnSpc>
                <a:spcPct val="145000"/>
              </a:lnSpc>
              <a:buSzPct val="100000"/>
              <a:buChar char="•"/>
              <a:tabLst>
                <a:tab pos="114300" algn="l"/>
              </a:tabLst>
              <a:defRPr sz="1300">
                <a:solidFill>
                  <a:srgbClr val="FFFFFF"/>
                </a:solidFill>
                <a:latin typeface="-apple-system"/>
                <a:ea typeface="-apple-system"/>
                <a:cs typeface="-apple-system"/>
                <a:sym typeface="-apple-system"/>
              </a:defRPr>
            </a:pPr>
            <a:r>
              <a:t>Every table change ships as a migration.</a:t>
            </a:r>
          </a:p>
        </p:txBody>
      </p:sp>
      <p:sp>
        <p:nvSpPr>
          <p:cNvPr id="67" name="Shape 19"/>
          <p:cNvSpPr/>
          <p:nvPr/>
        </p:nvSpPr>
        <p:spPr>
          <a:xfrm>
            <a:off x="12052249" y="5877371"/>
            <a:ext cx="5283251" cy="3009454"/>
          </a:xfrm>
          <a:prstGeom prst="roundRect">
            <a:avLst>
              <a:gd name="adj" fmla="val 3165"/>
            </a:avLst>
          </a:prstGeom>
          <a:solidFill>
            <a:srgbClr val="0A0D12"/>
          </a:solidFill>
          <a:ln>
            <a:solidFill>
              <a:srgbClr val="1A2030"/>
            </a:solidFill>
          </a:ln>
        </p:spPr>
        <p:txBody>
          <a:bodyPr lIns="45719" rIns="45719"/>
          <a:lstStyle/>
          <a:p>
            <a:pPr/>
          </a:p>
        </p:txBody>
      </p:sp>
      <p:sp>
        <p:nvSpPr>
          <p:cNvPr id="68" name="Text 20"/>
          <p:cNvSpPr txBox="1"/>
          <p:nvPr/>
        </p:nvSpPr>
        <p:spPr>
          <a:xfrm>
            <a:off x="12404674" y="6191696"/>
            <a:ext cx="4715753" cy="3810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58951">
              <a:defRPr b="1" spc="-83" sz="2241">
                <a:solidFill>
                  <a:srgbClr val="FFFFFF"/>
                </a:solidFill>
                <a:latin typeface="Arial"/>
                <a:ea typeface="Arial"/>
                <a:cs typeface="Arial"/>
                <a:sym typeface="Arial"/>
              </a:defRPr>
            </a:lvl1pPr>
          </a:lstStyle>
          <a:p>
            <a:pPr/>
            <a:r>
              <a:t>Streamlit + Plotly</a:t>
            </a:r>
          </a:p>
        </p:txBody>
      </p:sp>
      <p:pic>
        <p:nvPicPr>
          <p:cNvPr id="69" name="Image 5" descr="Image 5"/>
          <p:cNvPicPr>
            <a:picLocks noChangeAspect="1"/>
          </p:cNvPicPr>
          <p:nvPr/>
        </p:nvPicPr>
        <p:blipFill>
          <a:blip r:embed="rId8">
            <a:extLst/>
          </a:blip>
          <a:stretch>
            <a:fillRect/>
          </a:stretch>
        </p:blipFill>
        <p:spPr>
          <a:xfrm>
            <a:off x="16525875" y="6153596"/>
            <a:ext cx="533400" cy="533401"/>
          </a:xfrm>
          <a:prstGeom prst="rect">
            <a:avLst/>
          </a:prstGeom>
          <a:ln w="12700">
            <a:miter lim="400000"/>
          </a:ln>
        </p:spPr>
      </p:pic>
      <p:sp>
        <p:nvSpPr>
          <p:cNvPr id="70" name="Text 21"/>
          <p:cNvSpPr txBox="1"/>
          <p:nvPr/>
        </p:nvSpPr>
        <p:spPr>
          <a:xfrm>
            <a:off x="12494210" y="6763195"/>
            <a:ext cx="4565066" cy="61138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marL="120014" indent="-120014">
              <a:lnSpc>
                <a:spcPct val="145000"/>
              </a:lnSpc>
              <a:buSzPct val="100000"/>
              <a:buChar char="•"/>
              <a:tabLst>
                <a:tab pos="114300" algn="l"/>
              </a:tabLst>
              <a:defRPr sz="1300">
                <a:solidFill>
                  <a:srgbClr val="FFFFFF">
                    <a:alpha val="92000"/>
                  </a:srgbClr>
                </a:solidFill>
                <a:latin typeface="-apple-system"/>
                <a:ea typeface="-apple-system"/>
                <a:cs typeface="-apple-system"/>
                <a:sym typeface="-apple-system"/>
              </a:defRPr>
            </a:pPr>
            <a:r>
              <a:t>Interactive dashboard layer.</a:t>
            </a:r>
          </a:p>
          <a:p>
            <a:pPr marL="120014" indent="-120014">
              <a:lnSpc>
                <a:spcPct val="145000"/>
              </a:lnSpc>
              <a:buSzPct val="100000"/>
              <a:buChar char="•"/>
              <a:tabLst>
                <a:tab pos="114300" algn="l"/>
              </a:tabLst>
              <a:defRPr sz="1300">
                <a:solidFill>
                  <a:srgbClr val="FFFFFF">
                    <a:alpha val="92000"/>
                  </a:srgbClr>
                </a:solidFill>
                <a:latin typeface="-apple-system"/>
                <a:ea typeface="-apple-system"/>
                <a:cs typeface="-apple-system"/>
                <a:sym typeface="-apple-system"/>
              </a:defRPr>
            </a:pPr>
            <a:r>
              <a:t>Hits PostgreSQL directly via SQLAlchemy.</a:t>
            </a:r>
          </a:p>
        </p:txBody>
      </p:sp>
      <p:sp>
        <p:nvSpPr>
          <p:cNvPr id="71" name="Shape 22"/>
          <p:cNvSpPr/>
          <p:nvPr/>
        </p:nvSpPr>
        <p:spPr>
          <a:xfrm>
            <a:off x="952500" y="9115425"/>
            <a:ext cx="16383000" cy="485775"/>
          </a:xfrm>
          <a:prstGeom prst="roundRect">
            <a:avLst>
              <a:gd name="adj" fmla="val 11765"/>
            </a:avLst>
          </a:prstGeom>
          <a:solidFill>
            <a:srgbClr val="141923"/>
          </a:solidFill>
          <a:ln>
            <a:solidFill>
              <a:srgbClr val="232A3A"/>
            </a:solidFill>
          </a:ln>
        </p:spPr>
        <p:txBody>
          <a:bodyPr lIns="45719" rIns="45719"/>
          <a:lstStyle/>
          <a:p>
            <a:pPr/>
          </a:p>
        </p:txBody>
      </p:sp>
      <p:sp>
        <p:nvSpPr>
          <p:cNvPr id="72" name="Text 23"/>
          <p:cNvSpPr txBox="1"/>
          <p:nvPr/>
        </p:nvSpPr>
        <p:spPr>
          <a:xfrm>
            <a:off x="1171574" y="9258300"/>
            <a:ext cx="16436341" cy="23812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defRPr b="1" spc="100" sz="1200">
                <a:solidFill>
                  <a:srgbClr val="E8ECF4"/>
                </a:solidFill>
                <a:latin typeface="Arial"/>
                <a:ea typeface="Arial"/>
                <a:cs typeface="Arial"/>
                <a:sym typeface="Arial"/>
              </a:defRPr>
            </a:pPr>
            <a:r>
              <a:t>STACK </a:t>
            </a:r>
            <a:r>
              <a:rPr b="0">
                <a:solidFill>
                  <a:srgbClr val="8A93A6"/>
                </a:solidFill>
              </a:rPr>
              <a:t>· POSTGRESQL 16 + SQLALCHEMY + PYTHON LOADERS FOR THE DATA PLANE.</a:t>
            </a:r>
          </a:p>
        </p:txBody>
      </p:sp>
      <p:sp>
        <p:nvSpPr>
          <p:cNvPr id="73" name="Shape 24"/>
          <p:cNvSpPr/>
          <p:nvPr/>
        </p:nvSpPr>
        <p:spPr>
          <a:xfrm>
            <a:off x="952500" y="9647237"/>
            <a:ext cx="16383000" cy="12701"/>
          </a:xfrm>
          <a:prstGeom prst="rect">
            <a:avLst/>
          </a:prstGeom>
          <a:solidFill>
            <a:srgbClr val="232A3A"/>
          </a:solidFill>
          <a:ln w="12700">
            <a:miter lim="400000"/>
          </a:ln>
        </p:spPr>
        <p:txBody>
          <a:bodyPr lIns="45719" rIns="45719"/>
          <a:lstStyle/>
          <a:p>
            <a:pPr/>
          </a:p>
        </p:txBody>
      </p:sp>
      <p:sp>
        <p:nvSpPr>
          <p:cNvPr id="74" name="Text 25"/>
          <p:cNvSpPr txBox="1"/>
          <p:nvPr/>
        </p:nvSpPr>
        <p:spPr>
          <a:xfrm>
            <a:off x="952499" y="9810750"/>
            <a:ext cx="2288383" cy="20955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defRPr spc="96" sz="1152">
                <a:solidFill>
                  <a:srgbClr val="8A93A6"/>
                </a:solidFill>
                <a:latin typeface="Arial"/>
                <a:ea typeface="Arial"/>
                <a:cs typeface="Arial"/>
                <a:sym typeface="Arial"/>
              </a:defRPr>
            </a:lvl1pPr>
          </a:lstStyle>
          <a:p>
            <a:pPr/>
            <a:r>
              <a:t>02 / 11 · Naman · 0:45</a:t>
            </a:r>
          </a:p>
        </p:txBody>
      </p:sp>
      <p:sp>
        <p:nvSpPr>
          <p:cNvPr id="75" name="Text 26"/>
          <p:cNvSpPr txBox="1"/>
          <p:nvPr/>
        </p:nvSpPr>
        <p:spPr>
          <a:xfrm>
            <a:off x="14257287" y="9810750"/>
            <a:ext cx="3170559" cy="20955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defRPr spc="96" sz="1152">
                <a:solidFill>
                  <a:srgbClr val="8A93A6"/>
                </a:solidFill>
                <a:latin typeface="Arial"/>
                <a:ea typeface="Arial"/>
                <a:cs typeface="Arial"/>
                <a:sym typeface="Arial"/>
              </a:defRPr>
            </a:lvl1pPr>
          </a:lstStyle>
          <a:p>
            <a:pPr/>
            <a:r>
              <a:t>PROJECT MANAGEMENT &amp; STACK</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B0D12"/>
        </a:solidFill>
      </p:bgPr>
    </p:bg>
    <p:spTree>
      <p:nvGrpSpPr>
        <p:cNvPr id="1" name=""/>
        <p:cNvGrpSpPr/>
        <p:nvPr/>
      </p:nvGrpSpPr>
      <p:grpSpPr>
        <a:xfrm>
          <a:off x="0" y="0"/>
          <a:ext cx="0" cy="0"/>
          <a:chOff x="0" y="0"/>
          <a:chExt cx="0" cy="0"/>
        </a:xfrm>
      </p:grpSpPr>
      <p:sp>
        <p:nvSpPr>
          <p:cNvPr id="79" name="Shape 0"/>
          <p:cNvSpPr/>
          <p:nvPr/>
        </p:nvSpPr>
        <p:spPr>
          <a:xfrm>
            <a:off x="952500" y="1055687"/>
            <a:ext cx="16383000" cy="12701"/>
          </a:xfrm>
          <a:prstGeom prst="rect">
            <a:avLst/>
          </a:prstGeom>
          <a:solidFill>
            <a:srgbClr val="232A3A"/>
          </a:solidFill>
          <a:ln w="12700">
            <a:miter lim="400000"/>
          </a:ln>
        </p:spPr>
        <p:txBody>
          <a:bodyPr lIns="45719" rIns="45719"/>
          <a:lstStyle/>
          <a:p>
            <a:pPr/>
          </a:p>
        </p:txBody>
      </p:sp>
      <p:sp>
        <p:nvSpPr>
          <p:cNvPr id="80" name="Text 1"/>
          <p:cNvSpPr txBox="1"/>
          <p:nvPr/>
        </p:nvSpPr>
        <p:spPr>
          <a:xfrm>
            <a:off x="952499" y="609600"/>
            <a:ext cx="1717627" cy="25717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defRPr b="1" spc="200" sz="1300">
                <a:solidFill>
                  <a:srgbClr val="FF5A4E"/>
                </a:solidFill>
                <a:latin typeface="Arial"/>
                <a:ea typeface="Arial"/>
                <a:cs typeface="Arial"/>
                <a:sym typeface="Arial"/>
              </a:defRPr>
            </a:pPr>
            <a:r>
              <a:t>02 </a:t>
            </a:r>
            <a:r>
              <a:rPr b="0">
                <a:solidFill>
                  <a:srgbClr val="C3CAD8"/>
                </a:solidFill>
              </a:rPr>
              <a:t>/ DATASET</a:t>
            </a:r>
          </a:p>
        </p:txBody>
      </p:sp>
      <p:sp>
        <p:nvSpPr>
          <p:cNvPr id="81" name="Text 2"/>
          <p:cNvSpPr txBox="1"/>
          <p:nvPr/>
        </p:nvSpPr>
        <p:spPr>
          <a:xfrm>
            <a:off x="15329892" y="628650"/>
            <a:ext cx="2081809" cy="23812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200" sz="1300">
                <a:solidFill>
                  <a:srgbClr val="8A93A6"/>
                </a:solidFill>
                <a:latin typeface="Arial"/>
                <a:ea typeface="Arial"/>
                <a:cs typeface="Arial"/>
                <a:sym typeface="Arial"/>
              </a:defRPr>
            </a:lvl1pPr>
          </a:lstStyle>
          <a:p>
            <a:pPr/>
            <a:r>
              <a:t>SECTION 03 OF 11</a:t>
            </a:r>
          </a:p>
        </p:txBody>
      </p:sp>
      <p:sp>
        <p:nvSpPr>
          <p:cNvPr id="82" name="Text 3"/>
          <p:cNvSpPr txBox="1"/>
          <p:nvPr/>
        </p:nvSpPr>
        <p:spPr>
          <a:xfrm>
            <a:off x="952500" y="1600200"/>
            <a:ext cx="16874490" cy="69636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108000"/>
              </a:lnSpc>
              <a:defRPr spc="-95" sz="4560">
                <a:solidFill>
                  <a:srgbClr val="E8ECF4"/>
                </a:solidFill>
                <a:latin typeface="Arial"/>
                <a:ea typeface="Arial"/>
                <a:cs typeface="Arial"/>
                <a:sym typeface="Arial"/>
              </a:defRPr>
            </a:lvl1pPr>
          </a:lstStyle>
          <a:p>
            <a:pPr/>
            <a:r>
              <a:t>A 22-table 3NF schema over the russellmitchell testbed.</a:t>
            </a:r>
          </a:p>
        </p:txBody>
      </p:sp>
      <p:sp>
        <p:nvSpPr>
          <p:cNvPr id="83" name="Shape 4"/>
          <p:cNvSpPr/>
          <p:nvPr/>
        </p:nvSpPr>
        <p:spPr>
          <a:xfrm>
            <a:off x="952500" y="2599779"/>
            <a:ext cx="3895725" cy="12701"/>
          </a:xfrm>
          <a:prstGeom prst="rect">
            <a:avLst/>
          </a:prstGeom>
          <a:solidFill>
            <a:srgbClr val="232A3A"/>
          </a:solidFill>
          <a:ln w="12700">
            <a:miter lim="400000"/>
          </a:ln>
        </p:spPr>
        <p:txBody>
          <a:bodyPr lIns="45719" rIns="45719"/>
          <a:lstStyle/>
          <a:p>
            <a:pPr/>
          </a:p>
        </p:txBody>
      </p:sp>
      <p:sp>
        <p:nvSpPr>
          <p:cNvPr id="84" name="Text 5"/>
          <p:cNvSpPr txBox="1"/>
          <p:nvPr/>
        </p:nvSpPr>
        <p:spPr>
          <a:xfrm>
            <a:off x="952500" y="2782341"/>
            <a:ext cx="4012597" cy="7620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86384">
              <a:defRPr spc="-86" sz="4902">
                <a:solidFill>
                  <a:srgbClr val="E8ECF4"/>
                </a:solidFill>
                <a:latin typeface="Arial"/>
                <a:ea typeface="Arial"/>
                <a:cs typeface="Arial"/>
                <a:sym typeface="Arial"/>
              </a:defRPr>
            </a:lvl1pPr>
          </a:lstStyle>
          <a:p>
            <a:pPr/>
            <a:r>
              <a:t>22</a:t>
            </a:r>
          </a:p>
        </p:txBody>
      </p:sp>
      <p:sp>
        <p:nvSpPr>
          <p:cNvPr id="85" name="Text 6"/>
          <p:cNvSpPr txBox="1"/>
          <p:nvPr/>
        </p:nvSpPr>
        <p:spPr>
          <a:xfrm>
            <a:off x="952500" y="3601492"/>
            <a:ext cx="4012597"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defRPr spc="192" sz="1152">
                <a:solidFill>
                  <a:srgbClr val="8A93A6"/>
                </a:solidFill>
                <a:latin typeface="Arial"/>
                <a:ea typeface="Arial"/>
                <a:cs typeface="Arial"/>
                <a:sym typeface="Arial"/>
              </a:defRPr>
            </a:lvl1pPr>
          </a:lstStyle>
          <a:p>
            <a:pPr/>
            <a:r>
              <a:t>HOSTS IN INVENTORY</a:t>
            </a:r>
          </a:p>
        </p:txBody>
      </p:sp>
      <p:sp>
        <p:nvSpPr>
          <p:cNvPr id="86" name="Shape 7"/>
          <p:cNvSpPr/>
          <p:nvPr/>
        </p:nvSpPr>
        <p:spPr>
          <a:xfrm>
            <a:off x="5114925" y="2599779"/>
            <a:ext cx="3895725" cy="12701"/>
          </a:xfrm>
          <a:prstGeom prst="rect">
            <a:avLst/>
          </a:prstGeom>
          <a:solidFill>
            <a:srgbClr val="232A3A"/>
          </a:solidFill>
          <a:ln w="12700">
            <a:miter lim="400000"/>
          </a:ln>
        </p:spPr>
        <p:txBody>
          <a:bodyPr lIns="45719" rIns="45719"/>
          <a:lstStyle/>
          <a:p>
            <a:pPr/>
          </a:p>
        </p:txBody>
      </p:sp>
      <p:sp>
        <p:nvSpPr>
          <p:cNvPr id="87" name="Text 8"/>
          <p:cNvSpPr txBox="1"/>
          <p:nvPr/>
        </p:nvSpPr>
        <p:spPr>
          <a:xfrm>
            <a:off x="5114925" y="2782341"/>
            <a:ext cx="4012597" cy="7620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86384">
              <a:defRPr spc="-86" sz="4902">
                <a:solidFill>
                  <a:srgbClr val="E8ECF4"/>
                </a:solidFill>
                <a:latin typeface="Arial"/>
                <a:ea typeface="Arial"/>
                <a:cs typeface="Arial"/>
                <a:sym typeface="Arial"/>
              </a:defRPr>
            </a:lvl1pPr>
          </a:lstStyle>
          <a:p>
            <a:pPr/>
            <a:r>
              <a:t>8</a:t>
            </a:r>
          </a:p>
        </p:txBody>
      </p:sp>
      <p:sp>
        <p:nvSpPr>
          <p:cNvPr id="88" name="Text 9"/>
          <p:cNvSpPr txBox="1"/>
          <p:nvPr/>
        </p:nvSpPr>
        <p:spPr>
          <a:xfrm>
            <a:off x="5114925" y="3601492"/>
            <a:ext cx="4012597"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defRPr spc="192" sz="1152">
                <a:solidFill>
                  <a:srgbClr val="8A93A6"/>
                </a:solidFill>
                <a:latin typeface="Arial"/>
                <a:ea typeface="Arial"/>
                <a:cs typeface="Arial"/>
                <a:sym typeface="Arial"/>
              </a:defRPr>
            </a:lvl1pPr>
          </a:lstStyle>
          <a:p>
            <a:pPr/>
            <a:r>
              <a:t>SOURCE LOG FILES</a:t>
            </a:r>
          </a:p>
        </p:txBody>
      </p:sp>
      <p:sp>
        <p:nvSpPr>
          <p:cNvPr id="89" name="Shape 10"/>
          <p:cNvSpPr/>
          <p:nvPr/>
        </p:nvSpPr>
        <p:spPr>
          <a:xfrm>
            <a:off x="9277350" y="2599779"/>
            <a:ext cx="3895725" cy="12701"/>
          </a:xfrm>
          <a:prstGeom prst="rect">
            <a:avLst/>
          </a:prstGeom>
          <a:solidFill>
            <a:srgbClr val="232A3A"/>
          </a:solidFill>
          <a:ln w="12700">
            <a:miter lim="400000"/>
          </a:ln>
        </p:spPr>
        <p:txBody>
          <a:bodyPr lIns="45719" rIns="45719"/>
          <a:lstStyle/>
          <a:p>
            <a:pPr/>
          </a:p>
        </p:txBody>
      </p:sp>
      <p:sp>
        <p:nvSpPr>
          <p:cNvPr id="90" name="Text 11"/>
          <p:cNvSpPr txBox="1"/>
          <p:nvPr/>
        </p:nvSpPr>
        <p:spPr>
          <a:xfrm>
            <a:off x="9277350" y="2782341"/>
            <a:ext cx="4012597" cy="7620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86384">
              <a:defRPr spc="-86" sz="4902">
                <a:solidFill>
                  <a:srgbClr val="E8ECF4"/>
                </a:solidFill>
                <a:latin typeface="Arial"/>
                <a:ea typeface="Arial"/>
                <a:cs typeface="Arial"/>
                <a:sym typeface="Arial"/>
              </a:defRPr>
            </a:lvl1pPr>
          </a:lstStyle>
          <a:p>
            <a:pPr/>
            <a:r>
              <a:t>61,862</a:t>
            </a:r>
          </a:p>
        </p:txBody>
      </p:sp>
      <p:sp>
        <p:nvSpPr>
          <p:cNvPr id="91" name="Text 12"/>
          <p:cNvSpPr txBox="1"/>
          <p:nvPr/>
        </p:nvSpPr>
        <p:spPr>
          <a:xfrm>
            <a:off x="9277350" y="3601492"/>
            <a:ext cx="4012597"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defRPr spc="192" sz="1152">
                <a:solidFill>
                  <a:srgbClr val="8A93A6"/>
                </a:solidFill>
                <a:latin typeface="Arial"/>
                <a:ea typeface="Arial"/>
                <a:cs typeface="Arial"/>
                <a:sym typeface="Arial"/>
              </a:defRPr>
            </a:lvl1pPr>
          </a:lstStyle>
          <a:p>
            <a:pPr/>
            <a:r>
              <a:t>LABELED ATTACK LINES</a:t>
            </a:r>
          </a:p>
        </p:txBody>
      </p:sp>
      <p:sp>
        <p:nvSpPr>
          <p:cNvPr id="92" name="Shape 13"/>
          <p:cNvSpPr/>
          <p:nvPr/>
        </p:nvSpPr>
        <p:spPr>
          <a:xfrm>
            <a:off x="13439775" y="2599779"/>
            <a:ext cx="3895725" cy="12701"/>
          </a:xfrm>
          <a:prstGeom prst="rect">
            <a:avLst/>
          </a:prstGeom>
          <a:solidFill>
            <a:srgbClr val="232A3A"/>
          </a:solidFill>
          <a:ln w="12700">
            <a:miter lim="400000"/>
          </a:ln>
        </p:spPr>
        <p:txBody>
          <a:bodyPr lIns="45719" rIns="45719"/>
          <a:lstStyle/>
          <a:p>
            <a:pPr/>
          </a:p>
        </p:txBody>
      </p:sp>
      <p:sp>
        <p:nvSpPr>
          <p:cNvPr id="93" name="Text 14"/>
          <p:cNvSpPr txBox="1"/>
          <p:nvPr/>
        </p:nvSpPr>
        <p:spPr>
          <a:xfrm>
            <a:off x="13439775" y="2782341"/>
            <a:ext cx="4012597" cy="7620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86384">
              <a:defRPr spc="-86" sz="4902">
                <a:solidFill>
                  <a:srgbClr val="E8ECF4"/>
                </a:solidFill>
                <a:latin typeface="Arial"/>
                <a:ea typeface="Arial"/>
                <a:cs typeface="Arial"/>
                <a:sym typeface="Arial"/>
              </a:defRPr>
            </a:lvl1pPr>
          </a:lstStyle>
          <a:p>
            <a:pPr/>
            <a:r>
              <a:t>~439K</a:t>
            </a:r>
          </a:p>
        </p:txBody>
      </p:sp>
      <p:sp>
        <p:nvSpPr>
          <p:cNvPr id="94" name="Text 15"/>
          <p:cNvSpPr txBox="1"/>
          <p:nvPr/>
        </p:nvSpPr>
        <p:spPr>
          <a:xfrm>
            <a:off x="13439775" y="3601492"/>
            <a:ext cx="4012597"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defRPr spc="192" sz="1152">
                <a:solidFill>
                  <a:srgbClr val="8A93A6"/>
                </a:solidFill>
                <a:latin typeface="Arial"/>
                <a:ea typeface="Arial"/>
                <a:cs typeface="Arial"/>
                <a:sym typeface="Arial"/>
              </a:defRPr>
            </a:lvl1pPr>
          </a:lstStyle>
          <a:p>
            <a:pPr/>
            <a:r>
              <a:t>LOADED ROWS</a:t>
            </a:r>
          </a:p>
        </p:txBody>
      </p:sp>
      <p:sp>
        <p:nvSpPr>
          <p:cNvPr id="95" name="Text 16"/>
          <p:cNvSpPr txBox="1"/>
          <p:nvPr/>
        </p:nvSpPr>
        <p:spPr>
          <a:xfrm>
            <a:off x="952499" y="4192042"/>
            <a:ext cx="8570612"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defRPr spc="192" sz="1152">
                <a:solidFill>
                  <a:srgbClr val="FF5A4E"/>
                </a:solidFill>
                <a:latin typeface="Arial"/>
                <a:ea typeface="Arial"/>
                <a:cs typeface="Arial"/>
                <a:sym typeface="Arial"/>
              </a:defRPr>
            </a:lvl1pPr>
          </a:lstStyle>
          <a:p>
            <a:pPr/>
            <a:r>
              <a:t>SOURCE DATA, THREE DOMAINS</a:t>
            </a:r>
          </a:p>
        </p:txBody>
      </p:sp>
      <p:sp>
        <p:nvSpPr>
          <p:cNvPr id="96" name="Shape 17"/>
          <p:cNvSpPr/>
          <p:nvPr/>
        </p:nvSpPr>
        <p:spPr>
          <a:xfrm>
            <a:off x="952500" y="5159027"/>
            <a:ext cx="8320979" cy="12701"/>
          </a:xfrm>
          <a:prstGeom prst="rect">
            <a:avLst/>
          </a:prstGeom>
          <a:solidFill>
            <a:srgbClr val="232A3A"/>
          </a:solidFill>
          <a:ln w="12700">
            <a:miter lim="400000"/>
          </a:ln>
        </p:spPr>
        <p:txBody>
          <a:bodyPr lIns="45719" rIns="45719"/>
          <a:lstStyle/>
          <a:p>
            <a:pPr/>
          </a:p>
        </p:txBody>
      </p:sp>
      <p:sp>
        <p:nvSpPr>
          <p:cNvPr id="97" name="Text 18"/>
          <p:cNvSpPr txBox="1"/>
          <p:nvPr/>
        </p:nvSpPr>
        <p:spPr>
          <a:xfrm>
            <a:off x="1219199" y="4668292"/>
            <a:ext cx="8303912" cy="39707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lnSpc>
                <a:spcPct val="145000"/>
              </a:lnSpc>
              <a:defRPr b="1" sz="1900">
                <a:solidFill>
                  <a:srgbClr val="E8ECF4"/>
                </a:solidFill>
                <a:latin typeface="-apple-system"/>
                <a:ea typeface="-apple-system"/>
                <a:cs typeface="-apple-system"/>
                <a:sym typeface="-apple-system"/>
              </a:defRPr>
            </a:pPr>
            <a:r>
              <a:t>Host inventory</a:t>
            </a:r>
            <a:r>
              <a:rPr b="0">
                <a:solidFill>
                  <a:srgbClr val="C3CAD8"/>
                </a:solidFill>
              </a:rPr>
              <a:t>: 7 tables, including </a:t>
            </a:r>
            <a:r>
              <a:rPr b="0" sz="1700">
                <a:latin typeface="Arial"/>
                <a:ea typeface="Arial"/>
                <a:cs typeface="Arial"/>
                <a:sym typeface="Arial"/>
              </a:rPr>
              <a:t>host</a:t>
            </a:r>
            <a:r>
              <a:rPr b="0">
                <a:solidFill>
                  <a:srgbClr val="C3CAD8"/>
                </a:solidFill>
              </a:rPr>
              <a:t>, </a:t>
            </a:r>
            <a:r>
              <a:rPr b="0" sz="1700">
                <a:latin typeface="Arial"/>
                <a:ea typeface="Arial"/>
                <a:cs typeface="Arial"/>
                <a:sym typeface="Arial"/>
              </a:rPr>
              <a:t>fqdn</a:t>
            </a:r>
            <a:r>
              <a:rPr b="0">
                <a:solidFill>
                  <a:srgbClr val="C3CAD8"/>
                </a:solidFill>
              </a:rPr>
              <a:t>, </a:t>
            </a:r>
            <a:r>
              <a:rPr b="0" sz="1700">
                <a:latin typeface="Arial"/>
                <a:ea typeface="Arial"/>
                <a:cs typeface="Arial"/>
                <a:sym typeface="Arial"/>
              </a:rPr>
              <a:t>ip_address</a:t>
            </a:r>
            <a:r>
              <a:rPr b="0">
                <a:solidFill>
                  <a:srgbClr val="C3CAD8"/>
                </a:solidFill>
              </a:rPr>
              <a:t>, </a:t>
            </a:r>
            <a:r>
              <a:rPr b="0" sz="1700">
                <a:latin typeface="Arial"/>
                <a:ea typeface="Arial"/>
                <a:cs typeface="Arial"/>
                <a:sym typeface="Arial"/>
              </a:rPr>
              <a:t>distribution</a:t>
            </a:r>
            <a:r>
              <a:rPr b="0">
                <a:solidFill>
                  <a:srgbClr val="C3CAD8"/>
                </a:solidFill>
              </a:rPr>
              <a:t>.</a:t>
            </a:r>
          </a:p>
        </p:txBody>
      </p:sp>
      <p:sp>
        <p:nvSpPr>
          <p:cNvPr id="98" name="Shape 19"/>
          <p:cNvSpPr/>
          <p:nvPr/>
        </p:nvSpPr>
        <p:spPr>
          <a:xfrm>
            <a:off x="952500" y="6153199"/>
            <a:ext cx="8320979" cy="12701"/>
          </a:xfrm>
          <a:prstGeom prst="rect">
            <a:avLst/>
          </a:prstGeom>
          <a:solidFill>
            <a:srgbClr val="232A3A"/>
          </a:solidFill>
          <a:ln w="12700">
            <a:miter lim="400000"/>
          </a:ln>
        </p:spPr>
        <p:txBody>
          <a:bodyPr lIns="45719" rIns="45719"/>
          <a:lstStyle/>
          <a:p>
            <a:pPr/>
          </a:p>
        </p:txBody>
      </p:sp>
      <p:sp>
        <p:nvSpPr>
          <p:cNvPr id="99" name="Text 20"/>
          <p:cNvSpPr txBox="1"/>
          <p:nvPr/>
        </p:nvSpPr>
        <p:spPr>
          <a:xfrm>
            <a:off x="1219199" y="5303489"/>
            <a:ext cx="8303912" cy="75604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defTabSz="905255">
              <a:lnSpc>
                <a:spcPct val="145000"/>
              </a:lnSpc>
              <a:defRPr b="1" sz="1881">
                <a:solidFill>
                  <a:srgbClr val="E8ECF4"/>
                </a:solidFill>
                <a:latin typeface="-apple-system"/>
                <a:ea typeface="-apple-system"/>
                <a:cs typeface="-apple-system"/>
                <a:sym typeface="-apple-system"/>
              </a:defRPr>
            </a:pPr>
            <a:r>
              <a:t>Audit events</a:t>
            </a:r>
            <a:r>
              <a:rPr b="0">
                <a:solidFill>
                  <a:srgbClr val="C3CAD8"/>
                </a:solidFill>
              </a:rPr>
              <a:t>: 10 tables, with </a:t>
            </a:r>
            <a:r>
              <a:rPr b="0" sz="1683">
                <a:latin typeface="Arial"/>
                <a:ea typeface="Arial"/>
                <a:cs typeface="Arial"/>
                <a:sym typeface="Arial"/>
              </a:rPr>
              <a:t>audit_event </a:t>
            </a:r>
            <a:r>
              <a:rPr b="0">
                <a:solidFill>
                  <a:srgbClr val="C3CAD8"/>
                </a:solidFill>
              </a:rPr>
              <a:t>as the supertype and 8 subtype tables for the audit-type families.</a:t>
            </a:r>
          </a:p>
        </p:txBody>
      </p:sp>
      <p:sp>
        <p:nvSpPr>
          <p:cNvPr id="100" name="Text 21"/>
          <p:cNvSpPr txBox="1"/>
          <p:nvPr/>
        </p:nvSpPr>
        <p:spPr>
          <a:xfrm>
            <a:off x="1219199" y="6297662"/>
            <a:ext cx="8303912" cy="75604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defTabSz="905255">
              <a:lnSpc>
                <a:spcPct val="145000"/>
              </a:lnSpc>
              <a:defRPr b="1" sz="1881">
                <a:solidFill>
                  <a:srgbClr val="E8ECF4"/>
                </a:solidFill>
                <a:latin typeface="-apple-system"/>
                <a:ea typeface="-apple-system"/>
                <a:cs typeface="-apple-system"/>
                <a:sym typeface="-apple-system"/>
              </a:defRPr>
            </a:pPr>
            <a:r>
              <a:t>Attack labels</a:t>
            </a:r>
            <a:r>
              <a:rPr b="0">
                <a:solidFill>
                  <a:srgbClr val="C3CAD8"/>
                </a:solidFill>
              </a:rPr>
              <a:t>: 5 tables, including </a:t>
            </a:r>
            <a:r>
              <a:rPr b="0" sz="1683">
                <a:latin typeface="Arial"/>
                <a:ea typeface="Arial"/>
                <a:cs typeface="Arial"/>
                <a:sym typeface="Arial"/>
              </a:rPr>
              <a:t>attack_phase</a:t>
            </a:r>
            <a:r>
              <a:rPr b="0">
                <a:solidFill>
                  <a:srgbClr val="C3CAD8"/>
                </a:solidFill>
              </a:rPr>
              <a:t>, </a:t>
            </a:r>
            <a:r>
              <a:rPr b="0" sz="1683">
                <a:latin typeface="Arial"/>
                <a:ea typeface="Arial"/>
                <a:cs typeface="Arial"/>
                <a:sym typeface="Arial"/>
              </a:rPr>
              <a:t>attack_label</a:t>
            </a:r>
            <a:r>
              <a:rPr b="0">
                <a:solidFill>
                  <a:srgbClr val="C3CAD8"/>
                </a:solidFill>
              </a:rPr>
              <a:t>, </a:t>
            </a:r>
            <a:r>
              <a:rPr b="0" sz="1683">
                <a:latin typeface="Arial"/>
                <a:ea typeface="Arial"/>
                <a:cs typeface="Arial"/>
                <a:sym typeface="Arial"/>
              </a:rPr>
              <a:t>labeled_line</a:t>
            </a:r>
            <a:r>
              <a:rPr b="0">
                <a:solidFill>
                  <a:srgbClr val="C3CAD8"/>
                </a:solidFill>
              </a:rPr>
              <a:t>, plus a per-rule annotation table.</a:t>
            </a:r>
          </a:p>
        </p:txBody>
      </p:sp>
      <p:sp>
        <p:nvSpPr>
          <p:cNvPr id="101" name="Shape 22"/>
          <p:cNvSpPr/>
          <p:nvPr/>
        </p:nvSpPr>
        <p:spPr>
          <a:xfrm>
            <a:off x="9806879" y="4192042"/>
            <a:ext cx="7528472" cy="5409158"/>
          </a:xfrm>
          <a:prstGeom prst="roundRect">
            <a:avLst>
              <a:gd name="adj" fmla="val 1057"/>
            </a:avLst>
          </a:prstGeom>
          <a:solidFill>
            <a:srgbClr val="141923"/>
          </a:solidFill>
          <a:ln>
            <a:solidFill>
              <a:srgbClr val="232A3A"/>
            </a:solidFill>
          </a:ln>
        </p:spPr>
        <p:txBody>
          <a:bodyPr lIns="45719" rIns="45719"/>
          <a:lstStyle/>
          <a:p>
            <a:pPr/>
          </a:p>
        </p:txBody>
      </p:sp>
      <p:sp>
        <p:nvSpPr>
          <p:cNvPr id="102" name="Text 23"/>
          <p:cNvSpPr txBox="1"/>
          <p:nvPr/>
        </p:nvSpPr>
        <p:spPr>
          <a:xfrm>
            <a:off x="10064054" y="5858023"/>
            <a:ext cx="7224545"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200" sz="1000">
                <a:solidFill>
                  <a:srgbClr val="8A93A6"/>
                </a:solidFill>
                <a:latin typeface="Arial"/>
                <a:ea typeface="Arial"/>
                <a:cs typeface="Arial"/>
                <a:sym typeface="Arial"/>
              </a:defRPr>
            </a:lvl1pPr>
          </a:lstStyle>
          <a:p>
            <a:pPr/>
            <a:r>
              <a:t>STORY SETUP</a:t>
            </a:r>
          </a:p>
        </p:txBody>
      </p:sp>
      <p:sp>
        <p:nvSpPr>
          <p:cNvPr id="103" name="Text 24"/>
          <p:cNvSpPr txBox="1"/>
          <p:nvPr/>
        </p:nvSpPr>
        <p:spPr>
          <a:xfrm>
            <a:off x="10064054" y="6181873"/>
            <a:ext cx="7224545" cy="136282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lnSpc>
                <a:spcPct val="122000"/>
              </a:lnSpc>
              <a:defRPr sz="2800">
                <a:solidFill>
                  <a:srgbClr val="E8ECF4"/>
                </a:solidFill>
                <a:latin typeface="Arial"/>
                <a:ea typeface="Arial"/>
                <a:cs typeface="Arial"/>
                <a:sym typeface="Arial"/>
              </a:defRPr>
            </a:pPr>
            <a:r>
              <a:t>An </a:t>
            </a:r>
            <a:r>
              <a:rPr sz="2600"/>
              <a:t>access.log.2 </a:t>
            </a:r>
            <a:r>
              <a:t>foothold leads into the </a:t>
            </a:r>
            <a:r>
              <a:rPr sz="2600"/>
              <a:t>audit.log su </a:t>
            </a:r>
            <a:r>
              <a:t>then </a:t>
            </a:r>
            <a:r>
              <a:rPr sz="2600"/>
              <a:t>sudo </a:t>
            </a:r>
            <a:r>
              <a:t>chain on </a:t>
            </a:r>
            <a:r>
              <a:rPr sz="2600"/>
              <a:t>intranet_server</a:t>
            </a:r>
            <a:r>
              <a:t>.</a:t>
            </a:r>
          </a:p>
        </p:txBody>
      </p:sp>
      <p:sp>
        <p:nvSpPr>
          <p:cNvPr id="104" name="Text 25"/>
          <p:cNvSpPr txBox="1"/>
          <p:nvPr/>
        </p:nvSpPr>
        <p:spPr>
          <a:xfrm>
            <a:off x="10064054" y="7678042"/>
            <a:ext cx="7224545" cy="29527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pc="100" sz="1300">
                <a:solidFill>
                  <a:srgbClr val="8A93A6"/>
                </a:solidFill>
                <a:latin typeface="Arial"/>
                <a:ea typeface="Arial"/>
                <a:cs typeface="Arial"/>
                <a:sym typeface="Arial"/>
              </a:defRPr>
            </a:lvl1pPr>
          </a:lstStyle>
          <a:p>
            <a:pPr/>
            <a:r>
              <a:t>TWO LOG FAMILIES. ONE HOST. NINE AUDIT EVENTS.</a:t>
            </a:r>
          </a:p>
        </p:txBody>
      </p:sp>
      <p:sp>
        <p:nvSpPr>
          <p:cNvPr id="105" name="Shape 26"/>
          <p:cNvSpPr/>
          <p:nvPr/>
        </p:nvSpPr>
        <p:spPr>
          <a:xfrm>
            <a:off x="952500" y="9647237"/>
            <a:ext cx="16383000" cy="12701"/>
          </a:xfrm>
          <a:prstGeom prst="rect">
            <a:avLst/>
          </a:prstGeom>
          <a:solidFill>
            <a:srgbClr val="232A3A"/>
          </a:solidFill>
          <a:ln w="12700">
            <a:miter lim="400000"/>
          </a:ln>
        </p:spPr>
        <p:txBody>
          <a:bodyPr lIns="45719" rIns="45719"/>
          <a:lstStyle/>
          <a:p>
            <a:pPr/>
          </a:p>
        </p:txBody>
      </p:sp>
      <p:sp>
        <p:nvSpPr>
          <p:cNvPr id="106" name="Text 27"/>
          <p:cNvSpPr txBox="1"/>
          <p:nvPr/>
        </p:nvSpPr>
        <p:spPr>
          <a:xfrm>
            <a:off x="952499" y="9810750"/>
            <a:ext cx="2411315" cy="20955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defRPr spc="96" sz="1152">
                <a:solidFill>
                  <a:srgbClr val="8A93A6"/>
                </a:solidFill>
                <a:latin typeface="Arial"/>
                <a:ea typeface="Arial"/>
                <a:cs typeface="Arial"/>
                <a:sym typeface="Arial"/>
              </a:defRPr>
            </a:lvl1pPr>
          </a:lstStyle>
          <a:p>
            <a:pPr/>
            <a:r>
              <a:t>03 / 11 · ISHAAN · 1:00</a:t>
            </a:r>
          </a:p>
        </p:txBody>
      </p:sp>
      <p:sp>
        <p:nvSpPr>
          <p:cNvPr id="107" name="Text 28"/>
          <p:cNvSpPr txBox="1"/>
          <p:nvPr/>
        </p:nvSpPr>
        <p:spPr>
          <a:xfrm>
            <a:off x="14956333" y="9810750"/>
            <a:ext cx="2455367" cy="20955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defRPr spc="96" sz="1152">
                <a:solidFill>
                  <a:srgbClr val="8A93A6"/>
                </a:solidFill>
                <a:latin typeface="Arial"/>
                <a:ea typeface="Arial"/>
                <a:cs typeface="Arial"/>
                <a:sym typeface="Arial"/>
              </a:defRPr>
            </a:lvl1pPr>
          </a:lstStyle>
          <a:p>
            <a:pPr/>
            <a:r>
              <a:t>DATASET &amp; STORY SETUP</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B0D12"/>
        </a:solidFill>
      </p:bgPr>
    </p:bg>
    <p:spTree>
      <p:nvGrpSpPr>
        <p:cNvPr id="1" name=""/>
        <p:cNvGrpSpPr/>
        <p:nvPr/>
      </p:nvGrpSpPr>
      <p:grpSpPr>
        <a:xfrm>
          <a:off x="0" y="0"/>
          <a:ext cx="0" cy="0"/>
          <a:chOff x="0" y="0"/>
          <a:chExt cx="0" cy="0"/>
        </a:xfrm>
      </p:grpSpPr>
      <p:sp>
        <p:nvSpPr>
          <p:cNvPr id="111" name="Shape 0"/>
          <p:cNvSpPr/>
          <p:nvPr/>
        </p:nvSpPr>
        <p:spPr>
          <a:xfrm>
            <a:off x="952500" y="1055687"/>
            <a:ext cx="16383000" cy="12701"/>
          </a:xfrm>
          <a:prstGeom prst="rect">
            <a:avLst/>
          </a:prstGeom>
          <a:solidFill>
            <a:srgbClr val="232A3A"/>
          </a:solidFill>
          <a:ln w="12700">
            <a:miter lim="400000"/>
          </a:ln>
        </p:spPr>
        <p:txBody>
          <a:bodyPr lIns="45719" rIns="45719"/>
          <a:lstStyle/>
          <a:p>
            <a:pPr/>
          </a:p>
        </p:txBody>
      </p:sp>
      <p:sp>
        <p:nvSpPr>
          <p:cNvPr id="112" name="Text 1"/>
          <p:cNvSpPr txBox="1"/>
          <p:nvPr/>
        </p:nvSpPr>
        <p:spPr>
          <a:xfrm>
            <a:off x="952499" y="609600"/>
            <a:ext cx="3225286" cy="25717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defRPr b="1" spc="200" sz="1300">
                <a:solidFill>
                  <a:srgbClr val="FF5A4E"/>
                </a:solidFill>
                <a:latin typeface="Arial"/>
                <a:ea typeface="Arial"/>
                <a:cs typeface="Arial"/>
                <a:sym typeface="Arial"/>
              </a:defRPr>
            </a:pPr>
            <a:r>
              <a:t>03 </a:t>
            </a:r>
            <a:r>
              <a:rPr b="0">
                <a:solidFill>
                  <a:srgbClr val="C3CAD8"/>
                </a:solidFill>
              </a:rPr>
              <a:t>/ CONCEPTUAL SCHEMA</a:t>
            </a:r>
          </a:p>
        </p:txBody>
      </p:sp>
      <p:sp>
        <p:nvSpPr>
          <p:cNvPr id="113" name="Text 2"/>
          <p:cNvSpPr txBox="1"/>
          <p:nvPr/>
        </p:nvSpPr>
        <p:spPr>
          <a:xfrm>
            <a:off x="15329892" y="628650"/>
            <a:ext cx="2081809" cy="23812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200" sz="1300">
                <a:solidFill>
                  <a:srgbClr val="8A93A6"/>
                </a:solidFill>
                <a:latin typeface="Arial"/>
                <a:ea typeface="Arial"/>
                <a:cs typeface="Arial"/>
                <a:sym typeface="Arial"/>
              </a:defRPr>
            </a:lvl1pPr>
          </a:lstStyle>
          <a:p>
            <a:pPr/>
            <a:r>
              <a:t>SECTION 04 OF 11</a:t>
            </a:r>
          </a:p>
        </p:txBody>
      </p:sp>
      <p:sp>
        <p:nvSpPr>
          <p:cNvPr id="114" name="Text 3"/>
          <p:cNvSpPr txBox="1"/>
          <p:nvPr/>
        </p:nvSpPr>
        <p:spPr>
          <a:xfrm>
            <a:off x="952500" y="1600200"/>
            <a:ext cx="16874490" cy="531763"/>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lnSpc>
                <a:spcPct val="108000"/>
              </a:lnSpc>
              <a:defRPr spc="-95" sz="3455">
                <a:solidFill>
                  <a:srgbClr val="E8ECF4"/>
                </a:solidFill>
                <a:latin typeface="Arial"/>
                <a:ea typeface="Arial"/>
                <a:cs typeface="Arial"/>
                <a:sym typeface="Arial"/>
              </a:defRPr>
            </a:lvl1pPr>
          </a:lstStyle>
          <a:p>
            <a:pPr/>
            <a:r>
              <a:t>A 22-table 3NF schema over the russellmitchell testbed.</a:t>
            </a:r>
          </a:p>
        </p:txBody>
      </p:sp>
      <p:sp>
        <p:nvSpPr>
          <p:cNvPr id="115" name="Shape 4"/>
          <p:cNvSpPr/>
          <p:nvPr/>
        </p:nvSpPr>
        <p:spPr>
          <a:xfrm>
            <a:off x="952500" y="2303413"/>
            <a:ext cx="10665619" cy="7297788"/>
          </a:xfrm>
          <a:prstGeom prst="roundRect">
            <a:avLst>
              <a:gd name="adj" fmla="val 1044"/>
            </a:avLst>
          </a:prstGeom>
          <a:solidFill>
            <a:srgbClr val="141923"/>
          </a:solidFill>
          <a:ln>
            <a:solidFill>
              <a:srgbClr val="232A3A"/>
            </a:solidFill>
          </a:ln>
        </p:spPr>
        <p:txBody>
          <a:bodyPr lIns="45719" rIns="45719"/>
          <a:lstStyle/>
          <a:p>
            <a:pPr/>
          </a:p>
        </p:txBody>
      </p:sp>
      <p:sp>
        <p:nvSpPr>
          <p:cNvPr id="116" name="Text 5"/>
          <p:cNvSpPr txBox="1"/>
          <p:nvPr/>
        </p:nvSpPr>
        <p:spPr>
          <a:xfrm>
            <a:off x="1209674" y="2522488"/>
            <a:ext cx="10455809"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200" sz="1000">
                <a:solidFill>
                  <a:srgbClr val="8A93A6"/>
                </a:solidFill>
                <a:latin typeface="Arial"/>
                <a:ea typeface="Arial"/>
                <a:cs typeface="Arial"/>
                <a:sym typeface="Arial"/>
              </a:defRPr>
            </a:lvl1pPr>
          </a:lstStyle>
          <a:p>
            <a:pPr/>
            <a:r>
              <a:t>CONCEPTUAL 3NF SCHEMA · EER DIAGRAM</a:t>
            </a:r>
          </a:p>
        </p:txBody>
      </p:sp>
      <p:pic>
        <p:nvPicPr>
          <p:cNvPr id="117" name="Image 0" descr="Image 0"/>
          <p:cNvPicPr>
            <a:picLocks noChangeAspect="1"/>
          </p:cNvPicPr>
          <p:nvPr/>
        </p:nvPicPr>
        <p:blipFill>
          <a:blip r:embed="rId3">
            <a:extLst/>
          </a:blip>
          <a:stretch>
            <a:fillRect/>
          </a:stretch>
        </p:blipFill>
        <p:spPr>
          <a:xfrm>
            <a:off x="2170063" y="2808238"/>
            <a:ext cx="8230345" cy="6573739"/>
          </a:xfrm>
          <a:prstGeom prst="rect">
            <a:avLst/>
          </a:prstGeom>
          <a:ln w="12700">
            <a:miter lim="400000"/>
          </a:ln>
        </p:spPr>
      </p:pic>
      <p:sp>
        <p:nvSpPr>
          <p:cNvPr id="118" name="Shape 6"/>
          <p:cNvSpPr/>
          <p:nvPr/>
        </p:nvSpPr>
        <p:spPr>
          <a:xfrm>
            <a:off x="11865768" y="2303413"/>
            <a:ext cx="5469732" cy="7297788"/>
          </a:xfrm>
          <a:prstGeom prst="roundRect">
            <a:avLst>
              <a:gd name="adj" fmla="val 1045"/>
            </a:avLst>
          </a:prstGeom>
          <a:solidFill>
            <a:srgbClr val="141923"/>
          </a:solidFill>
          <a:ln>
            <a:solidFill>
              <a:srgbClr val="232A3A"/>
            </a:solidFill>
          </a:ln>
        </p:spPr>
        <p:txBody>
          <a:bodyPr lIns="45719" rIns="45719"/>
          <a:lstStyle/>
          <a:p>
            <a:pPr/>
          </a:p>
        </p:txBody>
      </p:sp>
      <p:sp>
        <p:nvSpPr>
          <p:cNvPr id="119" name="Text 7"/>
          <p:cNvSpPr txBox="1"/>
          <p:nvPr/>
        </p:nvSpPr>
        <p:spPr>
          <a:xfrm>
            <a:off x="12122943" y="2541538"/>
            <a:ext cx="5104044"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200" sz="1000">
                <a:solidFill>
                  <a:srgbClr val="8A93A6"/>
                </a:solidFill>
                <a:latin typeface="Arial"/>
                <a:ea typeface="Arial"/>
                <a:cs typeface="Arial"/>
                <a:sym typeface="Arial"/>
              </a:defRPr>
            </a:lvl1pPr>
          </a:lstStyle>
          <a:p>
            <a:pPr/>
            <a:r>
              <a:t>SCHEMA SUMMARY</a:t>
            </a:r>
          </a:p>
        </p:txBody>
      </p:sp>
      <p:sp>
        <p:nvSpPr>
          <p:cNvPr id="120" name="Text 8"/>
          <p:cNvSpPr txBox="1"/>
          <p:nvPr/>
        </p:nvSpPr>
        <p:spPr>
          <a:xfrm>
            <a:off x="12122943" y="2884438"/>
            <a:ext cx="1651695" cy="4762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defRPr spc="-90" sz="3059">
                <a:solidFill>
                  <a:srgbClr val="E8ECF4"/>
                </a:solidFill>
                <a:latin typeface="Arial"/>
                <a:ea typeface="Arial"/>
                <a:cs typeface="Arial"/>
                <a:sym typeface="Arial"/>
              </a:defRPr>
            </a:lvl1pPr>
          </a:lstStyle>
          <a:p>
            <a:pPr/>
            <a:r>
              <a:t>22</a:t>
            </a:r>
          </a:p>
        </p:txBody>
      </p:sp>
      <p:sp>
        <p:nvSpPr>
          <p:cNvPr id="121" name="Text 9"/>
          <p:cNvSpPr txBox="1"/>
          <p:nvPr/>
        </p:nvSpPr>
        <p:spPr>
          <a:xfrm>
            <a:off x="12122943" y="3379737"/>
            <a:ext cx="1651695" cy="164953"/>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defRPr spc="89" sz="712">
                <a:solidFill>
                  <a:srgbClr val="8A93A6"/>
                </a:solidFill>
                <a:latin typeface="Arial"/>
                <a:ea typeface="Arial"/>
                <a:cs typeface="Arial"/>
                <a:sym typeface="Arial"/>
              </a:defRPr>
            </a:lvl1pPr>
          </a:lstStyle>
          <a:p>
            <a:pPr/>
            <a:r>
              <a:t>TABLES</a:t>
            </a:r>
          </a:p>
        </p:txBody>
      </p:sp>
      <p:sp>
        <p:nvSpPr>
          <p:cNvPr id="122" name="Text 10"/>
          <p:cNvSpPr txBox="1"/>
          <p:nvPr/>
        </p:nvSpPr>
        <p:spPr>
          <a:xfrm>
            <a:off x="13812738" y="2884438"/>
            <a:ext cx="1651844" cy="4762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defRPr spc="-90" sz="3059">
                <a:solidFill>
                  <a:srgbClr val="E8ECF4"/>
                </a:solidFill>
                <a:latin typeface="Arial"/>
                <a:ea typeface="Arial"/>
                <a:cs typeface="Arial"/>
                <a:sym typeface="Arial"/>
              </a:defRPr>
            </a:lvl1pPr>
          </a:lstStyle>
          <a:p>
            <a:pPr/>
            <a:r>
              <a:t>3</a:t>
            </a:r>
          </a:p>
        </p:txBody>
      </p:sp>
      <p:sp>
        <p:nvSpPr>
          <p:cNvPr id="123" name="Text 11"/>
          <p:cNvSpPr txBox="1"/>
          <p:nvPr/>
        </p:nvSpPr>
        <p:spPr>
          <a:xfrm>
            <a:off x="13812738" y="3379737"/>
            <a:ext cx="1651844" cy="164953"/>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defRPr spc="89" sz="712">
                <a:solidFill>
                  <a:srgbClr val="8A93A6"/>
                </a:solidFill>
                <a:latin typeface="Arial"/>
                <a:ea typeface="Arial"/>
                <a:cs typeface="Arial"/>
                <a:sym typeface="Arial"/>
              </a:defRPr>
            </a:lvl1pPr>
          </a:lstStyle>
          <a:p>
            <a:pPr/>
            <a:r>
              <a:t>DOMAINS</a:t>
            </a:r>
          </a:p>
        </p:txBody>
      </p:sp>
      <p:sp>
        <p:nvSpPr>
          <p:cNvPr id="124" name="Text 12"/>
          <p:cNvSpPr txBox="1"/>
          <p:nvPr/>
        </p:nvSpPr>
        <p:spPr>
          <a:xfrm>
            <a:off x="15502681" y="2884438"/>
            <a:ext cx="1651844" cy="4762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defRPr spc="-90" sz="3059">
                <a:solidFill>
                  <a:srgbClr val="E8ECF4"/>
                </a:solidFill>
                <a:latin typeface="Arial"/>
                <a:ea typeface="Arial"/>
                <a:cs typeface="Arial"/>
                <a:sym typeface="Arial"/>
              </a:defRPr>
            </a:lvl1pPr>
          </a:lstStyle>
          <a:p>
            <a:pPr/>
            <a:r>
              <a:t>3NF</a:t>
            </a:r>
          </a:p>
        </p:txBody>
      </p:sp>
      <p:sp>
        <p:nvSpPr>
          <p:cNvPr id="125" name="Text 13"/>
          <p:cNvSpPr txBox="1"/>
          <p:nvPr/>
        </p:nvSpPr>
        <p:spPr>
          <a:xfrm>
            <a:off x="15502681" y="3379737"/>
            <a:ext cx="1651844" cy="164953"/>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defRPr spc="89" sz="712">
                <a:solidFill>
                  <a:srgbClr val="8A93A6"/>
                </a:solidFill>
                <a:latin typeface="Arial"/>
                <a:ea typeface="Arial"/>
                <a:cs typeface="Arial"/>
                <a:sym typeface="Arial"/>
              </a:defRPr>
            </a:lvl1pPr>
          </a:lstStyle>
          <a:p>
            <a:pPr/>
            <a:r>
              <a:t>NORMAL FORM</a:t>
            </a:r>
          </a:p>
        </p:txBody>
      </p:sp>
      <p:sp>
        <p:nvSpPr>
          <p:cNvPr id="126" name="Text 14"/>
          <p:cNvSpPr txBox="1"/>
          <p:nvPr/>
        </p:nvSpPr>
        <p:spPr>
          <a:xfrm>
            <a:off x="12122943" y="3722637"/>
            <a:ext cx="5104044" cy="164953"/>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defRPr spc="89" sz="712">
                <a:solidFill>
                  <a:srgbClr val="8A93A6"/>
                </a:solidFill>
                <a:latin typeface="Arial"/>
                <a:ea typeface="Arial"/>
                <a:cs typeface="Arial"/>
                <a:sym typeface="Arial"/>
              </a:defRPr>
            </a:lvl1pPr>
          </a:lstStyle>
          <a:p>
            <a:pPr/>
            <a:r>
              <a:t>DOMAINS</a:t>
            </a:r>
          </a:p>
        </p:txBody>
      </p:sp>
      <p:sp>
        <p:nvSpPr>
          <p:cNvPr id="127" name="Text 15"/>
          <p:cNvSpPr txBox="1"/>
          <p:nvPr/>
        </p:nvSpPr>
        <p:spPr>
          <a:xfrm>
            <a:off x="12122943" y="3932187"/>
            <a:ext cx="5104044" cy="460773"/>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lnSpc>
                <a:spcPct val="155000"/>
              </a:lnSpc>
              <a:defRPr b="1" sz="1000">
                <a:solidFill>
                  <a:srgbClr val="E8ECF4"/>
                </a:solidFill>
                <a:latin typeface="Arial"/>
                <a:ea typeface="Arial"/>
                <a:cs typeface="Arial"/>
                <a:sym typeface="Arial"/>
              </a:defRPr>
            </a:pPr>
            <a:r>
              <a:t>Host inventory </a:t>
            </a:r>
            <a:r>
              <a:rPr b="0">
                <a:solidFill>
                  <a:srgbClr val="C3CAD8"/>
                </a:solidFill>
              </a:rPr>
              <a:t>· 7 tables </a:t>
            </a:r>
            <a:r>
              <a:rPr b="0" sz="900">
                <a:solidFill>
                  <a:srgbClr val="8A93A6"/>
                </a:solidFill>
              </a:rPr>
              <a:t>host, fqdn, ip_address, distribution, …</a:t>
            </a:r>
          </a:p>
        </p:txBody>
      </p:sp>
      <p:sp>
        <p:nvSpPr>
          <p:cNvPr id="128" name="Text 16"/>
          <p:cNvSpPr txBox="1"/>
          <p:nvPr/>
        </p:nvSpPr>
        <p:spPr>
          <a:xfrm>
            <a:off x="12122943" y="4450110"/>
            <a:ext cx="5104044" cy="460773"/>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lnSpc>
                <a:spcPct val="155000"/>
              </a:lnSpc>
              <a:defRPr b="1" sz="1000">
                <a:solidFill>
                  <a:srgbClr val="E8ECF4"/>
                </a:solidFill>
                <a:latin typeface="Arial"/>
                <a:ea typeface="Arial"/>
                <a:cs typeface="Arial"/>
                <a:sym typeface="Arial"/>
              </a:defRPr>
            </a:pPr>
            <a:r>
              <a:t>Audit events </a:t>
            </a:r>
            <a:r>
              <a:rPr b="0">
                <a:solidFill>
                  <a:srgbClr val="C3CAD8"/>
                </a:solidFill>
              </a:rPr>
              <a:t>· 10 tables </a:t>
            </a:r>
            <a:r>
              <a:rPr b="0" sz="900">
                <a:solidFill>
                  <a:srgbClr val="8A93A6"/>
                </a:solidFill>
              </a:rPr>
              <a:t>audit_event supertype + 8 subtypes, audit_message</a:t>
            </a:r>
          </a:p>
        </p:txBody>
      </p:sp>
      <p:sp>
        <p:nvSpPr>
          <p:cNvPr id="129" name="Text 17"/>
          <p:cNvSpPr txBox="1"/>
          <p:nvPr/>
        </p:nvSpPr>
        <p:spPr>
          <a:xfrm>
            <a:off x="12122943" y="4968032"/>
            <a:ext cx="5104044" cy="460773"/>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lnSpc>
                <a:spcPct val="155000"/>
              </a:lnSpc>
              <a:defRPr b="1" sz="1000">
                <a:solidFill>
                  <a:srgbClr val="E8ECF4"/>
                </a:solidFill>
                <a:latin typeface="Arial"/>
                <a:ea typeface="Arial"/>
                <a:cs typeface="Arial"/>
                <a:sym typeface="Arial"/>
              </a:defRPr>
            </a:pPr>
            <a:r>
              <a:t>Attack labels </a:t>
            </a:r>
            <a:r>
              <a:rPr b="0">
                <a:solidFill>
                  <a:srgbClr val="C3CAD8"/>
                </a:solidFill>
              </a:rPr>
              <a:t>· 5 tables </a:t>
            </a:r>
            <a:r>
              <a:rPr b="0" sz="900">
                <a:solidFill>
                  <a:srgbClr val="8A93A6"/>
                </a:solidFill>
              </a:rPr>
              <a:t>attack_phase, attack_label, labeled_line, labeled_line_label, labeled_line_rule</a:t>
            </a:r>
          </a:p>
        </p:txBody>
      </p:sp>
      <p:sp>
        <p:nvSpPr>
          <p:cNvPr id="130" name="Shape 18"/>
          <p:cNvSpPr/>
          <p:nvPr/>
        </p:nvSpPr>
        <p:spPr>
          <a:xfrm>
            <a:off x="12122943" y="9104312"/>
            <a:ext cx="4955382" cy="12701"/>
          </a:xfrm>
          <a:prstGeom prst="rect">
            <a:avLst/>
          </a:prstGeom>
          <a:solidFill>
            <a:srgbClr val="232A3A"/>
          </a:solidFill>
          <a:ln w="12700">
            <a:miter lim="400000"/>
          </a:ln>
        </p:spPr>
        <p:txBody>
          <a:bodyPr lIns="45719" rIns="45719"/>
          <a:lstStyle/>
          <a:p>
            <a:pPr/>
          </a:p>
        </p:txBody>
      </p:sp>
      <p:sp>
        <p:nvSpPr>
          <p:cNvPr id="131" name="Text 19"/>
          <p:cNvSpPr txBox="1"/>
          <p:nvPr/>
        </p:nvSpPr>
        <p:spPr>
          <a:xfrm>
            <a:off x="12122943" y="9248775"/>
            <a:ext cx="5104044" cy="164952"/>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defRPr spc="89" sz="712">
                <a:solidFill>
                  <a:srgbClr val="8A93A6"/>
                </a:solidFill>
                <a:latin typeface="Arial"/>
                <a:ea typeface="Arial"/>
                <a:cs typeface="Arial"/>
                <a:sym typeface="Arial"/>
              </a:defRPr>
            </a:lvl1pPr>
          </a:lstStyle>
          <a:p>
            <a:pPr/>
            <a:r>
              <a:t>CHEN NOTATION · PKS UNDERLINED · FK CONSTRAINTS ARROWED</a:t>
            </a:r>
          </a:p>
        </p:txBody>
      </p:sp>
      <p:sp>
        <p:nvSpPr>
          <p:cNvPr id="132" name="Shape 20"/>
          <p:cNvSpPr/>
          <p:nvPr/>
        </p:nvSpPr>
        <p:spPr>
          <a:xfrm>
            <a:off x="952500" y="9647237"/>
            <a:ext cx="16383000" cy="12701"/>
          </a:xfrm>
          <a:prstGeom prst="rect">
            <a:avLst/>
          </a:prstGeom>
          <a:solidFill>
            <a:srgbClr val="232A3A"/>
          </a:solidFill>
          <a:ln w="12700">
            <a:miter lim="400000"/>
          </a:ln>
        </p:spPr>
        <p:txBody>
          <a:bodyPr lIns="45719" rIns="45719"/>
          <a:lstStyle/>
          <a:p>
            <a:pPr/>
          </a:p>
        </p:txBody>
      </p:sp>
      <p:sp>
        <p:nvSpPr>
          <p:cNvPr id="133" name="Text 21"/>
          <p:cNvSpPr txBox="1"/>
          <p:nvPr/>
        </p:nvSpPr>
        <p:spPr>
          <a:xfrm>
            <a:off x="952499" y="9810750"/>
            <a:ext cx="2411315" cy="20955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defRPr spc="96" sz="1152">
                <a:solidFill>
                  <a:srgbClr val="8A93A6"/>
                </a:solidFill>
                <a:latin typeface="Arial"/>
                <a:ea typeface="Arial"/>
                <a:cs typeface="Arial"/>
                <a:sym typeface="Arial"/>
              </a:defRPr>
            </a:lvl1pPr>
          </a:lstStyle>
          <a:p>
            <a:pPr/>
            <a:r>
              <a:t>04 / 11 · ISHAAN · 0:55</a:t>
            </a:r>
          </a:p>
        </p:txBody>
      </p:sp>
      <p:sp>
        <p:nvSpPr>
          <p:cNvPr id="134" name="Text 22"/>
          <p:cNvSpPr txBox="1"/>
          <p:nvPr/>
        </p:nvSpPr>
        <p:spPr>
          <a:xfrm>
            <a:off x="14826853" y="9810750"/>
            <a:ext cx="2584848" cy="20955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defRPr spc="96" sz="1152">
                <a:solidFill>
                  <a:srgbClr val="8A93A6"/>
                </a:solidFill>
                <a:latin typeface="Arial"/>
                <a:ea typeface="Arial"/>
                <a:cs typeface="Arial"/>
                <a:sym typeface="Arial"/>
              </a:defRPr>
            </a:lvl1pPr>
          </a:lstStyle>
          <a:p>
            <a:pPr/>
            <a:r>
              <a:t>CONCEPTUAL 3NF SCHEMA</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B0D12"/>
        </a:solidFill>
      </p:bgPr>
    </p:bg>
    <p:spTree>
      <p:nvGrpSpPr>
        <p:cNvPr id="1" name=""/>
        <p:cNvGrpSpPr/>
        <p:nvPr/>
      </p:nvGrpSpPr>
      <p:grpSpPr>
        <a:xfrm>
          <a:off x="0" y="0"/>
          <a:ext cx="0" cy="0"/>
          <a:chOff x="0" y="0"/>
          <a:chExt cx="0" cy="0"/>
        </a:xfrm>
      </p:grpSpPr>
      <p:sp>
        <p:nvSpPr>
          <p:cNvPr id="138" name="Shape 0"/>
          <p:cNvSpPr/>
          <p:nvPr/>
        </p:nvSpPr>
        <p:spPr>
          <a:xfrm>
            <a:off x="952500" y="1055687"/>
            <a:ext cx="16383000" cy="12701"/>
          </a:xfrm>
          <a:prstGeom prst="rect">
            <a:avLst/>
          </a:prstGeom>
          <a:solidFill>
            <a:srgbClr val="232A3A"/>
          </a:solidFill>
          <a:ln w="12700">
            <a:miter lim="400000"/>
          </a:ln>
        </p:spPr>
        <p:txBody>
          <a:bodyPr lIns="45719" rIns="45719"/>
          <a:lstStyle/>
          <a:p>
            <a:pPr/>
          </a:p>
        </p:txBody>
      </p:sp>
      <p:sp>
        <p:nvSpPr>
          <p:cNvPr id="139" name="Text 1"/>
          <p:cNvSpPr txBox="1"/>
          <p:nvPr/>
        </p:nvSpPr>
        <p:spPr>
          <a:xfrm>
            <a:off x="952499" y="609600"/>
            <a:ext cx="2509542" cy="25717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defRPr b="1" spc="200" sz="1300">
                <a:solidFill>
                  <a:srgbClr val="FF5A4E"/>
                </a:solidFill>
                <a:latin typeface="Arial"/>
                <a:ea typeface="Arial"/>
                <a:cs typeface="Arial"/>
                <a:sym typeface="Arial"/>
              </a:defRPr>
            </a:pPr>
            <a:r>
              <a:t>04 </a:t>
            </a:r>
            <a:r>
              <a:rPr b="0">
                <a:solidFill>
                  <a:srgbClr val="C3CAD8"/>
                </a:solidFill>
              </a:rPr>
              <a:t>/ SQL PORTFOLIO</a:t>
            </a:r>
          </a:p>
        </p:txBody>
      </p:sp>
      <p:sp>
        <p:nvSpPr>
          <p:cNvPr id="140" name="Text 2"/>
          <p:cNvSpPr txBox="1"/>
          <p:nvPr/>
        </p:nvSpPr>
        <p:spPr>
          <a:xfrm>
            <a:off x="15329892" y="628650"/>
            <a:ext cx="2081809" cy="23812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200" sz="1300">
                <a:solidFill>
                  <a:srgbClr val="8A93A6"/>
                </a:solidFill>
                <a:latin typeface="Arial"/>
                <a:ea typeface="Arial"/>
                <a:cs typeface="Arial"/>
                <a:sym typeface="Arial"/>
              </a:defRPr>
            </a:lvl1pPr>
          </a:lstStyle>
          <a:p>
            <a:pPr/>
            <a:r>
              <a:t>SECTION 05 OF 11</a:t>
            </a:r>
          </a:p>
        </p:txBody>
      </p:sp>
      <p:sp>
        <p:nvSpPr>
          <p:cNvPr id="141" name="Text 3"/>
          <p:cNvSpPr txBox="1"/>
          <p:nvPr/>
        </p:nvSpPr>
        <p:spPr>
          <a:xfrm>
            <a:off x="952500" y="1600200"/>
            <a:ext cx="16874490" cy="59352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96111">
              <a:lnSpc>
                <a:spcPct val="108000"/>
              </a:lnSpc>
              <a:defRPr spc="-98" sz="3920">
                <a:solidFill>
                  <a:srgbClr val="E8ECF4"/>
                </a:solidFill>
                <a:latin typeface="Arial"/>
                <a:ea typeface="Arial"/>
                <a:cs typeface="Arial"/>
                <a:sym typeface="Arial"/>
              </a:defRPr>
            </a:lvl1pPr>
          </a:lstStyle>
          <a:p>
            <a:pPr/>
            <a:r>
              <a:t>23 queries in the repo. The slides spotlight four.</a:t>
            </a:r>
          </a:p>
        </p:txBody>
      </p:sp>
      <p:sp>
        <p:nvSpPr>
          <p:cNvPr id="142" name="Text 4"/>
          <p:cNvSpPr txBox="1"/>
          <p:nvPr/>
        </p:nvSpPr>
        <p:spPr>
          <a:xfrm>
            <a:off x="952500" y="2308026"/>
            <a:ext cx="14716125" cy="3810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a:solidFill>
                  <a:srgbClr val="C3CAD8"/>
                </a:solidFill>
                <a:latin typeface="-apple-system"/>
                <a:ea typeface="-apple-system"/>
                <a:cs typeface="-apple-system"/>
                <a:sym typeface="-apple-system"/>
              </a:defRPr>
            </a:lvl1pPr>
          </a:lstStyle>
          <a:p>
            <a:pPr/>
            <a:r>
              <a:t>Full portfolio lives in GitHub and report section 6. The spotlight rows below are the deep dives that drive the next four slides.</a:t>
            </a:r>
          </a:p>
        </p:txBody>
      </p:sp>
      <p:sp>
        <p:nvSpPr>
          <p:cNvPr id="143" name="Shape 5"/>
          <p:cNvSpPr/>
          <p:nvPr/>
        </p:nvSpPr>
        <p:spPr>
          <a:xfrm>
            <a:off x="952500" y="3330376"/>
            <a:ext cx="2343150" cy="12701"/>
          </a:xfrm>
          <a:prstGeom prst="rect">
            <a:avLst/>
          </a:prstGeom>
          <a:solidFill>
            <a:srgbClr val="2C3548"/>
          </a:solidFill>
          <a:ln w="12700">
            <a:miter lim="400000"/>
          </a:ln>
        </p:spPr>
        <p:txBody>
          <a:bodyPr lIns="45719" rIns="45719"/>
          <a:lstStyle/>
          <a:p>
            <a:pPr/>
          </a:p>
        </p:txBody>
      </p:sp>
      <p:sp>
        <p:nvSpPr>
          <p:cNvPr id="144" name="Text 6"/>
          <p:cNvSpPr txBox="1"/>
          <p:nvPr/>
        </p:nvSpPr>
        <p:spPr>
          <a:xfrm>
            <a:off x="1123950" y="3031926"/>
            <a:ext cx="2076450" cy="204789"/>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1000">
                <a:solidFill>
                  <a:srgbClr val="5D6577"/>
                </a:solidFill>
                <a:latin typeface="Arial"/>
                <a:ea typeface="Arial"/>
                <a:cs typeface="Arial"/>
                <a:sym typeface="Arial"/>
              </a:defRPr>
            </a:lvl1pPr>
          </a:lstStyle>
          <a:p>
            <a:pPr/>
            <a:r>
              <a:t>AUTHOR</a:t>
            </a:r>
          </a:p>
        </p:txBody>
      </p:sp>
      <p:sp>
        <p:nvSpPr>
          <p:cNvPr id="145" name="Shape 7"/>
          <p:cNvSpPr/>
          <p:nvPr/>
        </p:nvSpPr>
        <p:spPr>
          <a:xfrm>
            <a:off x="3295649" y="3330376"/>
            <a:ext cx="7574907" cy="12701"/>
          </a:xfrm>
          <a:prstGeom prst="rect">
            <a:avLst/>
          </a:prstGeom>
          <a:solidFill>
            <a:srgbClr val="2C3548"/>
          </a:solidFill>
          <a:ln w="12700">
            <a:miter lim="400000"/>
          </a:ln>
        </p:spPr>
        <p:txBody>
          <a:bodyPr lIns="45719" rIns="45719"/>
          <a:lstStyle/>
          <a:p>
            <a:pPr/>
          </a:p>
        </p:txBody>
      </p:sp>
      <p:sp>
        <p:nvSpPr>
          <p:cNvPr id="146" name="Text 8"/>
          <p:cNvSpPr txBox="1"/>
          <p:nvPr/>
        </p:nvSpPr>
        <p:spPr>
          <a:xfrm>
            <a:off x="3467100" y="3031926"/>
            <a:ext cx="7459251" cy="204789"/>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1000">
                <a:solidFill>
                  <a:srgbClr val="5D6577"/>
                </a:solidFill>
                <a:latin typeface="Arial"/>
                <a:ea typeface="Arial"/>
                <a:cs typeface="Arial"/>
                <a:sym typeface="Arial"/>
              </a:defRPr>
            </a:lvl1pPr>
          </a:lstStyle>
          <a:p>
            <a:pPr/>
            <a:r>
              <a:t>QUERY</a:t>
            </a:r>
          </a:p>
        </p:txBody>
      </p:sp>
      <p:sp>
        <p:nvSpPr>
          <p:cNvPr id="147" name="Shape 9"/>
          <p:cNvSpPr/>
          <p:nvPr/>
        </p:nvSpPr>
        <p:spPr>
          <a:xfrm>
            <a:off x="10870555" y="3330376"/>
            <a:ext cx="6464946" cy="12701"/>
          </a:xfrm>
          <a:prstGeom prst="rect">
            <a:avLst/>
          </a:prstGeom>
          <a:solidFill>
            <a:srgbClr val="2C3548"/>
          </a:solidFill>
          <a:ln w="12700">
            <a:miter lim="400000"/>
          </a:ln>
        </p:spPr>
        <p:txBody>
          <a:bodyPr lIns="45719" rIns="45719"/>
          <a:lstStyle/>
          <a:p>
            <a:pPr/>
          </a:p>
        </p:txBody>
      </p:sp>
      <p:sp>
        <p:nvSpPr>
          <p:cNvPr id="148" name="Text 10"/>
          <p:cNvSpPr txBox="1"/>
          <p:nvPr/>
        </p:nvSpPr>
        <p:spPr>
          <a:xfrm>
            <a:off x="11042004" y="3031926"/>
            <a:ext cx="6315995" cy="204789"/>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1000">
                <a:solidFill>
                  <a:srgbClr val="5D6577"/>
                </a:solidFill>
                <a:latin typeface="Arial"/>
                <a:ea typeface="Arial"/>
                <a:cs typeface="Arial"/>
                <a:sym typeface="Arial"/>
              </a:defRPr>
            </a:lvl1pPr>
          </a:lstStyle>
          <a:p>
            <a:pPr/>
            <a:r>
              <a:t>TECHNIQUE TAGS</a:t>
            </a:r>
          </a:p>
        </p:txBody>
      </p:sp>
      <p:sp>
        <p:nvSpPr>
          <p:cNvPr id="149" name="Shape 11"/>
          <p:cNvSpPr/>
          <p:nvPr/>
        </p:nvSpPr>
        <p:spPr>
          <a:xfrm>
            <a:off x="952500" y="3341489"/>
            <a:ext cx="2343150" cy="1971676"/>
          </a:xfrm>
          <a:prstGeom prst="rect">
            <a:avLst/>
          </a:prstGeom>
          <a:solidFill>
            <a:srgbClr val="4EA8FF">
              <a:alpha val="5000"/>
            </a:srgbClr>
          </a:solidFill>
          <a:ln w="12700">
            <a:miter lim="400000"/>
          </a:ln>
        </p:spPr>
        <p:txBody>
          <a:bodyPr lIns="45719" rIns="45719"/>
          <a:lstStyle/>
          <a:p>
            <a:pPr/>
          </a:p>
        </p:txBody>
      </p:sp>
      <p:sp>
        <p:nvSpPr>
          <p:cNvPr id="150" name="Shape 12"/>
          <p:cNvSpPr/>
          <p:nvPr/>
        </p:nvSpPr>
        <p:spPr>
          <a:xfrm>
            <a:off x="952500" y="5302051"/>
            <a:ext cx="2343150" cy="12701"/>
          </a:xfrm>
          <a:prstGeom prst="rect">
            <a:avLst/>
          </a:prstGeom>
          <a:solidFill>
            <a:srgbClr val="232A3A"/>
          </a:solidFill>
          <a:ln w="12700">
            <a:miter lim="400000"/>
          </a:ln>
        </p:spPr>
        <p:txBody>
          <a:bodyPr lIns="45719" rIns="45719"/>
          <a:lstStyle/>
          <a:p>
            <a:pPr/>
          </a:p>
        </p:txBody>
      </p:sp>
      <p:sp>
        <p:nvSpPr>
          <p:cNvPr id="151" name="Text 13"/>
          <p:cNvSpPr txBox="1"/>
          <p:nvPr/>
        </p:nvSpPr>
        <p:spPr>
          <a:xfrm>
            <a:off x="1123950" y="3493889"/>
            <a:ext cx="1981200" cy="16954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2100">
                <a:solidFill>
                  <a:srgbClr val="E8ECF4"/>
                </a:solidFill>
                <a:latin typeface="Arial"/>
                <a:ea typeface="Arial"/>
                <a:cs typeface="Arial"/>
                <a:sym typeface="Arial"/>
              </a:defRPr>
            </a:lvl1pPr>
          </a:lstStyle>
          <a:p>
            <a:pPr/>
            <a:r>
              <a:t>River</a:t>
            </a:r>
          </a:p>
        </p:txBody>
      </p:sp>
      <p:sp>
        <p:nvSpPr>
          <p:cNvPr id="152" name="Shape 14"/>
          <p:cNvSpPr/>
          <p:nvPr/>
        </p:nvSpPr>
        <p:spPr>
          <a:xfrm>
            <a:off x="3295649" y="3341489"/>
            <a:ext cx="7574907" cy="771526"/>
          </a:xfrm>
          <a:prstGeom prst="rect">
            <a:avLst/>
          </a:prstGeom>
          <a:solidFill>
            <a:srgbClr val="4EA8FF">
              <a:alpha val="5000"/>
            </a:srgbClr>
          </a:solidFill>
          <a:ln w="12700">
            <a:miter lim="400000"/>
          </a:ln>
        </p:spPr>
        <p:txBody>
          <a:bodyPr lIns="45719" rIns="45719"/>
          <a:lstStyle/>
          <a:p>
            <a:pPr/>
          </a:p>
        </p:txBody>
      </p:sp>
      <p:sp>
        <p:nvSpPr>
          <p:cNvPr id="153" name="Shape 15"/>
          <p:cNvSpPr/>
          <p:nvPr/>
        </p:nvSpPr>
        <p:spPr>
          <a:xfrm>
            <a:off x="3295649" y="4101901"/>
            <a:ext cx="7574907" cy="12701"/>
          </a:xfrm>
          <a:prstGeom prst="rect">
            <a:avLst/>
          </a:prstGeom>
          <a:solidFill>
            <a:srgbClr val="232A3A"/>
          </a:solidFill>
          <a:ln w="12700">
            <a:miter lim="400000"/>
          </a:ln>
        </p:spPr>
        <p:txBody>
          <a:bodyPr lIns="45719" rIns="45719"/>
          <a:lstStyle/>
          <a:p>
            <a:pPr/>
          </a:p>
        </p:txBody>
      </p:sp>
      <p:sp>
        <p:nvSpPr>
          <p:cNvPr id="154" name="Text 16"/>
          <p:cNvSpPr txBox="1"/>
          <p:nvPr/>
        </p:nvSpPr>
        <p:spPr>
          <a:xfrm>
            <a:off x="3467099" y="3498651"/>
            <a:ext cx="2770772"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1500">
                <a:solidFill>
                  <a:srgbClr val="E8ECF4"/>
                </a:solidFill>
                <a:latin typeface="-apple-system"/>
                <a:ea typeface="-apple-system"/>
                <a:cs typeface="-apple-system"/>
                <a:sym typeface="-apple-system"/>
              </a:defRPr>
            </a:lvl1pPr>
          </a:lstStyle>
          <a:p>
            <a:pPr/>
            <a:r>
              <a:t>Foothold-to-escalation journey</a:t>
            </a:r>
          </a:p>
        </p:txBody>
      </p:sp>
      <p:sp>
        <p:nvSpPr>
          <p:cNvPr id="155" name="Text 17"/>
          <p:cNvSpPr txBox="1"/>
          <p:nvPr/>
        </p:nvSpPr>
        <p:spPr>
          <a:xfrm>
            <a:off x="3467100" y="3784401"/>
            <a:ext cx="7448964"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defRPr sz="1152">
                <a:solidFill>
                  <a:srgbClr val="7EC1FF"/>
                </a:solidFill>
                <a:latin typeface="Arial"/>
                <a:ea typeface="Arial"/>
                <a:cs typeface="Arial"/>
                <a:sym typeface="Arial"/>
              </a:defRPr>
            </a:lvl1pPr>
          </a:lstStyle>
          <a:p>
            <a:pPr/>
            <a:r>
              <a:t>river_foothold_to_escalate_journey.sql</a:t>
            </a:r>
          </a:p>
        </p:txBody>
      </p:sp>
      <p:sp>
        <p:nvSpPr>
          <p:cNvPr id="156" name="Shape 18"/>
          <p:cNvSpPr/>
          <p:nvPr/>
        </p:nvSpPr>
        <p:spPr>
          <a:xfrm>
            <a:off x="10870555" y="3341489"/>
            <a:ext cx="6464946" cy="771526"/>
          </a:xfrm>
          <a:prstGeom prst="rect">
            <a:avLst/>
          </a:prstGeom>
          <a:solidFill>
            <a:srgbClr val="4EA8FF">
              <a:alpha val="5000"/>
            </a:srgbClr>
          </a:solidFill>
          <a:ln w="12700">
            <a:miter lim="400000"/>
          </a:ln>
        </p:spPr>
        <p:txBody>
          <a:bodyPr lIns="45719" rIns="45719"/>
          <a:lstStyle/>
          <a:p>
            <a:pPr/>
          </a:p>
        </p:txBody>
      </p:sp>
      <p:sp>
        <p:nvSpPr>
          <p:cNvPr id="157" name="Shape 19"/>
          <p:cNvSpPr/>
          <p:nvPr/>
        </p:nvSpPr>
        <p:spPr>
          <a:xfrm>
            <a:off x="10870555" y="4101901"/>
            <a:ext cx="6464946" cy="12701"/>
          </a:xfrm>
          <a:prstGeom prst="rect">
            <a:avLst/>
          </a:prstGeom>
          <a:solidFill>
            <a:srgbClr val="232A3A"/>
          </a:solidFill>
          <a:ln w="12700">
            <a:miter lim="400000"/>
          </a:ln>
        </p:spPr>
        <p:txBody>
          <a:bodyPr lIns="45719" rIns="45719"/>
          <a:lstStyle/>
          <a:p>
            <a:pPr/>
          </a:p>
        </p:txBody>
      </p:sp>
      <p:sp>
        <p:nvSpPr>
          <p:cNvPr id="158" name="Shape 20"/>
          <p:cNvSpPr/>
          <p:nvPr/>
        </p:nvSpPr>
        <p:spPr>
          <a:xfrm>
            <a:off x="11042005" y="3517701"/>
            <a:ext cx="508398" cy="247651"/>
          </a:xfrm>
          <a:prstGeom prst="roundRect">
            <a:avLst>
              <a:gd name="adj" fmla="val 11538"/>
            </a:avLst>
          </a:prstGeom>
          <a:solidFill>
            <a:srgbClr val="FF5A4E">
              <a:alpha val="18000"/>
            </a:srgbClr>
          </a:solidFill>
          <a:ln>
            <a:solidFill>
              <a:srgbClr val="FF5A4E">
                <a:alpha val="55000"/>
              </a:srgbClr>
            </a:solidFill>
          </a:ln>
        </p:spPr>
        <p:txBody>
          <a:bodyPr lIns="45719" rIns="45719"/>
          <a:lstStyle/>
          <a:p>
            <a:pPr/>
          </a:p>
        </p:txBody>
      </p:sp>
      <p:sp>
        <p:nvSpPr>
          <p:cNvPr id="159" name="Text 21"/>
          <p:cNvSpPr txBox="1"/>
          <p:nvPr/>
        </p:nvSpPr>
        <p:spPr>
          <a:xfrm>
            <a:off x="11146780" y="3565326"/>
            <a:ext cx="375048"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000">
                <a:solidFill>
                  <a:srgbClr val="FFFFFF"/>
                </a:solidFill>
                <a:latin typeface="Arial"/>
                <a:ea typeface="Arial"/>
                <a:cs typeface="Arial"/>
                <a:sym typeface="Arial"/>
              </a:defRPr>
            </a:lvl1pPr>
          </a:lstStyle>
          <a:p>
            <a:pPr/>
            <a:r>
              <a:t>CTE</a:t>
            </a:r>
          </a:p>
        </p:txBody>
      </p:sp>
      <p:sp>
        <p:nvSpPr>
          <p:cNvPr id="160" name="Shape 22"/>
          <p:cNvSpPr/>
          <p:nvPr/>
        </p:nvSpPr>
        <p:spPr>
          <a:xfrm>
            <a:off x="11607551" y="3517701"/>
            <a:ext cx="1337668" cy="247651"/>
          </a:xfrm>
          <a:prstGeom prst="roundRect">
            <a:avLst>
              <a:gd name="adj" fmla="val 11538"/>
            </a:avLst>
          </a:prstGeom>
          <a:solidFill>
            <a:srgbClr val="FF5A4E">
              <a:alpha val="18000"/>
            </a:srgbClr>
          </a:solidFill>
          <a:ln>
            <a:solidFill>
              <a:srgbClr val="FF5A4E">
                <a:alpha val="55000"/>
              </a:srgbClr>
            </a:solidFill>
          </a:ln>
        </p:spPr>
        <p:txBody>
          <a:bodyPr lIns="45719" rIns="45719"/>
          <a:lstStyle/>
          <a:p>
            <a:pPr/>
          </a:p>
        </p:txBody>
      </p:sp>
      <p:sp>
        <p:nvSpPr>
          <p:cNvPr id="161" name="Text 23"/>
          <p:cNvSpPr txBox="1"/>
          <p:nvPr/>
        </p:nvSpPr>
        <p:spPr>
          <a:xfrm>
            <a:off x="11712326" y="3565326"/>
            <a:ext cx="1204318"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000">
                <a:solidFill>
                  <a:srgbClr val="FFFFFF"/>
                </a:solidFill>
                <a:latin typeface="Arial"/>
                <a:ea typeface="Arial"/>
                <a:cs typeface="Arial"/>
                <a:sym typeface="Arial"/>
              </a:defRPr>
            </a:lvl1pPr>
          </a:lstStyle>
          <a:p>
            <a:pPr/>
            <a:r>
              <a:t>NTILE WINDOW</a:t>
            </a:r>
          </a:p>
        </p:txBody>
      </p:sp>
      <p:sp>
        <p:nvSpPr>
          <p:cNvPr id="162" name="Shape 24"/>
          <p:cNvSpPr/>
          <p:nvPr/>
        </p:nvSpPr>
        <p:spPr>
          <a:xfrm>
            <a:off x="3295649" y="4701976"/>
            <a:ext cx="7574907" cy="12701"/>
          </a:xfrm>
          <a:prstGeom prst="rect">
            <a:avLst/>
          </a:prstGeom>
          <a:solidFill>
            <a:srgbClr val="232A3A"/>
          </a:solidFill>
          <a:ln w="12700">
            <a:miter lim="400000"/>
          </a:ln>
        </p:spPr>
        <p:txBody>
          <a:bodyPr lIns="45719" rIns="45719"/>
          <a:lstStyle/>
          <a:p>
            <a:pPr/>
          </a:p>
        </p:txBody>
      </p:sp>
      <p:sp>
        <p:nvSpPr>
          <p:cNvPr id="163" name="Text 25"/>
          <p:cNvSpPr txBox="1"/>
          <p:nvPr/>
        </p:nvSpPr>
        <p:spPr>
          <a:xfrm>
            <a:off x="3467100" y="4265414"/>
            <a:ext cx="7459251" cy="3238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500">
                <a:solidFill>
                  <a:srgbClr val="E8ECF4"/>
                </a:solidFill>
                <a:latin typeface="-apple-system"/>
                <a:ea typeface="-apple-system"/>
                <a:cs typeface="-apple-system"/>
                <a:sym typeface="-apple-system"/>
              </a:defRPr>
            </a:lvl1pPr>
          </a:lstStyle>
          <a:p>
            <a:pPr/>
            <a:r>
              <a:t>Foothold accumulation across access.log.2</a:t>
            </a:r>
          </a:p>
        </p:txBody>
      </p:sp>
      <p:sp>
        <p:nvSpPr>
          <p:cNvPr id="164" name="Shape 26"/>
          <p:cNvSpPr/>
          <p:nvPr/>
        </p:nvSpPr>
        <p:spPr>
          <a:xfrm>
            <a:off x="10870555" y="4701976"/>
            <a:ext cx="6464946" cy="12701"/>
          </a:xfrm>
          <a:prstGeom prst="rect">
            <a:avLst/>
          </a:prstGeom>
          <a:solidFill>
            <a:srgbClr val="232A3A"/>
          </a:solidFill>
          <a:ln w="12700">
            <a:miter lim="400000"/>
          </a:ln>
        </p:spPr>
        <p:txBody>
          <a:bodyPr lIns="45719" rIns="45719"/>
          <a:lstStyle/>
          <a:p>
            <a:pPr/>
          </a:p>
        </p:txBody>
      </p:sp>
      <p:sp>
        <p:nvSpPr>
          <p:cNvPr id="165" name="Shape 27"/>
          <p:cNvSpPr/>
          <p:nvPr/>
        </p:nvSpPr>
        <p:spPr>
          <a:xfrm>
            <a:off x="11042005" y="4289226"/>
            <a:ext cx="1542009" cy="247651"/>
          </a:xfrm>
          <a:prstGeom prst="roundRect">
            <a:avLst>
              <a:gd name="adj" fmla="val 11538"/>
            </a:avLst>
          </a:prstGeom>
          <a:solidFill>
            <a:srgbClr val="1A2030"/>
          </a:solidFill>
          <a:ln>
            <a:solidFill>
              <a:srgbClr val="2C3548"/>
            </a:solidFill>
          </a:ln>
        </p:spPr>
        <p:txBody>
          <a:bodyPr lIns="45719" rIns="45719"/>
          <a:lstStyle/>
          <a:p>
            <a:pPr/>
          </a:p>
        </p:txBody>
      </p:sp>
      <p:sp>
        <p:nvSpPr>
          <p:cNvPr id="166" name="Text 28"/>
          <p:cNvSpPr txBox="1"/>
          <p:nvPr/>
        </p:nvSpPr>
        <p:spPr>
          <a:xfrm>
            <a:off x="11146780" y="4336851"/>
            <a:ext cx="1408659"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000">
                <a:solidFill>
                  <a:srgbClr val="C3CAD8"/>
                </a:solidFill>
                <a:latin typeface="Arial"/>
                <a:ea typeface="Arial"/>
                <a:cs typeface="Arial"/>
                <a:sym typeface="Arial"/>
              </a:defRPr>
            </a:lvl1pPr>
          </a:lstStyle>
          <a:p>
            <a:pPr/>
            <a:r>
              <a:t>CUMULATIVE SUM</a:t>
            </a:r>
          </a:p>
        </p:txBody>
      </p:sp>
      <p:sp>
        <p:nvSpPr>
          <p:cNvPr id="167" name="Shape 29"/>
          <p:cNvSpPr/>
          <p:nvPr/>
        </p:nvSpPr>
        <p:spPr>
          <a:xfrm>
            <a:off x="12641163" y="4289226"/>
            <a:ext cx="858739" cy="247651"/>
          </a:xfrm>
          <a:prstGeom prst="roundRect">
            <a:avLst>
              <a:gd name="adj" fmla="val 11538"/>
            </a:avLst>
          </a:prstGeom>
          <a:solidFill>
            <a:srgbClr val="1A2030"/>
          </a:solidFill>
          <a:ln>
            <a:solidFill>
              <a:srgbClr val="2C3548"/>
            </a:solidFill>
          </a:ln>
        </p:spPr>
        <p:txBody>
          <a:bodyPr lIns="45719" rIns="45719"/>
          <a:lstStyle/>
          <a:p>
            <a:pPr/>
          </a:p>
        </p:txBody>
      </p:sp>
      <p:sp>
        <p:nvSpPr>
          <p:cNvPr id="168" name="Text 30"/>
          <p:cNvSpPr txBox="1"/>
          <p:nvPr/>
        </p:nvSpPr>
        <p:spPr>
          <a:xfrm>
            <a:off x="12745938" y="4336851"/>
            <a:ext cx="725389"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000">
                <a:solidFill>
                  <a:srgbClr val="C3CAD8"/>
                </a:solidFill>
                <a:latin typeface="Arial"/>
                <a:ea typeface="Arial"/>
                <a:cs typeface="Arial"/>
                <a:sym typeface="Arial"/>
              </a:defRPr>
            </a:lvl1pPr>
          </a:lstStyle>
          <a:p>
            <a:pPr/>
            <a:r>
              <a:t>WINDOW</a:t>
            </a:r>
          </a:p>
        </p:txBody>
      </p:sp>
      <p:sp>
        <p:nvSpPr>
          <p:cNvPr id="169" name="Shape 31"/>
          <p:cNvSpPr/>
          <p:nvPr/>
        </p:nvSpPr>
        <p:spPr>
          <a:xfrm>
            <a:off x="3295649" y="5302051"/>
            <a:ext cx="7574907" cy="12701"/>
          </a:xfrm>
          <a:prstGeom prst="rect">
            <a:avLst/>
          </a:prstGeom>
          <a:solidFill>
            <a:srgbClr val="232A3A"/>
          </a:solidFill>
          <a:ln w="12700">
            <a:miter lim="400000"/>
          </a:ln>
        </p:spPr>
        <p:txBody>
          <a:bodyPr lIns="45719" rIns="45719"/>
          <a:lstStyle/>
          <a:p>
            <a:pPr/>
          </a:p>
        </p:txBody>
      </p:sp>
      <p:sp>
        <p:nvSpPr>
          <p:cNvPr id="170" name="Text 32"/>
          <p:cNvSpPr txBox="1"/>
          <p:nvPr/>
        </p:nvSpPr>
        <p:spPr>
          <a:xfrm>
            <a:off x="3467100" y="4865489"/>
            <a:ext cx="7459251" cy="3238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500">
                <a:solidFill>
                  <a:srgbClr val="E8ECF4"/>
                </a:solidFill>
                <a:latin typeface="-apple-system"/>
                <a:ea typeface="-apple-system"/>
                <a:cs typeface="-apple-system"/>
                <a:sym typeface="-apple-system"/>
              </a:defRPr>
            </a:lvl1pPr>
          </a:lstStyle>
          <a:p>
            <a:pPr/>
            <a:r>
              <a:t>Source spread per host, host and label baselines</a:t>
            </a:r>
          </a:p>
        </p:txBody>
      </p:sp>
      <p:sp>
        <p:nvSpPr>
          <p:cNvPr id="171" name="Shape 33"/>
          <p:cNvSpPr/>
          <p:nvPr/>
        </p:nvSpPr>
        <p:spPr>
          <a:xfrm>
            <a:off x="10870555" y="5302051"/>
            <a:ext cx="6464946" cy="12701"/>
          </a:xfrm>
          <a:prstGeom prst="rect">
            <a:avLst/>
          </a:prstGeom>
          <a:solidFill>
            <a:srgbClr val="232A3A"/>
          </a:solidFill>
          <a:ln w="12700">
            <a:miter lim="400000"/>
          </a:ln>
        </p:spPr>
        <p:txBody>
          <a:bodyPr lIns="45719" rIns="45719"/>
          <a:lstStyle/>
          <a:p>
            <a:pPr/>
          </a:p>
        </p:txBody>
      </p:sp>
      <p:sp>
        <p:nvSpPr>
          <p:cNvPr id="172" name="Shape 34"/>
          <p:cNvSpPr/>
          <p:nvPr/>
        </p:nvSpPr>
        <p:spPr>
          <a:xfrm>
            <a:off x="11042005" y="4889301"/>
            <a:ext cx="622847" cy="247651"/>
          </a:xfrm>
          <a:prstGeom prst="roundRect">
            <a:avLst>
              <a:gd name="adj" fmla="val 11538"/>
            </a:avLst>
          </a:prstGeom>
          <a:solidFill>
            <a:srgbClr val="1A2030"/>
          </a:solidFill>
          <a:ln>
            <a:solidFill>
              <a:srgbClr val="2C3548"/>
            </a:solidFill>
          </a:ln>
        </p:spPr>
        <p:txBody>
          <a:bodyPr lIns="45719" rIns="45719"/>
          <a:lstStyle/>
          <a:p>
            <a:pPr/>
          </a:p>
        </p:txBody>
      </p:sp>
      <p:sp>
        <p:nvSpPr>
          <p:cNvPr id="173" name="Text 35"/>
          <p:cNvSpPr txBox="1"/>
          <p:nvPr/>
        </p:nvSpPr>
        <p:spPr>
          <a:xfrm>
            <a:off x="11146780" y="4936926"/>
            <a:ext cx="489497"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000">
                <a:solidFill>
                  <a:srgbClr val="C3CAD8"/>
                </a:solidFill>
                <a:latin typeface="Arial"/>
                <a:ea typeface="Arial"/>
                <a:cs typeface="Arial"/>
                <a:sym typeface="Arial"/>
              </a:defRPr>
            </a:lvl1pPr>
          </a:lstStyle>
          <a:p>
            <a:pPr/>
            <a:r>
              <a:t>RANK</a:t>
            </a:r>
          </a:p>
        </p:txBody>
      </p:sp>
      <p:sp>
        <p:nvSpPr>
          <p:cNvPr id="174" name="Shape 36"/>
          <p:cNvSpPr/>
          <p:nvPr/>
        </p:nvSpPr>
        <p:spPr>
          <a:xfrm>
            <a:off x="11722000" y="4889301"/>
            <a:ext cx="772419" cy="247651"/>
          </a:xfrm>
          <a:prstGeom prst="roundRect">
            <a:avLst>
              <a:gd name="adj" fmla="val 11538"/>
            </a:avLst>
          </a:prstGeom>
          <a:solidFill>
            <a:srgbClr val="1A2030"/>
          </a:solidFill>
          <a:ln>
            <a:solidFill>
              <a:srgbClr val="2C3548"/>
            </a:solidFill>
          </a:ln>
        </p:spPr>
        <p:txBody>
          <a:bodyPr lIns="45719" rIns="45719"/>
          <a:lstStyle/>
          <a:p>
            <a:pPr/>
          </a:p>
        </p:txBody>
      </p:sp>
      <p:sp>
        <p:nvSpPr>
          <p:cNvPr id="175" name="Text 37"/>
          <p:cNvSpPr txBox="1"/>
          <p:nvPr/>
        </p:nvSpPr>
        <p:spPr>
          <a:xfrm>
            <a:off x="11826775" y="4936926"/>
            <a:ext cx="639069"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000">
                <a:solidFill>
                  <a:srgbClr val="C3CAD8"/>
                </a:solidFill>
                <a:latin typeface="Arial"/>
                <a:ea typeface="Arial"/>
                <a:cs typeface="Arial"/>
                <a:sym typeface="Arial"/>
              </a:defRPr>
            </a:lvl1pPr>
          </a:lstStyle>
          <a:p>
            <a:pPr/>
            <a:r>
              <a:t>JOIN ≥3</a:t>
            </a:r>
          </a:p>
        </p:txBody>
      </p:sp>
      <p:sp>
        <p:nvSpPr>
          <p:cNvPr id="176" name="Shape 38"/>
          <p:cNvSpPr/>
          <p:nvPr/>
        </p:nvSpPr>
        <p:spPr>
          <a:xfrm>
            <a:off x="12551568" y="4889301"/>
            <a:ext cx="663179" cy="247651"/>
          </a:xfrm>
          <a:prstGeom prst="roundRect">
            <a:avLst>
              <a:gd name="adj" fmla="val 11538"/>
            </a:avLst>
          </a:prstGeom>
          <a:solidFill>
            <a:srgbClr val="1A2030"/>
          </a:solidFill>
          <a:ln>
            <a:solidFill>
              <a:srgbClr val="2C3548"/>
            </a:solidFill>
          </a:ln>
        </p:spPr>
        <p:txBody>
          <a:bodyPr lIns="45719" rIns="45719"/>
          <a:lstStyle/>
          <a:p>
            <a:pPr/>
          </a:p>
        </p:txBody>
      </p:sp>
      <p:sp>
        <p:nvSpPr>
          <p:cNvPr id="177" name="Text 39"/>
          <p:cNvSpPr txBox="1"/>
          <p:nvPr/>
        </p:nvSpPr>
        <p:spPr>
          <a:xfrm>
            <a:off x="12656343" y="4936926"/>
            <a:ext cx="529829"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000">
                <a:solidFill>
                  <a:srgbClr val="C3CAD8"/>
                </a:solidFill>
                <a:latin typeface="Arial"/>
                <a:ea typeface="Arial"/>
                <a:cs typeface="Arial"/>
                <a:sym typeface="Arial"/>
              </a:defRPr>
            </a:lvl1pPr>
          </a:lstStyle>
          <a:p>
            <a:pPr/>
            <a:r>
              <a:t>BASIC</a:t>
            </a:r>
          </a:p>
        </p:txBody>
      </p:sp>
      <p:sp>
        <p:nvSpPr>
          <p:cNvPr id="178" name="Shape 40"/>
          <p:cNvSpPr/>
          <p:nvPr/>
        </p:nvSpPr>
        <p:spPr>
          <a:xfrm>
            <a:off x="952500" y="5313164"/>
            <a:ext cx="2343150" cy="1971676"/>
          </a:xfrm>
          <a:prstGeom prst="rect">
            <a:avLst/>
          </a:prstGeom>
          <a:solidFill>
            <a:srgbClr val="4EA8FF">
              <a:alpha val="5000"/>
            </a:srgbClr>
          </a:solidFill>
          <a:ln w="12700">
            <a:miter lim="400000"/>
          </a:ln>
        </p:spPr>
        <p:txBody>
          <a:bodyPr lIns="45719" rIns="45719"/>
          <a:lstStyle/>
          <a:p>
            <a:pPr/>
          </a:p>
        </p:txBody>
      </p:sp>
      <p:sp>
        <p:nvSpPr>
          <p:cNvPr id="179" name="Shape 41"/>
          <p:cNvSpPr/>
          <p:nvPr/>
        </p:nvSpPr>
        <p:spPr>
          <a:xfrm>
            <a:off x="952500" y="7273726"/>
            <a:ext cx="2343150" cy="12701"/>
          </a:xfrm>
          <a:prstGeom prst="rect">
            <a:avLst/>
          </a:prstGeom>
          <a:solidFill>
            <a:srgbClr val="232A3A"/>
          </a:solidFill>
          <a:ln w="12700">
            <a:miter lim="400000"/>
          </a:ln>
        </p:spPr>
        <p:txBody>
          <a:bodyPr lIns="45719" rIns="45719"/>
          <a:lstStyle/>
          <a:p>
            <a:pPr/>
          </a:p>
        </p:txBody>
      </p:sp>
      <p:sp>
        <p:nvSpPr>
          <p:cNvPr id="180" name="Text 42"/>
          <p:cNvSpPr txBox="1"/>
          <p:nvPr/>
        </p:nvSpPr>
        <p:spPr>
          <a:xfrm>
            <a:off x="1123950" y="5465564"/>
            <a:ext cx="1981200" cy="16954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2100">
                <a:solidFill>
                  <a:srgbClr val="E8ECF4"/>
                </a:solidFill>
                <a:latin typeface="Arial"/>
                <a:ea typeface="Arial"/>
                <a:cs typeface="Arial"/>
                <a:sym typeface="Arial"/>
              </a:defRPr>
            </a:lvl1pPr>
          </a:lstStyle>
          <a:p>
            <a:pPr/>
            <a:r>
              <a:t>Ishaan</a:t>
            </a:r>
          </a:p>
        </p:txBody>
      </p:sp>
      <p:sp>
        <p:nvSpPr>
          <p:cNvPr id="181" name="Shape 43"/>
          <p:cNvSpPr/>
          <p:nvPr/>
        </p:nvSpPr>
        <p:spPr>
          <a:xfrm>
            <a:off x="3295649" y="5313164"/>
            <a:ext cx="7574907" cy="771526"/>
          </a:xfrm>
          <a:prstGeom prst="rect">
            <a:avLst/>
          </a:prstGeom>
          <a:solidFill>
            <a:srgbClr val="4EA8FF">
              <a:alpha val="5000"/>
            </a:srgbClr>
          </a:solidFill>
          <a:ln w="12700">
            <a:miter lim="400000"/>
          </a:ln>
        </p:spPr>
        <p:txBody>
          <a:bodyPr lIns="45719" rIns="45719"/>
          <a:lstStyle/>
          <a:p>
            <a:pPr/>
          </a:p>
        </p:txBody>
      </p:sp>
      <p:sp>
        <p:nvSpPr>
          <p:cNvPr id="182" name="Shape 44"/>
          <p:cNvSpPr/>
          <p:nvPr/>
        </p:nvSpPr>
        <p:spPr>
          <a:xfrm>
            <a:off x="3295649" y="6073576"/>
            <a:ext cx="7574907" cy="12701"/>
          </a:xfrm>
          <a:prstGeom prst="rect">
            <a:avLst/>
          </a:prstGeom>
          <a:solidFill>
            <a:srgbClr val="232A3A"/>
          </a:solidFill>
          <a:ln w="12700">
            <a:miter lim="400000"/>
          </a:ln>
        </p:spPr>
        <p:txBody>
          <a:bodyPr lIns="45719" rIns="45719"/>
          <a:lstStyle/>
          <a:p>
            <a:pPr/>
          </a:p>
        </p:txBody>
      </p:sp>
      <p:sp>
        <p:nvSpPr>
          <p:cNvPr id="183" name="Text 45"/>
          <p:cNvSpPr txBox="1"/>
          <p:nvPr/>
        </p:nvSpPr>
        <p:spPr>
          <a:xfrm>
            <a:off x="3467100" y="5470326"/>
            <a:ext cx="2986147"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1500">
                <a:solidFill>
                  <a:srgbClr val="E8ECF4"/>
                </a:solidFill>
                <a:latin typeface="-apple-system"/>
                <a:ea typeface="-apple-system"/>
                <a:cs typeface="-apple-system"/>
                <a:sym typeface="-apple-system"/>
              </a:defRPr>
            </a:lvl1pPr>
          </a:lstStyle>
          <a:p>
            <a:pPr/>
            <a:r>
              <a:t>Audit types in privilege escalation</a:t>
            </a:r>
          </a:p>
        </p:txBody>
      </p:sp>
      <p:sp>
        <p:nvSpPr>
          <p:cNvPr id="184" name="Text 46"/>
          <p:cNvSpPr txBox="1"/>
          <p:nvPr/>
        </p:nvSpPr>
        <p:spPr>
          <a:xfrm>
            <a:off x="3467100" y="5756076"/>
            <a:ext cx="7448964"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defRPr sz="1152">
                <a:solidFill>
                  <a:srgbClr val="7EC1FF"/>
                </a:solidFill>
                <a:latin typeface="Arial"/>
                <a:ea typeface="Arial"/>
                <a:cs typeface="Arial"/>
                <a:sym typeface="Arial"/>
              </a:defRPr>
            </a:lvl1pPr>
          </a:lstStyle>
          <a:p>
            <a:pPr/>
            <a:r>
              <a:t>ishaan_audit_types_in_privilege_escalation.sql</a:t>
            </a:r>
          </a:p>
        </p:txBody>
      </p:sp>
      <p:sp>
        <p:nvSpPr>
          <p:cNvPr id="185" name="Shape 47"/>
          <p:cNvSpPr/>
          <p:nvPr/>
        </p:nvSpPr>
        <p:spPr>
          <a:xfrm>
            <a:off x="10870555" y="5313164"/>
            <a:ext cx="6464946" cy="771526"/>
          </a:xfrm>
          <a:prstGeom prst="rect">
            <a:avLst/>
          </a:prstGeom>
          <a:solidFill>
            <a:srgbClr val="4EA8FF">
              <a:alpha val="5000"/>
            </a:srgbClr>
          </a:solidFill>
          <a:ln w="12700">
            <a:miter lim="400000"/>
          </a:ln>
        </p:spPr>
        <p:txBody>
          <a:bodyPr lIns="45719" rIns="45719"/>
          <a:lstStyle/>
          <a:p>
            <a:pPr/>
          </a:p>
        </p:txBody>
      </p:sp>
      <p:sp>
        <p:nvSpPr>
          <p:cNvPr id="186" name="Shape 48"/>
          <p:cNvSpPr/>
          <p:nvPr/>
        </p:nvSpPr>
        <p:spPr>
          <a:xfrm>
            <a:off x="10870555" y="6073576"/>
            <a:ext cx="6464946" cy="12701"/>
          </a:xfrm>
          <a:prstGeom prst="rect">
            <a:avLst/>
          </a:prstGeom>
          <a:solidFill>
            <a:srgbClr val="232A3A"/>
          </a:solidFill>
          <a:ln w="12700">
            <a:miter lim="400000"/>
          </a:ln>
        </p:spPr>
        <p:txBody>
          <a:bodyPr lIns="45719" rIns="45719"/>
          <a:lstStyle/>
          <a:p>
            <a:pPr/>
          </a:p>
        </p:txBody>
      </p:sp>
      <p:sp>
        <p:nvSpPr>
          <p:cNvPr id="187" name="Shape 49"/>
          <p:cNvSpPr/>
          <p:nvPr/>
        </p:nvSpPr>
        <p:spPr>
          <a:xfrm>
            <a:off x="11042005" y="5489376"/>
            <a:ext cx="747862" cy="247651"/>
          </a:xfrm>
          <a:prstGeom prst="roundRect">
            <a:avLst>
              <a:gd name="adj" fmla="val 11538"/>
            </a:avLst>
          </a:prstGeom>
          <a:solidFill>
            <a:srgbClr val="FF5A4E">
              <a:alpha val="18000"/>
            </a:srgbClr>
          </a:solidFill>
          <a:ln>
            <a:solidFill>
              <a:srgbClr val="FF5A4E">
                <a:alpha val="55000"/>
              </a:srgbClr>
            </a:solidFill>
          </a:ln>
        </p:spPr>
        <p:txBody>
          <a:bodyPr lIns="45719" rIns="45719"/>
          <a:lstStyle/>
          <a:p>
            <a:pPr/>
          </a:p>
        </p:txBody>
      </p:sp>
      <p:sp>
        <p:nvSpPr>
          <p:cNvPr id="188" name="Text 50"/>
          <p:cNvSpPr txBox="1"/>
          <p:nvPr/>
        </p:nvSpPr>
        <p:spPr>
          <a:xfrm>
            <a:off x="11146780" y="5537001"/>
            <a:ext cx="614512"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000">
                <a:solidFill>
                  <a:srgbClr val="FFFFFF"/>
                </a:solidFill>
                <a:latin typeface="Arial"/>
                <a:ea typeface="Arial"/>
                <a:cs typeface="Arial"/>
                <a:sym typeface="Arial"/>
              </a:defRPr>
            </a:lvl1pPr>
          </a:lstStyle>
          <a:p>
            <a:pPr/>
            <a:r>
              <a:t>EXISTS</a:t>
            </a:r>
          </a:p>
        </p:txBody>
      </p:sp>
      <p:sp>
        <p:nvSpPr>
          <p:cNvPr id="189" name="Shape 51"/>
          <p:cNvSpPr/>
          <p:nvPr/>
        </p:nvSpPr>
        <p:spPr>
          <a:xfrm>
            <a:off x="11847015" y="5489376"/>
            <a:ext cx="1040905" cy="247651"/>
          </a:xfrm>
          <a:prstGeom prst="roundRect">
            <a:avLst>
              <a:gd name="adj" fmla="val 11538"/>
            </a:avLst>
          </a:prstGeom>
          <a:solidFill>
            <a:srgbClr val="FF5A4E">
              <a:alpha val="18000"/>
            </a:srgbClr>
          </a:solidFill>
          <a:ln>
            <a:solidFill>
              <a:srgbClr val="FF5A4E">
                <a:alpha val="55000"/>
              </a:srgbClr>
            </a:solidFill>
          </a:ln>
        </p:spPr>
        <p:txBody>
          <a:bodyPr lIns="45719" rIns="45719"/>
          <a:lstStyle/>
          <a:p>
            <a:pPr/>
          </a:p>
        </p:txBody>
      </p:sp>
      <p:sp>
        <p:nvSpPr>
          <p:cNvPr id="190" name="Text 52"/>
          <p:cNvSpPr txBox="1"/>
          <p:nvPr/>
        </p:nvSpPr>
        <p:spPr>
          <a:xfrm>
            <a:off x="11951790" y="5537001"/>
            <a:ext cx="907555"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000">
                <a:solidFill>
                  <a:srgbClr val="FFFFFF"/>
                </a:solidFill>
                <a:latin typeface="Arial"/>
                <a:ea typeface="Arial"/>
                <a:cs typeface="Arial"/>
                <a:sym typeface="Arial"/>
              </a:defRPr>
            </a:lvl1pPr>
          </a:lstStyle>
          <a:p>
            <a:pPr/>
            <a:r>
              <a:t>SUBQUERY</a:t>
            </a:r>
          </a:p>
        </p:txBody>
      </p:sp>
      <p:sp>
        <p:nvSpPr>
          <p:cNvPr id="191" name="Shape 53"/>
          <p:cNvSpPr/>
          <p:nvPr/>
        </p:nvSpPr>
        <p:spPr>
          <a:xfrm>
            <a:off x="3295649" y="6673651"/>
            <a:ext cx="7574907" cy="12701"/>
          </a:xfrm>
          <a:prstGeom prst="rect">
            <a:avLst/>
          </a:prstGeom>
          <a:solidFill>
            <a:srgbClr val="232A3A"/>
          </a:solidFill>
          <a:ln w="12700">
            <a:miter lim="400000"/>
          </a:ln>
        </p:spPr>
        <p:txBody>
          <a:bodyPr lIns="45719" rIns="45719"/>
          <a:lstStyle/>
          <a:p>
            <a:pPr/>
          </a:p>
        </p:txBody>
      </p:sp>
      <p:sp>
        <p:nvSpPr>
          <p:cNvPr id="192" name="Text 54"/>
          <p:cNvSpPr txBox="1"/>
          <p:nvPr/>
        </p:nvSpPr>
        <p:spPr>
          <a:xfrm>
            <a:off x="3467100" y="6237089"/>
            <a:ext cx="7459251" cy="3238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500">
                <a:solidFill>
                  <a:srgbClr val="E8ECF4"/>
                </a:solidFill>
                <a:latin typeface="-apple-system"/>
                <a:ea typeface="-apple-system"/>
                <a:cs typeface="-apple-system"/>
                <a:sym typeface="-apple-system"/>
              </a:defRPr>
            </a:lvl1pPr>
          </a:lstStyle>
          <a:p>
            <a:pPr/>
            <a:r>
              <a:t>Detection rules ranked, top rule per label</a:t>
            </a:r>
          </a:p>
        </p:txBody>
      </p:sp>
      <p:sp>
        <p:nvSpPr>
          <p:cNvPr id="193" name="Shape 55"/>
          <p:cNvSpPr/>
          <p:nvPr/>
        </p:nvSpPr>
        <p:spPr>
          <a:xfrm>
            <a:off x="10870555" y="6673651"/>
            <a:ext cx="6464946" cy="12701"/>
          </a:xfrm>
          <a:prstGeom prst="rect">
            <a:avLst/>
          </a:prstGeom>
          <a:solidFill>
            <a:srgbClr val="232A3A"/>
          </a:solidFill>
          <a:ln w="12700">
            <a:miter lim="400000"/>
          </a:ln>
        </p:spPr>
        <p:txBody>
          <a:bodyPr lIns="45719" rIns="45719"/>
          <a:lstStyle/>
          <a:p>
            <a:pPr/>
          </a:p>
        </p:txBody>
      </p:sp>
      <p:sp>
        <p:nvSpPr>
          <p:cNvPr id="194" name="Shape 56"/>
          <p:cNvSpPr/>
          <p:nvPr/>
        </p:nvSpPr>
        <p:spPr>
          <a:xfrm>
            <a:off x="11042005" y="6260901"/>
            <a:ext cx="1319660" cy="247651"/>
          </a:xfrm>
          <a:prstGeom prst="roundRect">
            <a:avLst>
              <a:gd name="adj" fmla="val 11538"/>
            </a:avLst>
          </a:prstGeom>
          <a:solidFill>
            <a:srgbClr val="1A2030"/>
          </a:solidFill>
          <a:ln>
            <a:solidFill>
              <a:srgbClr val="2C3548"/>
            </a:solidFill>
          </a:ln>
        </p:spPr>
        <p:txBody>
          <a:bodyPr lIns="45719" rIns="45719"/>
          <a:lstStyle/>
          <a:p>
            <a:pPr/>
          </a:p>
        </p:txBody>
      </p:sp>
      <p:sp>
        <p:nvSpPr>
          <p:cNvPr id="195" name="Text 57"/>
          <p:cNvSpPr txBox="1"/>
          <p:nvPr/>
        </p:nvSpPr>
        <p:spPr>
          <a:xfrm>
            <a:off x="11146780" y="6308526"/>
            <a:ext cx="1186310"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000">
                <a:solidFill>
                  <a:srgbClr val="C3CAD8"/>
                </a:solidFill>
                <a:latin typeface="Arial"/>
                <a:ea typeface="Arial"/>
                <a:cs typeface="Arial"/>
                <a:sym typeface="Arial"/>
              </a:defRPr>
            </a:lvl1pPr>
          </a:lstStyle>
          <a:p>
            <a:pPr/>
            <a:r>
              <a:t>RANK WINDOW</a:t>
            </a:r>
          </a:p>
        </p:txBody>
      </p:sp>
      <p:sp>
        <p:nvSpPr>
          <p:cNvPr id="196" name="Shape 58"/>
          <p:cNvSpPr/>
          <p:nvPr/>
        </p:nvSpPr>
        <p:spPr>
          <a:xfrm>
            <a:off x="12418814" y="6260901"/>
            <a:ext cx="2096840" cy="247651"/>
          </a:xfrm>
          <a:prstGeom prst="roundRect">
            <a:avLst>
              <a:gd name="adj" fmla="val 11538"/>
            </a:avLst>
          </a:prstGeom>
          <a:solidFill>
            <a:srgbClr val="1A2030"/>
          </a:solidFill>
          <a:ln>
            <a:solidFill>
              <a:srgbClr val="2C3548"/>
            </a:solidFill>
          </a:ln>
        </p:spPr>
        <p:txBody>
          <a:bodyPr lIns="45719" rIns="45719"/>
          <a:lstStyle/>
          <a:p>
            <a:pPr/>
          </a:p>
        </p:txBody>
      </p:sp>
      <p:sp>
        <p:nvSpPr>
          <p:cNvPr id="197" name="Text 59"/>
          <p:cNvSpPr txBox="1"/>
          <p:nvPr/>
        </p:nvSpPr>
        <p:spPr>
          <a:xfrm>
            <a:off x="12523589" y="6308526"/>
            <a:ext cx="1963490"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000">
                <a:solidFill>
                  <a:srgbClr val="C3CAD8"/>
                </a:solidFill>
                <a:latin typeface="Arial"/>
                <a:ea typeface="Arial"/>
                <a:cs typeface="Arial"/>
                <a:sym typeface="Arial"/>
              </a:defRPr>
            </a:lvl1pPr>
          </a:lstStyle>
          <a:p>
            <a:pPr/>
            <a:r>
              <a:t>CORRELATED SUBQUERY</a:t>
            </a:r>
          </a:p>
        </p:txBody>
      </p:sp>
      <p:sp>
        <p:nvSpPr>
          <p:cNvPr id="198" name="Shape 60"/>
          <p:cNvSpPr/>
          <p:nvPr/>
        </p:nvSpPr>
        <p:spPr>
          <a:xfrm>
            <a:off x="3295649" y="7273726"/>
            <a:ext cx="7574907" cy="12701"/>
          </a:xfrm>
          <a:prstGeom prst="rect">
            <a:avLst/>
          </a:prstGeom>
          <a:solidFill>
            <a:srgbClr val="232A3A"/>
          </a:solidFill>
          <a:ln w="12700">
            <a:miter lim="400000"/>
          </a:ln>
        </p:spPr>
        <p:txBody>
          <a:bodyPr lIns="45719" rIns="45719"/>
          <a:lstStyle/>
          <a:p>
            <a:pPr/>
          </a:p>
        </p:txBody>
      </p:sp>
      <p:sp>
        <p:nvSpPr>
          <p:cNvPr id="199" name="Text 61"/>
          <p:cNvSpPr txBox="1"/>
          <p:nvPr/>
        </p:nvSpPr>
        <p:spPr>
          <a:xfrm>
            <a:off x="3467100" y="6837164"/>
            <a:ext cx="7459251" cy="3238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500">
                <a:solidFill>
                  <a:srgbClr val="E8ECF4"/>
                </a:solidFill>
                <a:latin typeface="-apple-system"/>
                <a:ea typeface="-apple-system"/>
                <a:cs typeface="-apple-system"/>
                <a:sym typeface="-apple-system"/>
              </a:defRPr>
            </a:lvl1pPr>
          </a:lstStyle>
          <a:p>
            <a:pPr/>
            <a:r>
              <a:t>Phase and rule baseline counts</a:t>
            </a:r>
          </a:p>
        </p:txBody>
      </p:sp>
      <p:sp>
        <p:nvSpPr>
          <p:cNvPr id="200" name="Shape 62"/>
          <p:cNvSpPr/>
          <p:nvPr/>
        </p:nvSpPr>
        <p:spPr>
          <a:xfrm>
            <a:off x="10870555" y="7273726"/>
            <a:ext cx="6464946" cy="12701"/>
          </a:xfrm>
          <a:prstGeom prst="rect">
            <a:avLst/>
          </a:prstGeom>
          <a:solidFill>
            <a:srgbClr val="232A3A"/>
          </a:solidFill>
          <a:ln w="12700">
            <a:miter lim="400000"/>
          </a:ln>
        </p:spPr>
        <p:txBody>
          <a:bodyPr lIns="45719" rIns="45719"/>
          <a:lstStyle/>
          <a:p>
            <a:pPr/>
          </a:p>
        </p:txBody>
      </p:sp>
      <p:sp>
        <p:nvSpPr>
          <p:cNvPr id="201" name="Shape 63"/>
          <p:cNvSpPr/>
          <p:nvPr/>
        </p:nvSpPr>
        <p:spPr>
          <a:xfrm>
            <a:off x="11042005" y="6860977"/>
            <a:ext cx="663179" cy="247651"/>
          </a:xfrm>
          <a:prstGeom prst="roundRect">
            <a:avLst>
              <a:gd name="adj" fmla="val 11538"/>
            </a:avLst>
          </a:prstGeom>
          <a:solidFill>
            <a:srgbClr val="1A2030"/>
          </a:solidFill>
          <a:ln>
            <a:solidFill>
              <a:srgbClr val="2C3548"/>
            </a:solidFill>
          </a:ln>
        </p:spPr>
        <p:txBody>
          <a:bodyPr lIns="45719" rIns="45719"/>
          <a:lstStyle/>
          <a:p>
            <a:pPr/>
          </a:p>
        </p:txBody>
      </p:sp>
      <p:sp>
        <p:nvSpPr>
          <p:cNvPr id="202" name="Text 64"/>
          <p:cNvSpPr txBox="1"/>
          <p:nvPr/>
        </p:nvSpPr>
        <p:spPr>
          <a:xfrm>
            <a:off x="11146780" y="6908602"/>
            <a:ext cx="529829"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000">
                <a:solidFill>
                  <a:srgbClr val="C3CAD8"/>
                </a:solidFill>
                <a:latin typeface="Arial"/>
                <a:ea typeface="Arial"/>
                <a:cs typeface="Arial"/>
                <a:sym typeface="Arial"/>
              </a:defRPr>
            </a:lvl1pPr>
          </a:lstStyle>
          <a:p>
            <a:pPr/>
            <a:r>
              <a:t>BASIC</a:t>
            </a:r>
          </a:p>
        </p:txBody>
      </p:sp>
      <p:sp>
        <p:nvSpPr>
          <p:cNvPr id="203" name="Shape 65"/>
          <p:cNvSpPr/>
          <p:nvPr/>
        </p:nvSpPr>
        <p:spPr>
          <a:xfrm>
            <a:off x="952500" y="7284839"/>
            <a:ext cx="2343150" cy="2152651"/>
          </a:xfrm>
          <a:prstGeom prst="rect">
            <a:avLst/>
          </a:prstGeom>
          <a:solidFill>
            <a:srgbClr val="4EA8FF">
              <a:alpha val="5000"/>
            </a:srgbClr>
          </a:solidFill>
          <a:ln w="12700">
            <a:miter lim="400000"/>
          </a:ln>
        </p:spPr>
        <p:txBody>
          <a:bodyPr lIns="45719" rIns="45719"/>
          <a:lstStyle/>
          <a:p>
            <a:pPr/>
          </a:p>
        </p:txBody>
      </p:sp>
      <p:sp>
        <p:nvSpPr>
          <p:cNvPr id="204" name="Shape 66"/>
          <p:cNvSpPr/>
          <p:nvPr/>
        </p:nvSpPr>
        <p:spPr>
          <a:xfrm>
            <a:off x="952500" y="9426376"/>
            <a:ext cx="2343150" cy="12701"/>
          </a:xfrm>
          <a:prstGeom prst="rect">
            <a:avLst/>
          </a:prstGeom>
          <a:solidFill>
            <a:srgbClr val="232A3A"/>
          </a:solidFill>
          <a:ln w="12700">
            <a:miter lim="400000"/>
          </a:ln>
        </p:spPr>
        <p:txBody>
          <a:bodyPr lIns="45719" rIns="45719"/>
          <a:lstStyle/>
          <a:p>
            <a:pPr/>
          </a:p>
        </p:txBody>
      </p:sp>
      <p:sp>
        <p:nvSpPr>
          <p:cNvPr id="205" name="Text 67"/>
          <p:cNvSpPr txBox="1"/>
          <p:nvPr/>
        </p:nvSpPr>
        <p:spPr>
          <a:xfrm>
            <a:off x="1123950" y="7437239"/>
            <a:ext cx="1981200" cy="187642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2100">
                <a:solidFill>
                  <a:srgbClr val="E8ECF4"/>
                </a:solidFill>
                <a:latin typeface="Arial"/>
                <a:ea typeface="Arial"/>
                <a:cs typeface="Arial"/>
                <a:sym typeface="Arial"/>
              </a:defRPr>
            </a:lvl1pPr>
          </a:lstStyle>
          <a:p>
            <a:pPr/>
            <a:r>
              <a:t>Naman</a:t>
            </a:r>
          </a:p>
        </p:txBody>
      </p:sp>
      <p:sp>
        <p:nvSpPr>
          <p:cNvPr id="206" name="Shape 68"/>
          <p:cNvSpPr/>
          <p:nvPr/>
        </p:nvSpPr>
        <p:spPr>
          <a:xfrm>
            <a:off x="3295649" y="7284839"/>
            <a:ext cx="7574907" cy="771526"/>
          </a:xfrm>
          <a:prstGeom prst="rect">
            <a:avLst/>
          </a:prstGeom>
          <a:solidFill>
            <a:srgbClr val="4EA8FF">
              <a:alpha val="5000"/>
            </a:srgbClr>
          </a:solidFill>
          <a:ln w="12700">
            <a:miter lim="400000"/>
          </a:ln>
        </p:spPr>
        <p:txBody>
          <a:bodyPr lIns="45719" rIns="45719"/>
          <a:lstStyle/>
          <a:p>
            <a:pPr/>
          </a:p>
        </p:txBody>
      </p:sp>
      <p:sp>
        <p:nvSpPr>
          <p:cNvPr id="207" name="Shape 69"/>
          <p:cNvSpPr/>
          <p:nvPr/>
        </p:nvSpPr>
        <p:spPr>
          <a:xfrm>
            <a:off x="3295649" y="8045251"/>
            <a:ext cx="7574907" cy="12701"/>
          </a:xfrm>
          <a:prstGeom prst="rect">
            <a:avLst/>
          </a:prstGeom>
          <a:solidFill>
            <a:srgbClr val="232A3A"/>
          </a:solidFill>
          <a:ln w="12700">
            <a:miter lim="400000"/>
          </a:ln>
        </p:spPr>
        <p:txBody>
          <a:bodyPr lIns="45719" rIns="45719"/>
          <a:lstStyle/>
          <a:p>
            <a:pPr/>
          </a:p>
        </p:txBody>
      </p:sp>
      <p:sp>
        <p:nvSpPr>
          <p:cNvPr id="208" name="Text 70"/>
          <p:cNvSpPr txBox="1"/>
          <p:nvPr/>
        </p:nvSpPr>
        <p:spPr>
          <a:xfrm>
            <a:off x="3467100" y="7442002"/>
            <a:ext cx="3421192"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1500">
                <a:solidFill>
                  <a:srgbClr val="E8ECF4"/>
                </a:solidFill>
                <a:latin typeface="-apple-system"/>
                <a:ea typeface="-apple-system"/>
                <a:cs typeface="-apple-system"/>
                <a:sym typeface="-apple-system"/>
              </a:defRPr>
            </a:lvl1pPr>
          </a:lstStyle>
          <a:p>
            <a:pPr/>
            <a:r>
              <a:t>EXPLAIN ANALYZE + composite index</a:t>
            </a:r>
          </a:p>
        </p:txBody>
      </p:sp>
      <p:sp>
        <p:nvSpPr>
          <p:cNvPr id="209" name="Text 71"/>
          <p:cNvSpPr txBox="1"/>
          <p:nvPr/>
        </p:nvSpPr>
        <p:spPr>
          <a:xfrm>
            <a:off x="3467100" y="7727752"/>
            <a:ext cx="7448964"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defRPr sz="1152">
                <a:solidFill>
                  <a:srgbClr val="7EC1FF"/>
                </a:solidFill>
                <a:latin typeface="Arial"/>
                <a:ea typeface="Arial"/>
                <a:cs typeface="Arial"/>
                <a:sym typeface="Arial"/>
              </a:defRPr>
            </a:lvl1pPr>
          </a:lstStyle>
          <a:p>
            <a:pPr/>
            <a:r>
              <a:t>naman_explain_index_improvement.sql</a:t>
            </a:r>
          </a:p>
        </p:txBody>
      </p:sp>
      <p:sp>
        <p:nvSpPr>
          <p:cNvPr id="210" name="Shape 72"/>
          <p:cNvSpPr/>
          <p:nvPr/>
        </p:nvSpPr>
        <p:spPr>
          <a:xfrm>
            <a:off x="10870555" y="7284839"/>
            <a:ext cx="6464946" cy="771526"/>
          </a:xfrm>
          <a:prstGeom prst="rect">
            <a:avLst/>
          </a:prstGeom>
          <a:solidFill>
            <a:srgbClr val="4EA8FF">
              <a:alpha val="5000"/>
            </a:srgbClr>
          </a:solidFill>
          <a:ln w="12700">
            <a:miter lim="400000"/>
          </a:ln>
        </p:spPr>
        <p:txBody>
          <a:bodyPr lIns="45719" rIns="45719"/>
          <a:lstStyle/>
          <a:p>
            <a:pPr/>
          </a:p>
        </p:txBody>
      </p:sp>
      <p:sp>
        <p:nvSpPr>
          <p:cNvPr id="211" name="Shape 73"/>
          <p:cNvSpPr/>
          <p:nvPr/>
        </p:nvSpPr>
        <p:spPr>
          <a:xfrm>
            <a:off x="10870555" y="8045251"/>
            <a:ext cx="6464946" cy="12701"/>
          </a:xfrm>
          <a:prstGeom prst="rect">
            <a:avLst/>
          </a:prstGeom>
          <a:solidFill>
            <a:srgbClr val="232A3A"/>
          </a:solidFill>
          <a:ln w="12700">
            <a:miter lim="400000"/>
          </a:ln>
        </p:spPr>
        <p:txBody>
          <a:bodyPr lIns="45719" rIns="45719"/>
          <a:lstStyle/>
          <a:p>
            <a:pPr/>
          </a:p>
        </p:txBody>
      </p:sp>
      <p:sp>
        <p:nvSpPr>
          <p:cNvPr id="212" name="Shape 74"/>
          <p:cNvSpPr/>
          <p:nvPr/>
        </p:nvSpPr>
        <p:spPr>
          <a:xfrm>
            <a:off x="11042005" y="7461052"/>
            <a:ext cx="1560464" cy="247651"/>
          </a:xfrm>
          <a:prstGeom prst="roundRect">
            <a:avLst>
              <a:gd name="adj" fmla="val 11538"/>
            </a:avLst>
          </a:prstGeom>
          <a:solidFill>
            <a:srgbClr val="FF5A4E">
              <a:alpha val="18000"/>
            </a:srgbClr>
          </a:solidFill>
          <a:ln>
            <a:solidFill>
              <a:srgbClr val="FF5A4E">
                <a:alpha val="55000"/>
              </a:srgbClr>
            </a:solidFill>
          </a:ln>
        </p:spPr>
        <p:txBody>
          <a:bodyPr lIns="45719" rIns="45719"/>
          <a:lstStyle/>
          <a:p>
            <a:pPr/>
          </a:p>
        </p:txBody>
      </p:sp>
      <p:sp>
        <p:nvSpPr>
          <p:cNvPr id="213" name="Text 75"/>
          <p:cNvSpPr txBox="1"/>
          <p:nvPr/>
        </p:nvSpPr>
        <p:spPr>
          <a:xfrm>
            <a:off x="11146780" y="7508677"/>
            <a:ext cx="1427114"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000">
                <a:solidFill>
                  <a:srgbClr val="FFFFFF"/>
                </a:solidFill>
                <a:latin typeface="Arial"/>
                <a:ea typeface="Arial"/>
                <a:cs typeface="Arial"/>
                <a:sym typeface="Arial"/>
              </a:defRPr>
            </a:lvl1pPr>
          </a:lstStyle>
          <a:p>
            <a:pPr/>
            <a:r>
              <a:t>EXPLAIN ANALYZE</a:t>
            </a:r>
          </a:p>
        </p:txBody>
      </p:sp>
      <p:sp>
        <p:nvSpPr>
          <p:cNvPr id="214" name="Shape 76"/>
          <p:cNvSpPr/>
          <p:nvPr/>
        </p:nvSpPr>
        <p:spPr>
          <a:xfrm>
            <a:off x="12659617" y="7461052"/>
            <a:ext cx="670472" cy="247651"/>
          </a:xfrm>
          <a:prstGeom prst="roundRect">
            <a:avLst>
              <a:gd name="adj" fmla="val 11538"/>
            </a:avLst>
          </a:prstGeom>
          <a:solidFill>
            <a:srgbClr val="FF5A4E">
              <a:alpha val="18000"/>
            </a:srgbClr>
          </a:solidFill>
          <a:ln>
            <a:solidFill>
              <a:srgbClr val="FF5A4E">
                <a:alpha val="55000"/>
              </a:srgbClr>
            </a:solidFill>
          </a:ln>
        </p:spPr>
        <p:txBody>
          <a:bodyPr lIns="45719" rIns="45719"/>
          <a:lstStyle/>
          <a:p>
            <a:pPr/>
          </a:p>
        </p:txBody>
      </p:sp>
      <p:sp>
        <p:nvSpPr>
          <p:cNvPr id="215" name="Text 77"/>
          <p:cNvSpPr txBox="1"/>
          <p:nvPr/>
        </p:nvSpPr>
        <p:spPr>
          <a:xfrm>
            <a:off x="12764392" y="7508677"/>
            <a:ext cx="537122"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000">
                <a:solidFill>
                  <a:srgbClr val="FFFFFF"/>
                </a:solidFill>
                <a:latin typeface="Arial"/>
                <a:ea typeface="Arial"/>
                <a:cs typeface="Arial"/>
                <a:sym typeface="Arial"/>
              </a:defRPr>
            </a:lvl1pPr>
          </a:lstStyle>
          <a:p>
            <a:pPr/>
            <a:r>
              <a:t>INDEX</a:t>
            </a:r>
          </a:p>
        </p:txBody>
      </p:sp>
      <p:sp>
        <p:nvSpPr>
          <p:cNvPr id="216" name="Shape 78"/>
          <p:cNvSpPr/>
          <p:nvPr/>
        </p:nvSpPr>
        <p:spPr>
          <a:xfrm>
            <a:off x="3295649" y="8826301"/>
            <a:ext cx="7574907" cy="12701"/>
          </a:xfrm>
          <a:prstGeom prst="rect">
            <a:avLst/>
          </a:prstGeom>
          <a:solidFill>
            <a:srgbClr val="232A3A"/>
          </a:solidFill>
          <a:ln w="12700">
            <a:miter lim="400000"/>
          </a:ln>
        </p:spPr>
        <p:txBody>
          <a:bodyPr lIns="45719" rIns="45719"/>
          <a:lstStyle/>
          <a:p>
            <a:pPr/>
          </a:p>
        </p:txBody>
      </p:sp>
      <p:sp>
        <p:nvSpPr>
          <p:cNvPr id="217" name="Text 79"/>
          <p:cNvSpPr txBox="1"/>
          <p:nvPr/>
        </p:nvSpPr>
        <p:spPr>
          <a:xfrm>
            <a:off x="3467100" y="8213527"/>
            <a:ext cx="1059210"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sz="1500">
                <a:solidFill>
                  <a:srgbClr val="E8ECF4"/>
                </a:solidFill>
                <a:latin typeface="-apple-system"/>
                <a:ea typeface="-apple-system"/>
                <a:cs typeface="-apple-system"/>
                <a:sym typeface="-apple-system"/>
              </a:defRPr>
            </a:lvl1pPr>
          </a:lstStyle>
          <a:p>
            <a:pPr/>
            <a:r>
              <a:t>Saved view</a:t>
            </a:r>
          </a:p>
        </p:txBody>
      </p:sp>
      <p:sp>
        <p:nvSpPr>
          <p:cNvPr id="218" name="Shape 80"/>
          <p:cNvSpPr/>
          <p:nvPr/>
        </p:nvSpPr>
        <p:spPr>
          <a:xfrm>
            <a:off x="4497139" y="8213527"/>
            <a:ext cx="2718644" cy="257176"/>
          </a:xfrm>
          <a:prstGeom prst="roundRect">
            <a:avLst>
              <a:gd name="adj" fmla="val 14815"/>
            </a:avLst>
          </a:prstGeom>
          <a:solidFill>
            <a:srgbClr val="1C2230"/>
          </a:solidFill>
          <a:ln>
            <a:solidFill>
              <a:srgbClr val="2C3548"/>
            </a:solidFill>
          </a:ln>
        </p:spPr>
        <p:txBody>
          <a:bodyPr lIns="45719" rIns="45719"/>
          <a:lstStyle/>
          <a:p>
            <a:pPr/>
          </a:p>
        </p:txBody>
      </p:sp>
      <p:sp>
        <p:nvSpPr>
          <p:cNvPr id="219" name="Text 81"/>
          <p:cNvSpPr txBox="1"/>
          <p:nvPr/>
        </p:nvSpPr>
        <p:spPr>
          <a:xfrm>
            <a:off x="4582864" y="8242102"/>
            <a:ext cx="2628753" cy="23812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96111">
              <a:defRPr sz="1372">
                <a:solidFill>
                  <a:srgbClr val="E8ECF4"/>
                </a:solidFill>
                <a:latin typeface="Arial"/>
                <a:ea typeface="Arial"/>
                <a:cs typeface="Arial"/>
                <a:sym typeface="Arial"/>
              </a:defRPr>
            </a:lvl1pPr>
          </a:lstStyle>
          <a:p>
            <a:pPr/>
            <a:r>
              <a:t>v_privilege_escalation_timeline</a:t>
            </a:r>
          </a:p>
        </p:txBody>
      </p:sp>
      <p:sp>
        <p:nvSpPr>
          <p:cNvPr id="220" name="Text 82"/>
          <p:cNvSpPr txBox="1"/>
          <p:nvPr/>
        </p:nvSpPr>
        <p:spPr>
          <a:xfrm>
            <a:off x="3467100" y="8508802"/>
            <a:ext cx="7448964"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defRPr sz="1152">
                <a:solidFill>
                  <a:srgbClr val="7EC1FF"/>
                </a:solidFill>
                <a:latin typeface="Arial"/>
                <a:ea typeface="Arial"/>
                <a:cs typeface="Arial"/>
                <a:sym typeface="Arial"/>
              </a:defRPr>
            </a:lvl1pPr>
          </a:lstStyle>
          <a:p>
            <a:pPr/>
            <a:r>
              <a:t>naman_view_privilege_escalation_timeline.sql</a:t>
            </a:r>
          </a:p>
        </p:txBody>
      </p:sp>
      <p:sp>
        <p:nvSpPr>
          <p:cNvPr id="221" name="Shape 83"/>
          <p:cNvSpPr/>
          <p:nvPr/>
        </p:nvSpPr>
        <p:spPr>
          <a:xfrm>
            <a:off x="10870555" y="8826301"/>
            <a:ext cx="6464946" cy="12701"/>
          </a:xfrm>
          <a:prstGeom prst="rect">
            <a:avLst/>
          </a:prstGeom>
          <a:solidFill>
            <a:srgbClr val="232A3A"/>
          </a:solidFill>
          <a:ln w="12700">
            <a:miter lim="400000"/>
          </a:ln>
        </p:spPr>
        <p:txBody>
          <a:bodyPr lIns="45719" rIns="45719"/>
          <a:lstStyle/>
          <a:p>
            <a:pPr/>
          </a:p>
        </p:txBody>
      </p:sp>
      <p:sp>
        <p:nvSpPr>
          <p:cNvPr id="222" name="Shape 84"/>
          <p:cNvSpPr/>
          <p:nvPr/>
        </p:nvSpPr>
        <p:spPr>
          <a:xfrm>
            <a:off x="11042005" y="8232577"/>
            <a:ext cx="1136304" cy="247651"/>
          </a:xfrm>
          <a:prstGeom prst="roundRect">
            <a:avLst>
              <a:gd name="adj" fmla="val 11538"/>
            </a:avLst>
          </a:prstGeom>
          <a:solidFill>
            <a:srgbClr val="1A2030"/>
          </a:solidFill>
          <a:ln>
            <a:solidFill>
              <a:srgbClr val="2C3548"/>
            </a:solidFill>
          </a:ln>
        </p:spPr>
        <p:txBody>
          <a:bodyPr lIns="45719" rIns="45719"/>
          <a:lstStyle/>
          <a:p>
            <a:pPr/>
          </a:p>
        </p:txBody>
      </p:sp>
      <p:sp>
        <p:nvSpPr>
          <p:cNvPr id="223" name="Text 85"/>
          <p:cNvSpPr txBox="1"/>
          <p:nvPr/>
        </p:nvSpPr>
        <p:spPr>
          <a:xfrm>
            <a:off x="11146780" y="8280202"/>
            <a:ext cx="1002954"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000">
                <a:solidFill>
                  <a:srgbClr val="C3CAD8"/>
                </a:solidFill>
                <a:latin typeface="Arial"/>
                <a:ea typeface="Arial"/>
                <a:cs typeface="Arial"/>
                <a:sym typeface="Arial"/>
              </a:defRPr>
            </a:lvl1pPr>
          </a:lstStyle>
          <a:p>
            <a:pPr/>
            <a:r>
              <a:t>SAVED VIEW</a:t>
            </a:r>
          </a:p>
        </p:txBody>
      </p:sp>
      <p:sp>
        <p:nvSpPr>
          <p:cNvPr id="224" name="Shape 86"/>
          <p:cNvSpPr/>
          <p:nvPr/>
        </p:nvSpPr>
        <p:spPr>
          <a:xfrm>
            <a:off x="12235457" y="8232577"/>
            <a:ext cx="772419" cy="247651"/>
          </a:xfrm>
          <a:prstGeom prst="roundRect">
            <a:avLst>
              <a:gd name="adj" fmla="val 11538"/>
            </a:avLst>
          </a:prstGeom>
          <a:solidFill>
            <a:srgbClr val="1A2030"/>
          </a:solidFill>
          <a:ln>
            <a:solidFill>
              <a:srgbClr val="2C3548"/>
            </a:solidFill>
          </a:ln>
        </p:spPr>
        <p:txBody>
          <a:bodyPr lIns="45719" rIns="45719"/>
          <a:lstStyle/>
          <a:p>
            <a:pPr/>
          </a:p>
        </p:txBody>
      </p:sp>
      <p:sp>
        <p:nvSpPr>
          <p:cNvPr id="225" name="Text 87"/>
          <p:cNvSpPr txBox="1"/>
          <p:nvPr/>
        </p:nvSpPr>
        <p:spPr>
          <a:xfrm>
            <a:off x="12340232" y="8280202"/>
            <a:ext cx="639069"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000">
                <a:solidFill>
                  <a:srgbClr val="C3CAD8"/>
                </a:solidFill>
                <a:latin typeface="Arial"/>
                <a:ea typeface="Arial"/>
                <a:cs typeface="Arial"/>
                <a:sym typeface="Arial"/>
              </a:defRPr>
            </a:lvl1pPr>
          </a:lstStyle>
          <a:p>
            <a:pPr/>
            <a:r>
              <a:t>JOIN ≥8</a:t>
            </a:r>
          </a:p>
        </p:txBody>
      </p:sp>
      <p:sp>
        <p:nvSpPr>
          <p:cNvPr id="226" name="Shape 88"/>
          <p:cNvSpPr/>
          <p:nvPr/>
        </p:nvSpPr>
        <p:spPr>
          <a:xfrm>
            <a:off x="3295649" y="9426376"/>
            <a:ext cx="7574907" cy="12701"/>
          </a:xfrm>
          <a:prstGeom prst="rect">
            <a:avLst/>
          </a:prstGeom>
          <a:solidFill>
            <a:srgbClr val="232A3A"/>
          </a:solidFill>
          <a:ln w="12700">
            <a:miter lim="400000"/>
          </a:ln>
        </p:spPr>
        <p:txBody>
          <a:bodyPr lIns="45719" rIns="45719"/>
          <a:lstStyle/>
          <a:p>
            <a:pPr/>
          </a:p>
        </p:txBody>
      </p:sp>
      <p:sp>
        <p:nvSpPr>
          <p:cNvPr id="227" name="Text 89"/>
          <p:cNvSpPr txBox="1"/>
          <p:nvPr/>
        </p:nvSpPr>
        <p:spPr>
          <a:xfrm>
            <a:off x="3467100" y="8989814"/>
            <a:ext cx="7459251" cy="3238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500">
                <a:solidFill>
                  <a:srgbClr val="E8ECF4"/>
                </a:solidFill>
                <a:latin typeface="-apple-system"/>
                <a:ea typeface="-apple-system"/>
                <a:cs typeface="-apple-system"/>
                <a:sym typeface="-apple-system"/>
              </a:defRPr>
            </a:lvl1pPr>
          </a:lstStyle>
          <a:p>
            <a:pPr/>
            <a:r>
              <a:t>Audit-type density per phase, service baselines</a:t>
            </a:r>
          </a:p>
        </p:txBody>
      </p:sp>
      <p:sp>
        <p:nvSpPr>
          <p:cNvPr id="228" name="Shape 90"/>
          <p:cNvSpPr/>
          <p:nvPr/>
        </p:nvSpPr>
        <p:spPr>
          <a:xfrm>
            <a:off x="10870555" y="9426376"/>
            <a:ext cx="6464946" cy="12701"/>
          </a:xfrm>
          <a:prstGeom prst="rect">
            <a:avLst/>
          </a:prstGeom>
          <a:solidFill>
            <a:srgbClr val="232A3A"/>
          </a:solidFill>
          <a:ln w="12700">
            <a:miter lim="400000"/>
          </a:ln>
        </p:spPr>
        <p:txBody>
          <a:bodyPr lIns="45719" rIns="45719"/>
          <a:lstStyle/>
          <a:p>
            <a:pPr/>
          </a:p>
        </p:txBody>
      </p:sp>
      <p:sp>
        <p:nvSpPr>
          <p:cNvPr id="229" name="Shape 91"/>
          <p:cNvSpPr/>
          <p:nvPr/>
        </p:nvSpPr>
        <p:spPr>
          <a:xfrm>
            <a:off x="11042005" y="9013627"/>
            <a:ext cx="1220392" cy="247651"/>
          </a:xfrm>
          <a:prstGeom prst="roundRect">
            <a:avLst>
              <a:gd name="adj" fmla="val 11538"/>
            </a:avLst>
          </a:prstGeom>
          <a:solidFill>
            <a:srgbClr val="1A2030"/>
          </a:solidFill>
          <a:ln>
            <a:solidFill>
              <a:srgbClr val="2C3548"/>
            </a:solidFill>
          </a:ln>
        </p:spPr>
        <p:txBody>
          <a:bodyPr lIns="45719" rIns="45719"/>
          <a:lstStyle/>
          <a:p>
            <a:pPr/>
          </a:p>
        </p:txBody>
      </p:sp>
      <p:sp>
        <p:nvSpPr>
          <p:cNvPr id="230" name="Text 92"/>
          <p:cNvSpPr txBox="1"/>
          <p:nvPr/>
        </p:nvSpPr>
        <p:spPr>
          <a:xfrm>
            <a:off x="11146780" y="9061252"/>
            <a:ext cx="1087042"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000">
                <a:solidFill>
                  <a:srgbClr val="C3CAD8"/>
                </a:solidFill>
                <a:latin typeface="Arial"/>
                <a:ea typeface="Arial"/>
                <a:cs typeface="Arial"/>
                <a:sym typeface="Arial"/>
              </a:defRPr>
            </a:lvl1pPr>
          </a:lstStyle>
          <a:p>
            <a:pPr/>
            <a:r>
              <a:t>DENSE_RANK</a:t>
            </a:r>
          </a:p>
        </p:txBody>
      </p:sp>
      <p:sp>
        <p:nvSpPr>
          <p:cNvPr id="231" name="Shape 93"/>
          <p:cNvSpPr/>
          <p:nvPr/>
        </p:nvSpPr>
        <p:spPr>
          <a:xfrm>
            <a:off x="12319545" y="9013627"/>
            <a:ext cx="858739" cy="247651"/>
          </a:xfrm>
          <a:prstGeom prst="roundRect">
            <a:avLst>
              <a:gd name="adj" fmla="val 11538"/>
            </a:avLst>
          </a:prstGeom>
          <a:solidFill>
            <a:srgbClr val="1A2030"/>
          </a:solidFill>
          <a:ln>
            <a:solidFill>
              <a:srgbClr val="2C3548"/>
            </a:solidFill>
          </a:ln>
        </p:spPr>
        <p:txBody>
          <a:bodyPr lIns="45719" rIns="45719"/>
          <a:lstStyle/>
          <a:p>
            <a:pPr/>
          </a:p>
        </p:txBody>
      </p:sp>
      <p:sp>
        <p:nvSpPr>
          <p:cNvPr id="232" name="Text 94"/>
          <p:cNvSpPr txBox="1"/>
          <p:nvPr/>
        </p:nvSpPr>
        <p:spPr>
          <a:xfrm>
            <a:off x="12424320" y="9061252"/>
            <a:ext cx="725389"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000">
                <a:solidFill>
                  <a:srgbClr val="C3CAD8"/>
                </a:solidFill>
                <a:latin typeface="Arial"/>
                <a:ea typeface="Arial"/>
                <a:cs typeface="Arial"/>
                <a:sym typeface="Arial"/>
              </a:defRPr>
            </a:lvl1pPr>
          </a:lstStyle>
          <a:p>
            <a:pPr/>
            <a:r>
              <a:t>WINDOW</a:t>
            </a:r>
          </a:p>
        </p:txBody>
      </p:sp>
      <p:sp>
        <p:nvSpPr>
          <p:cNvPr id="233" name="Shape 95"/>
          <p:cNvSpPr/>
          <p:nvPr/>
        </p:nvSpPr>
        <p:spPr>
          <a:xfrm>
            <a:off x="13235433" y="9013627"/>
            <a:ext cx="663179" cy="247651"/>
          </a:xfrm>
          <a:prstGeom prst="roundRect">
            <a:avLst>
              <a:gd name="adj" fmla="val 11538"/>
            </a:avLst>
          </a:prstGeom>
          <a:solidFill>
            <a:srgbClr val="1A2030"/>
          </a:solidFill>
          <a:ln>
            <a:solidFill>
              <a:srgbClr val="2C3548"/>
            </a:solidFill>
          </a:ln>
        </p:spPr>
        <p:txBody>
          <a:bodyPr lIns="45719" rIns="45719"/>
          <a:lstStyle/>
          <a:p>
            <a:pPr/>
          </a:p>
        </p:txBody>
      </p:sp>
      <p:sp>
        <p:nvSpPr>
          <p:cNvPr id="234" name="Text 96"/>
          <p:cNvSpPr txBox="1"/>
          <p:nvPr/>
        </p:nvSpPr>
        <p:spPr>
          <a:xfrm>
            <a:off x="13340208" y="9061252"/>
            <a:ext cx="529829"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000">
                <a:solidFill>
                  <a:srgbClr val="C3CAD8"/>
                </a:solidFill>
                <a:latin typeface="Arial"/>
                <a:ea typeface="Arial"/>
                <a:cs typeface="Arial"/>
                <a:sym typeface="Arial"/>
              </a:defRPr>
            </a:lvl1pPr>
          </a:lstStyle>
          <a:p>
            <a:pPr/>
            <a:r>
              <a:t>BASIC</a:t>
            </a:r>
          </a:p>
        </p:txBody>
      </p:sp>
      <p:sp>
        <p:nvSpPr>
          <p:cNvPr id="235" name="Shape 97"/>
          <p:cNvSpPr/>
          <p:nvPr/>
        </p:nvSpPr>
        <p:spPr>
          <a:xfrm>
            <a:off x="952500" y="9647237"/>
            <a:ext cx="16383000" cy="12701"/>
          </a:xfrm>
          <a:prstGeom prst="rect">
            <a:avLst/>
          </a:prstGeom>
          <a:solidFill>
            <a:srgbClr val="232A3A"/>
          </a:solidFill>
          <a:ln w="12700">
            <a:miter lim="400000"/>
          </a:ln>
        </p:spPr>
        <p:txBody>
          <a:bodyPr lIns="45719" rIns="45719"/>
          <a:lstStyle/>
          <a:p>
            <a:pPr/>
          </a:p>
        </p:txBody>
      </p:sp>
      <p:sp>
        <p:nvSpPr>
          <p:cNvPr id="236" name="Text 98"/>
          <p:cNvSpPr txBox="1"/>
          <p:nvPr/>
        </p:nvSpPr>
        <p:spPr>
          <a:xfrm>
            <a:off x="952499" y="9810750"/>
            <a:ext cx="5654673" cy="20955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defTabSz="877823">
              <a:defRPr spc="96" sz="1152">
                <a:solidFill>
                  <a:srgbClr val="8A93A6"/>
                </a:solidFill>
                <a:latin typeface="Arial"/>
                <a:ea typeface="Arial"/>
                <a:cs typeface="Arial"/>
                <a:sym typeface="Arial"/>
              </a:defRPr>
            </a:pPr>
            <a:r>
              <a:t>05 / 11 · RIVER · 0:50 · </a:t>
            </a:r>
            <a:r>
              <a:rPr>
                <a:solidFill>
                  <a:srgbClr val="FF5A4E"/>
                </a:solidFill>
              </a:rPr>
              <a:t>● </a:t>
            </a:r>
            <a:r>
              <a:t>SPOTLIGHT ON SLIDES 6 TO 9</a:t>
            </a:r>
          </a:p>
        </p:txBody>
      </p:sp>
      <p:sp>
        <p:nvSpPr>
          <p:cNvPr id="237" name="Text 99"/>
          <p:cNvSpPr txBox="1"/>
          <p:nvPr/>
        </p:nvSpPr>
        <p:spPr>
          <a:xfrm>
            <a:off x="11083676" y="9810750"/>
            <a:ext cx="6439380" cy="20955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defRPr spc="96" sz="1152">
                <a:solidFill>
                  <a:srgbClr val="8A93A6"/>
                </a:solidFill>
                <a:latin typeface="Arial"/>
                <a:ea typeface="Arial"/>
                <a:cs typeface="Arial"/>
                <a:sym typeface="Arial"/>
              </a:defRPr>
            </a:lvl1pPr>
          </a:lstStyle>
          <a:p>
            <a:pPr/>
            <a:r>
              <a:t>23 QUERY ITEMS · 7 BASIC + 16 ADVANCED · 6 SQL CATEGORIES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B0D12"/>
        </a:solidFill>
      </p:bgPr>
    </p:bg>
    <p:spTree>
      <p:nvGrpSpPr>
        <p:cNvPr id="1" name=""/>
        <p:cNvGrpSpPr/>
        <p:nvPr/>
      </p:nvGrpSpPr>
      <p:grpSpPr>
        <a:xfrm>
          <a:off x="0" y="0"/>
          <a:ext cx="0" cy="0"/>
          <a:chOff x="0" y="0"/>
          <a:chExt cx="0" cy="0"/>
        </a:xfrm>
      </p:grpSpPr>
      <p:sp>
        <p:nvSpPr>
          <p:cNvPr id="241" name="Shape 0"/>
          <p:cNvSpPr/>
          <p:nvPr/>
        </p:nvSpPr>
        <p:spPr>
          <a:xfrm>
            <a:off x="952500" y="1055687"/>
            <a:ext cx="16383000" cy="12701"/>
          </a:xfrm>
          <a:prstGeom prst="rect">
            <a:avLst/>
          </a:prstGeom>
          <a:solidFill>
            <a:srgbClr val="232A3A"/>
          </a:solidFill>
          <a:ln w="12700">
            <a:miter lim="400000"/>
          </a:ln>
        </p:spPr>
        <p:txBody>
          <a:bodyPr lIns="45719" rIns="45719"/>
          <a:lstStyle/>
          <a:p>
            <a:pPr/>
          </a:p>
        </p:txBody>
      </p:sp>
      <p:sp>
        <p:nvSpPr>
          <p:cNvPr id="242" name="Text 1"/>
          <p:cNvSpPr txBox="1"/>
          <p:nvPr/>
        </p:nvSpPr>
        <p:spPr>
          <a:xfrm>
            <a:off x="952499" y="609600"/>
            <a:ext cx="4508195" cy="25717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defRPr b="1" spc="200" sz="1300">
                <a:solidFill>
                  <a:srgbClr val="FF5A4E"/>
                </a:solidFill>
                <a:latin typeface="Arial"/>
                <a:ea typeface="Arial"/>
                <a:cs typeface="Arial"/>
                <a:sym typeface="Arial"/>
              </a:defRPr>
            </a:pPr>
            <a:r>
              <a:t>DEEP DIVE 01 </a:t>
            </a:r>
            <a:r>
              <a:rPr b="0">
                <a:solidFill>
                  <a:srgbClr val="C3CAD8"/>
                </a:solidFill>
              </a:rPr>
              <a:t>/ CTE + NTILE WINDOW</a:t>
            </a:r>
          </a:p>
        </p:txBody>
      </p:sp>
      <p:sp>
        <p:nvSpPr>
          <p:cNvPr id="243" name="Text 2"/>
          <p:cNvSpPr txBox="1"/>
          <p:nvPr/>
        </p:nvSpPr>
        <p:spPr>
          <a:xfrm>
            <a:off x="11251703" y="628650"/>
            <a:ext cx="6266311" cy="23812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defRPr spc="200" sz="1300">
                <a:solidFill>
                  <a:srgbClr val="8A93A6"/>
                </a:solidFill>
                <a:latin typeface="Arial"/>
                <a:ea typeface="Arial"/>
                <a:cs typeface="Arial"/>
                <a:sym typeface="Arial"/>
              </a:defRPr>
            </a:pPr>
            <a:r>
              <a:t>RIVER · </a:t>
            </a:r>
            <a:r>
              <a:rPr sz="1200">
                <a:solidFill>
                  <a:srgbClr val="E8ECF4"/>
                </a:solidFill>
              </a:rPr>
              <a:t>RIVER_FOOTHOLD_TO_ESCALATE_JOURNEY.SQL</a:t>
            </a:r>
          </a:p>
        </p:txBody>
      </p:sp>
      <p:sp>
        <p:nvSpPr>
          <p:cNvPr id="244" name="Text 3"/>
          <p:cNvSpPr txBox="1"/>
          <p:nvPr/>
        </p:nvSpPr>
        <p:spPr>
          <a:xfrm>
            <a:off x="952500" y="1600200"/>
            <a:ext cx="16874490" cy="135909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defTabSz="859536">
              <a:lnSpc>
                <a:spcPct val="108000"/>
              </a:lnSpc>
              <a:defRPr spc="-94" sz="4512">
                <a:solidFill>
                  <a:srgbClr val="E8ECF4"/>
                </a:solidFill>
                <a:latin typeface="Arial"/>
                <a:ea typeface="Arial"/>
                <a:cs typeface="Arial"/>
                <a:sym typeface="Arial"/>
              </a:defRPr>
            </a:pPr>
            <a:r>
              <a:t>Where in </a:t>
            </a:r>
            <a:r>
              <a:rPr spc="-94" sz="4136"/>
              <a:t>access.log.2 </a:t>
            </a:r>
            <a:r>
              <a:t>does the foothold turn into escalation evidence?</a:t>
            </a:r>
          </a:p>
        </p:txBody>
      </p:sp>
      <p:sp>
        <p:nvSpPr>
          <p:cNvPr id="245" name="Shape 4"/>
          <p:cNvSpPr/>
          <p:nvPr/>
        </p:nvSpPr>
        <p:spPr>
          <a:xfrm>
            <a:off x="952500" y="3264098"/>
            <a:ext cx="6703666" cy="4992440"/>
          </a:xfrm>
          <a:prstGeom prst="roundRect">
            <a:avLst>
              <a:gd name="adj" fmla="val 1145"/>
            </a:avLst>
          </a:prstGeom>
          <a:solidFill>
            <a:srgbClr val="1C2230"/>
          </a:solidFill>
          <a:ln>
            <a:solidFill>
              <a:srgbClr val="2C3548"/>
            </a:solidFill>
          </a:ln>
        </p:spPr>
        <p:txBody>
          <a:bodyPr lIns="45719" rIns="45719"/>
          <a:lstStyle/>
          <a:p>
            <a:pPr/>
          </a:p>
        </p:txBody>
      </p:sp>
      <p:sp>
        <p:nvSpPr>
          <p:cNvPr id="246" name="Text 5"/>
          <p:cNvSpPr txBox="1"/>
          <p:nvPr/>
        </p:nvSpPr>
        <p:spPr>
          <a:xfrm>
            <a:off x="1228724" y="3502223"/>
            <a:ext cx="6352327" cy="455429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defTabSz="731520">
              <a:lnSpc>
                <a:spcPct val="155000"/>
              </a:lnSpc>
              <a:defRPr sz="1040">
                <a:solidFill>
                  <a:srgbClr val="FF8FB3"/>
                </a:solidFill>
                <a:latin typeface="Arial"/>
                <a:ea typeface="Arial"/>
                <a:cs typeface="Arial"/>
                <a:sym typeface="Arial"/>
              </a:defRPr>
            </a:pPr>
            <a:r>
              <a:t>WITH</a:t>
            </a:r>
            <a:r>
              <a:rPr>
                <a:solidFill>
                  <a:srgbClr val="E8ECF4"/>
                </a:solidFill>
              </a:rPr>
              <a:t> access_labels </a:t>
            </a:r>
            <a:r>
              <a:t>AS </a:t>
            </a:r>
            <a:r>
              <a:rPr>
                <a:solidFill>
                  <a:srgbClr val="E8ECF4"/>
                </a:solidFill>
              </a:rPr>
              <a:t> (</a:t>
            </a:r>
          </a:p>
          <a:p>
            <a:pPr defTabSz="731520">
              <a:lnSpc>
                <a:spcPct val="155000"/>
              </a:lnSpc>
              <a:defRPr sz="1040">
                <a:solidFill>
                  <a:srgbClr val="E8ECF4"/>
                </a:solidFill>
                <a:latin typeface="Arial"/>
                <a:ea typeface="Arial"/>
                <a:cs typeface="Arial"/>
                <a:sym typeface="Arial"/>
              </a:defRPr>
            </a:pPr>
            <a:r>
              <a:t>   </a:t>
            </a:r>
          </a:p>
          <a:p>
            <a:pPr defTabSz="731520">
              <a:lnSpc>
                <a:spcPct val="155000"/>
              </a:lnSpc>
              <a:defRPr sz="1040">
                <a:solidFill>
                  <a:srgbClr val="FF8FB3"/>
                </a:solidFill>
                <a:latin typeface="Arial"/>
                <a:ea typeface="Arial"/>
                <a:cs typeface="Arial"/>
                <a:sym typeface="Arial"/>
              </a:defRPr>
            </a:pPr>
            <a:r>
              <a:t>SELECT </a:t>
            </a:r>
            <a:r>
              <a:rPr>
                <a:solidFill>
                  <a:srgbClr val="E8ECF4"/>
                </a:solidFill>
              </a:rPr>
              <a:t> ll.line_number,</a:t>
            </a:r>
          </a:p>
          <a:p>
            <a:pPr defTabSz="731520">
              <a:lnSpc>
                <a:spcPct val="155000"/>
              </a:lnSpc>
              <a:defRPr sz="1040">
                <a:solidFill>
                  <a:srgbClr val="E8ECF4"/>
                </a:solidFill>
                <a:latin typeface="Arial"/>
                <a:ea typeface="Arial"/>
                <a:cs typeface="Arial"/>
                <a:sym typeface="Arial"/>
              </a:defRPr>
            </a:pPr>
            <a:r>
              <a:t>         al.label_name,</a:t>
            </a:r>
          </a:p>
          <a:p>
            <a:pPr defTabSz="731520">
              <a:lnSpc>
                <a:spcPct val="155000"/>
              </a:lnSpc>
              <a:defRPr sz="1040">
                <a:solidFill>
                  <a:srgbClr val="E8ECF4"/>
                </a:solidFill>
                <a:latin typeface="Arial"/>
                <a:ea typeface="Arial"/>
                <a:cs typeface="Arial"/>
                <a:sym typeface="Arial"/>
              </a:defRPr>
            </a:pPr>
            <a:r>
              <a:t>         ap.phase_name,</a:t>
            </a:r>
          </a:p>
          <a:p>
            <a:pPr defTabSz="731520">
              <a:lnSpc>
                <a:spcPct val="155000"/>
              </a:lnSpc>
              <a:defRPr sz="1040">
                <a:solidFill>
                  <a:srgbClr val="E8ECF4"/>
                </a:solidFill>
                <a:latin typeface="Arial"/>
                <a:ea typeface="Arial"/>
                <a:cs typeface="Arial"/>
                <a:sym typeface="Arial"/>
              </a:defRPr>
            </a:pPr>
            <a:r>
              <a:t>          </a:t>
            </a:r>
          </a:p>
          <a:p>
            <a:pPr defTabSz="731520">
              <a:lnSpc>
                <a:spcPct val="155000"/>
              </a:lnSpc>
              <a:defRPr sz="1040">
                <a:solidFill>
                  <a:srgbClr val="7EC1FF"/>
                </a:solidFill>
                <a:latin typeface="Arial"/>
                <a:ea typeface="Arial"/>
                <a:cs typeface="Arial"/>
                <a:sym typeface="Arial"/>
              </a:defRPr>
            </a:pPr>
            <a:r>
              <a:t>NTILE</a:t>
            </a:r>
            <a:r>
              <a:rPr>
                <a:solidFill>
                  <a:srgbClr val="E8ECF4"/>
                </a:solidFill>
              </a:rPr>
              <a:t>(</a:t>
            </a:r>
            <a:r>
              <a:rPr>
                <a:solidFill>
                  <a:srgbClr val="F7C97A"/>
                </a:solidFill>
              </a:rPr>
              <a:t>3</a:t>
            </a:r>
            <a:r>
              <a:rPr>
                <a:solidFill>
                  <a:srgbClr val="E8ECF4"/>
                </a:solidFill>
              </a:rPr>
              <a:t>) </a:t>
            </a:r>
            <a:r>
              <a:rPr>
                <a:solidFill>
                  <a:srgbClr val="FF8FB3"/>
                </a:solidFill>
              </a:rPr>
              <a:t>OVER</a:t>
            </a:r>
            <a:r>
              <a:rPr>
                <a:solidFill>
                  <a:srgbClr val="E8ECF4"/>
                </a:solidFill>
              </a:rPr>
              <a:t> (</a:t>
            </a:r>
            <a:r>
              <a:rPr>
                <a:solidFill>
                  <a:srgbClr val="FF8FB3"/>
                </a:solidFill>
              </a:rPr>
              <a:t>ORDER BY</a:t>
            </a:r>
            <a:r>
              <a:rPr>
                <a:solidFill>
                  <a:srgbClr val="E8ECF4"/>
                </a:solidFill>
              </a:rPr>
              <a:t> ll.line_number) </a:t>
            </a:r>
            <a:r>
              <a:rPr>
                <a:solidFill>
                  <a:srgbClr val="FF8FB3"/>
                </a:solidFill>
              </a:rPr>
              <a:t>AS </a:t>
            </a:r>
            <a:r>
              <a:rPr>
                <a:solidFill>
                  <a:srgbClr val="E8ECF4"/>
                </a:solidFill>
              </a:rPr>
              <a:t> journey_third</a:t>
            </a:r>
          </a:p>
          <a:p>
            <a:pPr defTabSz="731520">
              <a:lnSpc>
                <a:spcPct val="155000"/>
              </a:lnSpc>
              <a:defRPr sz="1040">
                <a:solidFill>
                  <a:srgbClr val="E8ECF4"/>
                </a:solidFill>
                <a:latin typeface="Arial"/>
                <a:ea typeface="Arial"/>
                <a:cs typeface="Arial"/>
                <a:sym typeface="Arial"/>
              </a:defRPr>
            </a:pPr>
            <a:r>
              <a:t>   </a:t>
            </a:r>
          </a:p>
          <a:p>
            <a:pPr defTabSz="731520">
              <a:lnSpc>
                <a:spcPct val="155000"/>
              </a:lnSpc>
              <a:defRPr sz="1040">
                <a:solidFill>
                  <a:srgbClr val="FF8FB3"/>
                </a:solidFill>
                <a:latin typeface="Arial"/>
                <a:ea typeface="Arial"/>
                <a:cs typeface="Arial"/>
                <a:sym typeface="Arial"/>
              </a:defRPr>
            </a:pPr>
            <a:r>
              <a:t>FROM </a:t>
            </a:r>
            <a:r>
              <a:rPr>
                <a:solidFill>
                  <a:srgbClr val="E8ECF4"/>
                </a:solidFill>
              </a:rPr>
              <a:t> labeled_line ll</a:t>
            </a:r>
          </a:p>
          <a:p>
            <a:pPr defTabSz="731520">
              <a:lnSpc>
                <a:spcPct val="155000"/>
              </a:lnSpc>
              <a:defRPr sz="1040">
                <a:solidFill>
                  <a:srgbClr val="E8ECF4"/>
                </a:solidFill>
                <a:latin typeface="Arial"/>
                <a:ea typeface="Arial"/>
                <a:cs typeface="Arial"/>
                <a:sym typeface="Arial"/>
              </a:defRPr>
            </a:pPr>
            <a:r>
              <a:t>   </a:t>
            </a:r>
          </a:p>
          <a:p>
            <a:pPr defTabSz="731520">
              <a:lnSpc>
                <a:spcPct val="155000"/>
              </a:lnSpc>
              <a:defRPr sz="1040">
                <a:solidFill>
                  <a:srgbClr val="FF8FB3"/>
                </a:solidFill>
                <a:latin typeface="Arial"/>
                <a:ea typeface="Arial"/>
                <a:cs typeface="Arial"/>
                <a:sym typeface="Arial"/>
              </a:defRPr>
            </a:pPr>
            <a:r>
              <a:t>JOIN</a:t>
            </a:r>
            <a:r>
              <a:rPr>
                <a:solidFill>
                  <a:srgbClr val="E8ECF4"/>
                </a:solidFill>
              </a:rPr>
              <a:t> labeled_line_label lll </a:t>
            </a:r>
            <a:r>
              <a:t>ON </a:t>
            </a:r>
            <a:r>
              <a:rPr>
                <a:solidFill>
                  <a:srgbClr val="E8ECF4"/>
                </a:solidFill>
              </a:rPr>
              <a:t> lll.labeled_line_id = ll.labeled_line_id</a:t>
            </a:r>
          </a:p>
          <a:p>
            <a:pPr defTabSz="731520">
              <a:lnSpc>
                <a:spcPct val="155000"/>
              </a:lnSpc>
              <a:defRPr sz="1040">
                <a:solidFill>
                  <a:srgbClr val="E8ECF4"/>
                </a:solidFill>
                <a:latin typeface="Arial"/>
                <a:ea typeface="Arial"/>
                <a:cs typeface="Arial"/>
                <a:sym typeface="Arial"/>
              </a:defRPr>
            </a:pPr>
            <a:r>
              <a:t>   </a:t>
            </a:r>
          </a:p>
          <a:p>
            <a:pPr defTabSz="731520">
              <a:lnSpc>
                <a:spcPct val="155000"/>
              </a:lnSpc>
              <a:defRPr sz="1040">
                <a:solidFill>
                  <a:srgbClr val="FF8FB3"/>
                </a:solidFill>
                <a:latin typeface="Arial"/>
                <a:ea typeface="Arial"/>
                <a:cs typeface="Arial"/>
                <a:sym typeface="Arial"/>
              </a:defRPr>
            </a:pPr>
            <a:r>
              <a:t>JOIN</a:t>
            </a:r>
            <a:r>
              <a:rPr>
                <a:solidFill>
                  <a:srgbClr val="E8ECF4"/>
                </a:solidFill>
              </a:rPr>
              <a:t> attack_label al        </a:t>
            </a:r>
            <a:r>
              <a:t>ON </a:t>
            </a:r>
            <a:r>
              <a:rPr>
                <a:solidFill>
                  <a:srgbClr val="E8ECF4"/>
                </a:solidFill>
              </a:rPr>
              <a:t> al.label_id = lll.label_id</a:t>
            </a:r>
          </a:p>
          <a:p>
            <a:pPr defTabSz="731520">
              <a:lnSpc>
                <a:spcPct val="155000"/>
              </a:lnSpc>
              <a:defRPr sz="1040">
                <a:solidFill>
                  <a:srgbClr val="E8ECF4"/>
                </a:solidFill>
                <a:latin typeface="Arial"/>
                <a:ea typeface="Arial"/>
                <a:cs typeface="Arial"/>
                <a:sym typeface="Arial"/>
              </a:defRPr>
            </a:pPr>
            <a:r>
              <a:t>   </a:t>
            </a:r>
          </a:p>
          <a:p>
            <a:pPr defTabSz="731520">
              <a:lnSpc>
                <a:spcPct val="155000"/>
              </a:lnSpc>
              <a:defRPr sz="1040">
                <a:solidFill>
                  <a:srgbClr val="FF8FB3"/>
                </a:solidFill>
                <a:latin typeface="Arial"/>
                <a:ea typeface="Arial"/>
                <a:cs typeface="Arial"/>
                <a:sym typeface="Arial"/>
              </a:defRPr>
            </a:pPr>
            <a:r>
              <a:t>JOIN</a:t>
            </a:r>
            <a:r>
              <a:rPr>
                <a:solidFill>
                  <a:srgbClr val="E8ECF4"/>
                </a:solidFill>
              </a:rPr>
              <a:t> attack_phase ap        </a:t>
            </a:r>
            <a:r>
              <a:t>ON </a:t>
            </a:r>
            <a:r>
              <a:rPr>
                <a:solidFill>
                  <a:srgbClr val="E8ECF4"/>
                </a:solidFill>
              </a:rPr>
              <a:t> ap.phase_id = al.phase_id</a:t>
            </a:r>
          </a:p>
          <a:p>
            <a:pPr defTabSz="731520">
              <a:lnSpc>
                <a:spcPct val="155000"/>
              </a:lnSpc>
              <a:defRPr sz="1040">
                <a:solidFill>
                  <a:srgbClr val="E8ECF4"/>
                </a:solidFill>
                <a:latin typeface="Arial"/>
                <a:ea typeface="Arial"/>
                <a:cs typeface="Arial"/>
                <a:sym typeface="Arial"/>
              </a:defRPr>
            </a:pPr>
            <a:r>
              <a:t>   </a:t>
            </a:r>
          </a:p>
          <a:p>
            <a:pPr defTabSz="731520">
              <a:lnSpc>
                <a:spcPct val="155000"/>
              </a:lnSpc>
              <a:defRPr sz="1040">
                <a:solidFill>
                  <a:srgbClr val="FF8FB3"/>
                </a:solidFill>
                <a:latin typeface="Arial"/>
                <a:ea typeface="Arial"/>
                <a:cs typeface="Arial"/>
                <a:sym typeface="Arial"/>
              </a:defRPr>
            </a:pPr>
            <a:r>
              <a:t>WHERE</a:t>
            </a:r>
            <a:r>
              <a:rPr>
                <a:solidFill>
                  <a:srgbClr val="E8ECF4"/>
                </a:solidFill>
              </a:rPr>
              <a:t> ll.source_host = </a:t>
            </a:r>
            <a:r>
              <a:rPr>
                <a:solidFill>
                  <a:srgbClr val="7DDCA0"/>
                </a:solidFill>
              </a:rPr>
              <a:t>'intranet_server' </a:t>
            </a:r>
            <a:r>
              <a:rPr>
                <a:solidFill>
                  <a:srgbClr val="E8ECF4"/>
                </a:solidFill>
              </a:rPr>
              <a:t>    </a:t>
            </a:r>
            <a:r>
              <a:t>AND</a:t>
            </a:r>
            <a:r>
              <a:rPr>
                <a:solidFill>
                  <a:srgbClr val="E8ECF4"/>
                </a:solidFill>
              </a:rPr>
              <a:t> ll.source_log  = </a:t>
            </a:r>
            <a:r>
              <a:rPr>
                <a:solidFill>
                  <a:srgbClr val="7DDCA0"/>
                </a:solidFill>
              </a:rPr>
              <a:t>'access.log.2' </a:t>
            </a:r>
            <a:r>
              <a:rPr>
                <a:solidFill>
                  <a:srgbClr val="E8ECF4"/>
                </a:solidFill>
              </a:rPr>
              <a:t>    </a:t>
            </a:r>
            <a:r>
              <a:t>AND</a:t>
            </a:r>
            <a:r>
              <a:rPr>
                <a:solidFill>
                  <a:srgbClr val="E8ECF4"/>
                </a:solidFill>
              </a:rPr>
              <a:t> ap.phase_name </a:t>
            </a:r>
            <a:r>
              <a:t>IN</a:t>
            </a:r>
            <a:r>
              <a:rPr>
                <a:solidFill>
                  <a:srgbClr val="E8ECF4"/>
                </a:solidFill>
              </a:rPr>
              <a:t> (</a:t>
            </a:r>
            <a:r>
              <a:rPr>
                <a:solidFill>
                  <a:srgbClr val="7DDCA0"/>
                </a:solidFill>
              </a:rPr>
              <a:t>'initial_access'</a:t>
            </a:r>
            <a:r>
              <a:rPr>
                <a:solidFill>
                  <a:srgbClr val="E8ECF4"/>
                </a:solidFill>
              </a:rPr>
              <a:t>, </a:t>
            </a:r>
            <a:r>
              <a:rPr>
                <a:solidFill>
                  <a:srgbClr val="7DDCA0"/>
                </a:solidFill>
              </a:rPr>
              <a:t>'privilege_escalation' </a:t>
            </a:r>
            <a:r>
              <a:rPr>
                <a:solidFill>
                  <a:srgbClr val="E8ECF4"/>
                </a:solidFill>
              </a:rPr>
              <a:t>)</a:t>
            </a:r>
          </a:p>
          <a:p>
            <a:pPr defTabSz="731520">
              <a:lnSpc>
                <a:spcPct val="155000"/>
              </a:lnSpc>
              <a:defRPr sz="1040">
                <a:solidFill>
                  <a:srgbClr val="E8ECF4"/>
                </a:solidFill>
                <a:latin typeface="Arial"/>
                <a:ea typeface="Arial"/>
                <a:cs typeface="Arial"/>
                <a:sym typeface="Arial"/>
              </a:defRPr>
            </a:pPr>
            <a:r>
              <a:t>) </a:t>
            </a:r>
          </a:p>
          <a:p>
            <a:pPr defTabSz="731520">
              <a:lnSpc>
                <a:spcPct val="155000"/>
              </a:lnSpc>
              <a:defRPr sz="1040">
                <a:solidFill>
                  <a:srgbClr val="FF8FB3"/>
                </a:solidFill>
                <a:latin typeface="Arial"/>
                <a:ea typeface="Arial"/>
                <a:cs typeface="Arial"/>
                <a:sym typeface="Arial"/>
              </a:defRPr>
            </a:pPr>
            <a:r>
              <a:t>SELECT</a:t>
            </a:r>
            <a:r>
              <a:rPr>
                <a:solidFill>
                  <a:srgbClr val="E8ECF4"/>
                </a:solidFill>
              </a:rPr>
              <a:t> journey_third, phase_name, </a:t>
            </a:r>
            <a:r>
              <a:rPr>
                <a:solidFill>
                  <a:srgbClr val="7EC1FF"/>
                </a:solidFill>
              </a:rPr>
              <a:t>COUNT</a:t>
            </a:r>
            <a:r>
              <a:rPr>
                <a:solidFill>
                  <a:srgbClr val="E8ECF4"/>
                </a:solidFill>
              </a:rPr>
              <a:t>(*) </a:t>
            </a:r>
            <a:r>
              <a:t>AS</a:t>
            </a:r>
            <a:r>
              <a:rPr>
                <a:solidFill>
                  <a:srgbClr val="E8ECF4"/>
                </a:solidFill>
              </a:rPr>
              <a:t> labeled_lines </a:t>
            </a:r>
            <a:r>
              <a:t>FROM</a:t>
            </a:r>
            <a:r>
              <a:rPr>
                <a:solidFill>
                  <a:srgbClr val="E8ECF4"/>
                </a:solidFill>
              </a:rPr>
              <a:t> access_labels </a:t>
            </a:r>
            <a:r>
              <a:t>GROUP BY</a:t>
            </a:r>
            <a:r>
              <a:rPr>
                <a:solidFill>
                  <a:srgbClr val="E8ECF4"/>
                </a:solidFill>
              </a:rPr>
              <a:t> journey_third, phase_name </a:t>
            </a:r>
            <a:r>
              <a:t>ORDER BY</a:t>
            </a:r>
            <a:r>
              <a:rPr>
                <a:solidFill>
                  <a:srgbClr val="E8ECF4"/>
                </a:solidFill>
              </a:rPr>
              <a:t> journey_third, phase_name;</a:t>
            </a:r>
          </a:p>
        </p:txBody>
      </p:sp>
      <p:sp>
        <p:nvSpPr>
          <p:cNvPr id="247" name="Shape 6"/>
          <p:cNvSpPr/>
          <p:nvPr/>
        </p:nvSpPr>
        <p:spPr>
          <a:xfrm>
            <a:off x="952499" y="8559750"/>
            <a:ext cx="2120207" cy="12701"/>
          </a:xfrm>
          <a:prstGeom prst="rect">
            <a:avLst/>
          </a:prstGeom>
          <a:solidFill>
            <a:srgbClr val="2C3548"/>
          </a:solidFill>
          <a:ln w="12700">
            <a:miter lim="400000"/>
          </a:ln>
        </p:spPr>
        <p:txBody>
          <a:bodyPr lIns="45719" rIns="45719"/>
          <a:lstStyle/>
          <a:p>
            <a:pPr/>
          </a:p>
        </p:txBody>
      </p:sp>
      <p:sp>
        <p:nvSpPr>
          <p:cNvPr id="248" name="Text 7"/>
          <p:cNvSpPr txBox="1"/>
          <p:nvPr/>
        </p:nvSpPr>
        <p:spPr>
          <a:xfrm>
            <a:off x="952499" y="8704212"/>
            <a:ext cx="2196407" cy="18097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900">
                <a:solidFill>
                  <a:srgbClr val="5D6577"/>
                </a:solidFill>
                <a:latin typeface="Arial"/>
                <a:ea typeface="Arial"/>
                <a:cs typeface="Arial"/>
                <a:sym typeface="Arial"/>
              </a:defRPr>
            </a:lvl1pPr>
          </a:lstStyle>
          <a:p>
            <a:pPr/>
            <a:r>
              <a:t>METHOD</a:t>
            </a:r>
          </a:p>
        </p:txBody>
      </p:sp>
      <p:sp>
        <p:nvSpPr>
          <p:cNvPr id="249" name="Text 8"/>
          <p:cNvSpPr txBox="1"/>
          <p:nvPr/>
        </p:nvSpPr>
        <p:spPr>
          <a:xfrm>
            <a:off x="952499" y="8923287"/>
            <a:ext cx="2196407" cy="2667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68095">
              <a:defRPr sz="1512">
                <a:solidFill>
                  <a:srgbClr val="E8ECF4"/>
                </a:solidFill>
                <a:latin typeface="Arial"/>
                <a:ea typeface="Arial"/>
                <a:cs typeface="Arial"/>
                <a:sym typeface="Arial"/>
              </a:defRPr>
            </a:lvl1pPr>
          </a:lstStyle>
          <a:p>
            <a:pPr/>
            <a:r>
              <a:t>NTILE(3)</a:t>
            </a:r>
          </a:p>
        </p:txBody>
      </p:sp>
      <p:sp>
        <p:nvSpPr>
          <p:cNvPr id="250" name="Shape 9"/>
          <p:cNvSpPr/>
          <p:nvPr/>
        </p:nvSpPr>
        <p:spPr>
          <a:xfrm>
            <a:off x="3244155" y="8559750"/>
            <a:ext cx="2120206" cy="12701"/>
          </a:xfrm>
          <a:prstGeom prst="rect">
            <a:avLst/>
          </a:prstGeom>
          <a:solidFill>
            <a:srgbClr val="2C3548"/>
          </a:solidFill>
          <a:ln w="12700">
            <a:miter lim="400000"/>
          </a:ln>
        </p:spPr>
        <p:txBody>
          <a:bodyPr lIns="45719" rIns="45719"/>
          <a:lstStyle/>
          <a:p>
            <a:pPr/>
          </a:p>
        </p:txBody>
      </p:sp>
      <p:sp>
        <p:nvSpPr>
          <p:cNvPr id="251" name="Text 10"/>
          <p:cNvSpPr txBox="1"/>
          <p:nvPr/>
        </p:nvSpPr>
        <p:spPr>
          <a:xfrm>
            <a:off x="3244155" y="8704212"/>
            <a:ext cx="2196406" cy="18097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900">
                <a:solidFill>
                  <a:srgbClr val="5D6577"/>
                </a:solidFill>
                <a:latin typeface="Arial"/>
                <a:ea typeface="Arial"/>
                <a:cs typeface="Arial"/>
                <a:sym typeface="Arial"/>
              </a:defRPr>
            </a:lvl1pPr>
          </a:lstStyle>
          <a:p>
            <a:pPr/>
            <a:r>
              <a:t>SCOPE</a:t>
            </a:r>
          </a:p>
        </p:txBody>
      </p:sp>
      <p:sp>
        <p:nvSpPr>
          <p:cNvPr id="252" name="Text 11"/>
          <p:cNvSpPr txBox="1"/>
          <p:nvPr/>
        </p:nvSpPr>
        <p:spPr>
          <a:xfrm>
            <a:off x="3244155" y="8923287"/>
            <a:ext cx="2196406" cy="2667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68095">
              <a:defRPr sz="1512">
                <a:solidFill>
                  <a:srgbClr val="E8ECF4"/>
                </a:solidFill>
                <a:latin typeface="Arial"/>
                <a:ea typeface="Arial"/>
                <a:cs typeface="Arial"/>
                <a:sym typeface="Arial"/>
              </a:defRPr>
            </a:lvl1pPr>
          </a:lstStyle>
          <a:p>
            <a:pPr/>
            <a:r>
              <a:t>2 phases</a:t>
            </a:r>
          </a:p>
        </p:txBody>
      </p:sp>
      <p:sp>
        <p:nvSpPr>
          <p:cNvPr id="253" name="Shape 12"/>
          <p:cNvSpPr/>
          <p:nvPr/>
        </p:nvSpPr>
        <p:spPr>
          <a:xfrm>
            <a:off x="5535810" y="8559750"/>
            <a:ext cx="2120206" cy="12701"/>
          </a:xfrm>
          <a:prstGeom prst="rect">
            <a:avLst/>
          </a:prstGeom>
          <a:solidFill>
            <a:srgbClr val="2C3548"/>
          </a:solidFill>
          <a:ln w="12700">
            <a:miter lim="400000"/>
          </a:ln>
        </p:spPr>
        <p:txBody>
          <a:bodyPr lIns="45719" rIns="45719"/>
          <a:lstStyle/>
          <a:p>
            <a:pPr/>
          </a:p>
        </p:txBody>
      </p:sp>
      <p:sp>
        <p:nvSpPr>
          <p:cNvPr id="254" name="Text 13"/>
          <p:cNvSpPr txBox="1"/>
          <p:nvPr/>
        </p:nvSpPr>
        <p:spPr>
          <a:xfrm>
            <a:off x="5535810" y="8704212"/>
            <a:ext cx="2196406" cy="18097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900">
                <a:solidFill>
                  <a:srgbClr val="5D6577"/>
                </a:solidFill>
                <a:latin typeface="Arial"/>
                <a:ea typeface="Arial"/>
                <a:cs typeface="Arial"/>
                <a:sym typeface="Arial"/>
              </a:defRPr>
            </a:lvl1pPr>
          </a:lstStyle>
          <a:p>
            <a:pPr/>
            <a:r>
              <a:t>SOURCE</a:t>
            </a:r>
          </a:p>
        </p:txBody>
      </p:sp>
      <p:sp>
        <p:nvSpPr>
          <p:cNvPr id="255" name="Text 14"/>
          <p:cNvSpPr txBox="1"/>
          <p:nvPr/>
        </p:nvSpPr>
        <p:spPr>
          <a:xfrm>
            <a:off x="5535810" y="8923287"/>
            <a:ext cx="2196406" cy="2667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68095">
              <a:defRPr sz="1512">
                <a:solidFill>
                  <a:srgbClr val="E8ECF4"/>
                </a:solidFill>
                <a:latin typeface="Arial"/>
                <a:ea typeface="Arial"/>
                <a:cs typeface="Arial"/>
                <a:sym typeface="Arial"/>
              </a:defRPr>
            </a:lvl1pPr>
          </a:lstStyle>
          <a:p>
            <a:pPr/>
            <a:r>
              <a:t>access.log.2</a:t>
            </a:r>
          </a:p>
        </p:txBody>
      </p:sp>
      <p:sp>
        <p:nvSpPr>
          <p:cNvPr id="256" name="Shape 15"/>
          <p:cNvSpPr/>
          <p:nvPr/>
        </p:nvSpPr>
        <p:spPr>
          <a:xfrm>
            <a:off x="8265765" y="3264098"/>
            <a:ext cx="9069735" cy="4829176"/>
          </a:xfrm>
          <a:prstGeom prst="roundRect">
            <a:avLst>
              <a:gd name="adj" fmla="val 1183"/>
            </a:avLst>
          </a:prstGeom>
          <a:solidFill>
            <a:srgbClr val="141923"/>
          </a:solidFill>
          <a:ln>
            <a:solidFill>
              <a:srgbClr val="232A3A"/>
            </a:solidFill>
          </a:ln>
        </p:spPr>
        <p:txBody>
          <a:bodyPr lIns="45719" rIns="45719"/>
          <a:lstStyle/>
          <a:p>
            <a:pPr/>
          </a:p>
        </p:txBody>
      </p:sp>
      <p:sp>
        <p:nvSpPr>
          <p:cNvPr id="257" name="Shape 16"/>
          <p:cNvSpPr/>
          <p:nvPr/>
        </p:nvSpPr>
        <p:spPr>
          <a:xfrm>
            <a:off x="8275290" y="3273623"/>
            <a:ext cx="9050686" cy="4381501"/>
          </a:xfrm>
          <a:prstGeom prst="rect">
            <a:avLst/>
          </a:prstGeom>
          <a:solidFill>
            <a:srgbClr val="000000"/>
          </a:solidFill>
          <a:ln w="12700">
            <a:miter lim="400000"/>
          </a:ln>
        </p:spPr>
        <p:txBody>
          <a:bodyPr lIns="45719" rIns="45719"/>
          <a:lstStyle/>
          <a:p>
            <a:pPr/>
          </a:p>
        </p:txBody>
      </p:sp>
      <p:pic>
        <p:nvPicPr>
          <p:cNvPr id="258" name="Image 0" descr="Image 0"/>
          <p:cNvPicPr>
            <a:picLocks noChangeAspect="1"/>
          </p:cNvPicPr>
          <p:nvPr/>
        </p:nvPicPr>
        <p:blipFill>
          <a:blip r:embed="rId3">
            <a:extLst/>
          </a:blip>
          <a:stretch>
            <a:fillRect/>
          </a:stretch>
        </p:blipFill>
        <p:spPr>
          <a:xfrm>
            <a:off x="8275290" y="3273623"/>
            <a:ext cx="9050685" cy="4381501"/>
          </a:xfrm>
          <a:prstGeom prst="rect">
            <a:avLst/>
          </a:prstGeom>
          <a:ln w="12700">
            <a:miter lim="400000"/>
          </a:ln>
        </p:spPr>
      </p:pic>
      <p:sp>
        <p:nvSpPr>
          <p:cNvPr id="259" name="Shape 17"/>
          <p:cNvSpPr/>
          <p:nvPr/>
        </p:nvSpPr>
        <p:spPr>
          <a:xfrm>
            <a:off x="8275290" y="7655122"/>
            <a:ext cx="9050686" cy="428626"/>
          </a:xfrm>
          <a:prstGeom prst="rect">
            <a:avLst/>
          </a:prstGeom>
          <a:solidFill>
            <a:srgbClr val="0F131A"/>
          </a:solidFill>
          <a:ln w="12700">
            <a:miter lim="400000"/>
          </a:ln>
        </p:spPr>
        <p:txBody>
          <a:bodyPr lIns="45719" rIns="45719"/>
          <a:lstStyle/>
          <a:p>
            <a:pPr/>
          </a:p>
        </p:txBody>
      </p:sp>
      <p:sp>
        <p:nvSpPr>
          <p:cNvPr id="260" name="Shape 18"/>
          <p:cNvSpPr/>
          <p:nvPr/>
        </p:nvSpPr>
        <p:spPr>
          <a:xfrm>
            <a:off x="8275290" y="7653535"/>
            <a:ext cx="9050686" cy="12701"/>
          </a:xfrm>
          <a:prstGeom prst="rect">
            <a:avLst/>
          </a:prstGeom>
          <a:solidFill>
            <a:srgbClr val="232A3A"/>
          </a:solidFill>
          <a:ln w="12700">
            <a:miter lim="400000"/>
          </a:ln>
        </p:spPr>
        <p:txBody>
          <a:bodyPr lIns="45719" rIns="45719"/>
          <a:lstStyle/>
          <a:p>
            <a:pPr/>
          </a:p>
        </p:txBody>
      </p:sp>
      <p:sp>
        <p:nvSpPr>
          <p:cNvPr id="261" name="Text 19"/>
          <p:cNvSpPr txBox="1"/>
          <p:nvPr/>
        </p:nvSpPr>
        <p:spPr>
          <a:xfrm>
            <a:off x="8446740" y="7797997"/>
            <a:ext cx="8979306"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1000">
                <a:solidFill>
                  <a:srgbClr val="8A93A6"/>
                </a:solidFill>
                <a:latin typeface="Arial"/>
                <a:ea typeface="Arial"/>
                <a:cs typeface="Arial"/>
                <a:sym typeface="Arial"/>
              </a:defRPr>
            </a:lvl1pPr>
          </a:lstStyle>
          <a:p>
            <a:pPr/>
            <a:r>
              <a:t>PANEL 1 · NTILE BUCKETS · LABELED LINES PER THIRD</a:t>
            </a:r>
          </a:p>
        </p:txBody>
      </p:sp>
      <p:sp>
        <p:nvSpPr>
          <p:cNvPr id="262" name="Shape 20"/>
          <p:cNvSpPr/>
          <p:nvPr/>
        </p:nvSpPr>
        <p:spPr>
          <a:xfrm>
            <a:off x="8265765" y="8264722"/>
            <a:ext cx="9069736" cy="1337222"/>
          </a:xfrm>
          <a:prstGeom prst="rect">
            <a:avLst/>
          </a:prstGeom>
          <a:solidFill>
            <a:srgbClr val="FF5A4E">
              <a:alpha val="6000"/>
            </a:srgbClr>
          </a:solidFill>
          <a:ln w="12700">
            <a:miter lim="400000"/>
          </a:ln>
        </p:spPr>
        <p:txBody>
          <a:bodyPr lIns="45719" rIns="45719"/>
          <a:lstStyle/>
          <a:p>
            <a:pPr/>
          </a:p>
        </p:txBody>
      </p:sp>
      <p:sp>
        <p:nvSpPr>
          <p:cNvPr id="263" name="Shape 21"/>
          <p:cNvSpPr/>
          <p:nvPr/>
        </p:nvSpPr>
        <p:spPr>
          <a:xfrm>
            <a:off x="8265765" y="8264722"/>
            <a:ext cx="28576" cy="1337222"/>
          </a:xfrm>
          <a:prstGeom prst="rect">
            <a:avLst/>
          </a:prstGeom>
          <a:solidFill>
            <a:srgbClr val="FF5A4E"/>
          </a:solidFill>
          <a:ln w="12700">
            <a:miter lim="400000"/>
          </a:ln>
        </p:spPr>
        <p:txBody>
          <a:bodyPr lIns="45719" rIns="45719"/>
          <a:lstStyle/>
          <a:p>
            <a:pPr/>
          </a:p>
        </p:txBody>
      </p:sp>
      <p:sp>
        <p:nvSpPr>
          <p:cNvPr id="264" name="Text 22"/>
          <p:cNvSpPr txBox="1"/>
          <p:nvPr/>
        </p:nvSpPr>
        <p:spPr>
          <a:xfrm>
            <a:off x="8522940" y="8436172"/>
            <a:ext cx="8856053" cy="1032422"/>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defTabSz="886968">
              <a:lnSpc>
                <a:spcPct val="145000"/>
              </a:lnSpc>
              <a:defRPr i="1" sz="1746">
                <a:solidFill>
                  <a:srgbClr val="E8ECF4"/>
                </a:solidFill>
                <a:latin typeface="Arial"/>
                <a:ea typeface="Arial"/>
                <a:cs typeface="Arial"/>
                <a:sym typeface="Arial"/>
              </a:defRPr>
            </a:pPr>
            <a:r>
              <a:t>Foothold spreads across all three thirds of </a:t>
            </a:r>
            <a:r>
              <a:rPr sz="1552"/>
              <a:t>access.log.2</a:t>
            </a:r>
            <a:r>
              <a:t>. </a:t>
            </a:r>
            <a:r>
              <a:rPr>
                <a:solidFill>
                  <a:srgbClr val="FF5A4E"/>
                </a:solidFill>
              </a:rPr>
              <a:t>Privilege-escalation evidence appears only in the late third. </a:t>
            </a:r>
            <a:r>
              <a:t>NTILE turns raw line position into a readable attack journey.</a:t>
            </a:r>
          </a:p>
        </p:txBody>
      </p:sp>
      <p:sp>
        <p:nvSpPr>
          <p:cNvPr id="265" name="Shape 23"/>
          <p:cNvSpPr/>
          <p:nvPr/>
        </p:nvSpPr>
        <p:spPr>
          <a:xfrm>
            <a:off x="952500" y="9647237"/>
            <a:ext cx="16383000" cy="12701"/>
          </a:xfrm>
          <a:prstGeom prst="rect">
            <a:avLst/>
          </a:prstGeom>
          <a:solidFill>
            <a:srgbClr val="232A3A"/>
          </a:solidFill>
          <a:ln w="12700">
            <a:miter lim="400000"/>
          </a:ln>
        </p:spPr>
        <p:txBody>
          <a:bodyPr lIns="45719" rIns="45719"/>
          <a:lstStyle/>
          <a:p>
            <a:pPr/>
          </a:p>
        </p:txBody>
      </p:sp>
      <p:sp>
        <p:nvSpPr>
          <p:cNvPr id="266" name="Text 24"/>
          <p:cNvSpPr txBox="1"/>
          <p:nvPr/>
        </p:nvSpPr>
        <p:spPr>
          <a:xfrm>
            <a:off x="952499" y="9810750"/>
            <a:ext cx="2288383" cy="20955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defRPr spc="96" sz="1152">
                <a:solidFill>
                  <a:srgbClr val="8A93A6"/>
                </a:solidFill>
                <a:latin typeface="Arial"/>
                <a:ea typeface="Arial"/>
                <a:cs typeface="Arial"/>
                <a:sym typeface="Arial"/>
              </a:defRPr>
            </a:lvl1pPr>
          </a:lstStyle>
          <a:p>
            <a:pPr/>
            <a:r>
              <a:t>06 / 11 · RIVER · 1:15</a:t>
            </a:r>
          </a:p>
        </p:txBody>
      </p:sp>
      <p:sp>
        <p:nvSpPr>
          <p:cNvPr id="267" name="Text 25"/>
          <p:cNvSpPr txBox="1"/>
          <p:nvPr/>
        </p:nvSpPr>
        <p:spPr>
          <a:xfrm>
            <a:off x="14585305" y="9810750"/>
            <a:ext cx="2832702" cy="20955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defRPr spc="96" sz="1152">
                <a:solidFill>
                  <a:srgbClr val="8A93A6"/>
                </a:solidFill>
                <a:latin typeface="Arial"/>
                <a:ea typeface="Arial"/>
                <a:cs typeface="Arial"/>
                <a:sym typeface="Arial"/>
              </a:defRPr>
            </a:lvl1pPr>
          </a:lstStyle>
          <a:p>
            <a:pPr/>
            <a:r>
              <a:t>DEEP DIVE 01 · CTE + NTILE</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B0D12"/>
        </a:solidFill>
      </p:bgPr>
    </p:bg>
    <p:spTree>
      <p:nvGrpSpPr>
        <p:cNvPr id="1" name=""/>
        <p:cNvGrpSpPr/>
        <p:nvPr/>
      </p:nvGrpSpPr>
      <p:grpSpPr>
        <a:xfrm>
          <a:off x="0" y="0"/>
          <a:ext cx="0" cy="0"/>
          <a:chOff x="0" y="0"/>
          <a:chExt cx="0" cy="0"/>
        </a:xfrm>
      </p:grpSpPr>
      <p:sp>
        <p:nvSpPr>
          <p:cNvPr id="271" name="Shape 0"/>
          <p:cNvSpPr/>
          <p:nvPr/>
        </p:nvSpPr>
        <p:spPr>
          <a:xfrm>
            <a:off x="952500" y="1055687"/>
            <a:ext cx="16383000" cy="12701"/>
          </a:xfrm>
          <a:prstGeom prst="rect">
            <a:avLst/>
          </a:prstGeom>
          <a:solidFill>
            <a:srgbClr val="232A3A"/>
          </a:solidFill>
          <a:ln w="12700">
            <a:miter lim="400000"/>
          </a:ln>
        </p:spPr>
        <p:txBody>
          <a:bodyPr lIns="45719" rIns="45719"/>
          <a:lstStyle/>
          <a:p>
            <a:pPr/>
          </a:p>
        </p:txBody>
      </p:sp>
      <p:sp>
        <p:nvSpPr>
          <p:cNvPr id="272" name="Text 1"/>
          <p:cNvSpPr txBox="1"/>
          <p:nvPr/>
        </p:nvSpPr>
        <p:spPr>
          <a:xfrm>
            <a:off x="952499" y="609600"/>
            <a:ext cx="5233424" cy="25717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defRPr b="1" spc="200" sz="1300">
                <a:solidFill>
                  <a:srgbClr val="FF5A4E"/>
                </a:solidFill>
                <a:latin typeface="Arial"/>
                <a:ea typeface="Arial"/>
                <a:cs typeface="Arial"/>
                <a:sym typeface="Arial"/>
              </a:defRPr>
            </a:pPr>
            <a:r>
              <a:t>DEEP DIVE 02 </a:t>
            </a:r>
            <a:r>
              <a:rPr b="0">
                <a:solidFill>
                  <a:srgbClr val="C3CAD8"/>
                </a:solidFill>
              </a:rPr>
              <a:t>/ SAVED VIEW + STRING_AGG</a:t>
            </a:r>
          </a:p>
        </p:txBody>
      </p:sp>
      <p:sp>
        <p:nvSpPr>
          <p:cNvPr id="273" name="Text 2"/>
          <p:cNvSpPr txBox="1"/>
          <p:nvPr/>
        </p:nvSpPr>
        <p:spPr>
          <a:xfrm>
            <a:off x="10961786" y="628650"/>
            <a:ext cx="6564926" cy="23812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defRPr spc="200" sz="1300">
                <a:solidFill>
                  <a:srgbClr val="8A93A6"/>
                </a:solidFill>
                <a:latin typeface="Arial"/>
                <a:ea typeface="Arial"/>
                <a:cs typeface="Arial"/>
                <a:sym typeface="Arial"/>
              </a:defRPr>
            </a:pPr>
            <a:r>
              <a:t>NAMAN · </a:t>
            </a:r>
            <a:r>
              <a:rPr sz="1200">
                <a:solidFill>
                  <a:srgbClr val="E8ECF4"/>
                </a:solidFill>
              </a:rPr>
              <a:t>NAMAN_V_PRIVILEGE_ESCALATION_TIMELINE.SQL</a:t>
            </a:r>
          </a:p>
        </p:txBody>
      </p:sp>
      <p:sp>
        <p:nvSpPr>
          <p:cNvPr id="274" name="Text 3"/>
          <p:cNvSpPr txBox="1"/>
          <p:nvPr/>
        </p:nvSpPr>
        <p:spPr>
          <a:xfrm>
            <a:off x="952500" y="1600200"/>
            <a:ext cx="16874490" cy="531763"/>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lnSpc>
                <a:spcPct val="108000"/>
              </a:lnSpc>
              <a:defRPr spc="-95" sz="3455">
                <a:solidFill>
                  <a:srgbClr val="E8ECF4"/>
                </a:solidFill>
                <a:latin typeface="Arial"/>
                <a:ea typeface="Arial"/>
                <a:cs typeface="Arial"/>
                <a:sym typeface="Arial"/>
              </a:defRPr>
            </a:lvl1pPr>
          </a:lstStyle>
          <a:p>
            <a:pPr/>
            <a:r>
              <a:t>An 8-table saved view that becomes the privilege-escalation timeline.</a:t>
            </a:r>
          </a:p>
        </p:txBody>
      </p:sp>
      <p:sp>
        <p:nvSpPr>
          <p:cNvPr id="275" name="Shape 4"/>
          <p:cNvSpPr/>
          <p:nvPr/>
        </p:nvSpPr>
        <p:spPr>
          <a:xfrm>
            <a:off x="952500" y="2436763"/>
            <a:ext cx="9201150" cy="6421488"/>
          </a:xfrm>
          <a:prstGeom prst="roundRect">
            <a:avLst>
              <a:gd name="adj" fmla="val 890"/>
            </a:avLst>
          </a:prstGeom>
          <a:solidFill>
            <a:srgbClr val="1C2230"/>
          </a:solidFill>
          <a:ln>
            <a:solidFill>
              <a:srgbClr val="2C3548"/>
            </a:solidFill>
          </a:ln>
        </p:spPr>
        <p:txBody>
          <a:bodyPr lIns="45719" rIns="45719"/>
          <a:lstStyle/>
          <a:p>
            <a:pPr/>
          </a:p>
        </p:txBody>
      </p:sp>
      <p:sp>
        <p:nvSpPr>
          <p:cNvPr id="276" name="Text 5"/>
          <p:cNvSpPr txBox="1"/>
          <p:nvPr/>
        </p:nvSpPr>
        <p:spPr>
          <a:xfrm>
            <a:off x="1228724" y="2674888"/>
            <a:ext cx="8924737" cy="598333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lnSpc>
                <a:spcPct val="150000"/>
              </a:lnSpc>
              <a:defRPr sz="1000">
                <a:solidFill>
                  <a:srgbClr val="FF8FB3"/>
                </a:solidFill>
                <a:latin typeface="Arial"/>
                <a:ea typeface="Arial"/>
                <a:cs typeface="Arial"/>
                <a:sym typeface="Arial"/>
              </a:defRPr>
            </a:pPr>
            <a:r>
              <a:t>CREATE OR REPLACE VIEW</a:t>
            </a:r>
            <a:r>
              <a:rPr>
                <a:solidFill>
                  <a:srgbClr val="E8ECF4"/>
                </a:solidFill>
              </a:rPr>
              <a:t> v_privilege_escalation_timeline  </a:t>
            </a:r>
            <a:r>
              <a:t>AS SELECT</a:t>
            </a:r>
            <a:r>
              <a:rPr>
                <a:solidFill>
                  <a:srgbClr val="E8ECF4"/>
                </a:solidFill>
              </a:rPr>
              <a:t> h.host_key                                  </a:t>
            </a:r>
            <a:r>
              <a:t>AS </a:t>
            </a:r>
            <a:r>
              <a:rPr>
                <a:solidFill>
                  <a:srgbClr val="E8ECF4"/>
                </a:solidFill>
              </a:rPr>
              <a:t> host,</a:t>
            </a:r>
          </a:p>
          <a:p>
            <a:pPr>
              <a:lnSpc>
                <a:spcPct val="150000"/>
              </a:lnSpc>
              <a:defRPr sz="1000">
                <a:solidFill>
                  <a:srgbClr val="E8ECF4"/>
                </a:solidFill>
                <a:latin typeface="Arial"/>
                <a:ea typeface="Arial"/>
                <a:cs typeface="Arial"/>
                <a:sym typeface="Arial"/>
              </a:defRPr>
            </a:pPr>
            <a:r>
              <a:t>       ae.timestamp,</a:t>
            </a:r>
          </a:p>
          <a:p>
            <a:pPr>
              <a:lnSpc>
                <a:spcPct val="150000"/>
              </a:lnSpc>
              <a:defRPr sz="1000">
                <a:solidFill>
                  <a:srgbClr val="E8ECF4"/>
                </a:solidFill>
                <a:latin typeface="Arial"/>
                <a:ea typeface="Arial"/>
                <a:cs typeface="Arial"/>
                <a:sym typeface="Arial"/>
              </a:defRPr>
            </a:pPr>
            <a:r>
              <a:t>       ae.type                                      </a:t>
            </a:r>
          </a:p>
          <a:p>
            <a:pPr>
              <a:lnSpc>
                <a:spcPct val="150000"/>
              </a:lnSpc>
              <a:defRPr sz="1000">
                <a:solidFill>
                  <a:srgbClr val="FF8FB3"/>
                </a:solidFill>
                <a:latin typeface="Arial"/>
                <a:ea typeface="Arial"/>
                <a:cs typeface="Arial"/>
                <a:sym typeface="Arial"/>
              </a:defRPr>
            </a:pPr>
            <a:r>
              <a:t>AS </a:t>
            </a:r>
            <a:r>
              <a:rPr>
                <a:solidFill>
                  <a:srgbClr val="E8ECF4"/>
                </a:solidFill>
              </a:rPr>
              <a:t> audit_type,</a:t>
            </a:r>
          </a:p>
          <a:p>
            <a:pPr>
              <a:lnSpc>
                <a:spcPct val="150000"/>
              </a:lnSpc>
              <a:defRPr sz="1000">
                <a:solidFill>
                  <a:srgbClr val="E8ECF4"/>
                </a:solidFill>
                <a:latin typeface="Arial"/>
                <a:ea typeface="Arial"/>
                <a:cs typeface="Arial"/>
                <a:sym typeface="Arial"/>
              </a:defRPr>
            </a:pPr>
            <a:r>
              <a:t>       am.op                                        </a:t>
            </a:r>
          </a:p>
          <a:p>
            <a:pPr>
              <a:lnSpc>
                <a:spcPct val="150000"/>
              </a:lnSpc>
              <a:defRPr sz="1000">
                <a:solidFill>
                  <a:srgbClr val="FF8FB3"/>
                </a:solidFill>
                <a:latin typeface="Arial"/>
                <a:ea typeface="Arial"/>
                <a:cs typeface="Arial"/>
                <a:sym typeface="Arial"/>
              </a:defRPr>
            </a:pPr>
            <a:r>
              <a:t>AS </a:t>
            </a:r>
            <a:r>
              <a:rPr>
                <a:solidFill>
                  <a:srgbClr val="E8ECF4"/>
                </a:solidFill>
              </a:rPr>
              <a:t> pam_operation,</a:t>
            </a:r>
          </a:p>
          <a:p>
            <a:pPr>
              <a:lnSpc>
                <a:spcPct val="150000"/>
              </a:lnSpc>
              <a:defRPr sz="1000">
                <a:solidFill>
                  <a:srgbClr val="E8ECF4"/>
                </a:solidFill>
                <a:latin typeface="Arial"/>
                <a:ea typeface="Arial"/>
                <a:cs typeface="Arial"/>
                <a:sym typeface="Arial"/>
              </a:defRPr>
            </a:pPr>
            <a:r>
              <a:t>       am.acct                                      </a:t>
            </a:r>
          </a:p>
          <a:p>
            <a:pPr>
              <a:lnSpc>
                <a:spcPct val="150000"/>
              </a:lnSpc>
              <a:defRPr sz="1000">
                <a:solidFill>
                  <a:srgbClr val="FF8FB3"/>
                </a:solidFill>
                <a:latin typeface="Arial"/>
                <a:ea typeface="Arial"/>
                <a:cs typeface="Arial"/>
                <a:sym typeface="Arial"/>
              </a:defRPr>
            </a:pPr>
            <a:r>
              <a:t>AS </a:t>
            </a:r>
            <a:r>
              <a:rPr>
                <a:solidFill>
                  <a:srgbClr val="E8ECF4"/>
                </a:solidFill>
              </a:rPr>
              <a:t> target_account,</a:t>
            </a:r>
          </a:p>
          <a:p>
            <a:pPr>
              <a:lnSpc>
                <a:spcPct val="150000"/>
              </a:lnSpc>
              <a:defRPr sz="1000">
                <a:solidFill>
                  <a:srgbClr val="E8ECF4"/>
                </a:solidFill>
                <a:latin typeface="Arial"/>
                <a:ea typeface="Arial"/>
                <a:cs typeface="Arial"/>
                <a:sym typeface="Arial"/>
              </a:defRPr>
            </a:pPr>
            <a:r>
              <a:t>       am.exe                                       </a:t>
            </a:r>
          </a:p>
          <a:p>
            <a:pPr>
              <a:lnSpc>
                <a:spcPct val="150000"/>
              </a:lnSpc>
              <a:defRPr sz="1000">
                <a:solidFill>
                  <a:srgbClr val="FF8FB3"/>
                </a:solidFill>
                <a:latin typeface="Arial"/>
                <a:ea typeface="Arial"/>
                <a:cs typeface="Arial"/>
                <a:sym typeface="Arial"/>
              </a:defRPr>
            </a:pPr>
            <a:r>
              <a:t>AS </a:t>
            </a:r>
            <a:r>
              <a:rPr>
                <a:solidFill>
                  <a:srgbClr val="E8ECF4"/>
                </a:solidFill>
              </a:rPr>
              <a:t> executable,</a:t>
            </a:r>
          </a:p>
          <a:p>
            <a:pPr>
              <a:lnSpc>
                <a:spcPct val="150000"/>
              </a:lnSpc>
              <a:defRPr sz="1000">
                <a:solidFill>
                  <a:srgbClr val="E8ECF4"/>
                </a:solidFill>
                <a:latin typeface="Arial"/>
                <a:ea typeface="Arial"/>
                <a:cs typeface="Arial"/>
                <a:sym typeface="Arial"/>
              </a:defRPr>
            </a:pPr>
            <a:r>
              <a:t>       am.terminal,</a:t>
            </a:r>
          </a:p>
          <a:p>
            <a:pPr>
              <a:lnSpc>
                <a:spcPct val="150000"/>
              </a:lnSpc>
              <a:defRPr sz="1000">
                <a:solidFill>
                  <a:srgbClr val="E8ECF4"/>
                </a:solidFill>
                <a:latin typeface="Arial"/>
                <a:ea typeface="Arial"/>
                <a:cs typeface="Arial"/>
                <a:sym typeface="Arial"/>
              </a:defRPr>
            </a:pPr>
            <a:r>
              <a:t>        </a:t>
            </a:r>
          </a:p>
          <a:p>
            <a:pPr>
              <a:lnSpc>
                <a:spcPct val="150000"/>
              </a:lnSpc>
              <a:defRPr sz="1000">
                <a:solidFill>
                  <a:srgbClr val="7EC1FF"/>
                </a:solidFill>
                <a:latin typeface="Arial"/>
                <a:ea typeface="Arial"/>
                <a:cs typeface="Arial"/>
                <a:sym typeface="Arial"/>
              </a:defRPr>
            </a:pPr>
            <a:r>
              <a:t>string_agg</a:t>
            </a:r>
            <a:r>
              <a:rPr>
                <a:solidFill>
                  <a:srgbClr val="E8ECF4"/>
                </a:solidFill>
              </a:rPr>
              <a:t>(</a:t>
            </a:r>
            <a:r>
              <a:rPr>
                <a:solidFill>
                  <a:srgbClr val="FF8FB3"/>
                </a:solidFill>
              </a:rPr>
              <a:t>DISTINCT</a:t>
            </a:r>
            <a:r>
              <a:rPr>
                <a:solidFill>
                  <a:srgbClr val="E8ECF4"/>
                </a:solidFill>
              </a:rPr>
              <a:t> al.label_name, </a:t>
            </a:r>
            <a:r>
              <a:rPr>
                <a:solidFill>
                  <a:srgbClr val="7DDCA0"/>
                </a:solidFill>
              </a:rPr>
              <a:t>', ' </a:t>
            </a:r>
            <a:r>
              <a:rPr>
                <a:solidFill>
                  <a:srgbClr val="E8ECF4"/>
                </a:solidFill>
              </a:rPr>
              <a:t>                  </a:t>
            </a:r>
            <a:r>
              <a:rPr>
                <a:solidFill>
                  <a:srgbClr val="FF8FB3"/>
                </a:solidFill>
              </a:rPr>
              <a:t>ORDER BY</a:t>
            </a:r>
            <a:r>
              <a:rPr>
                <a:solidFill>
                  <a:srgbClr val="E8ECF4"/>
                </a:solidFill>
              </a:rPr>
              <a:t> al.label_name) </a:t>
            </a:r>
            <a:r>
              <a:rPr>
                <a:solidFill>
                  <a:srgbClr val="FF8FB3"/>
                </a:solidFill>
              </a:rPr>
              <a:t>AS </a:t>
            </a:r>
            <a:r>
              <a:rPr>
                <a:solidFill>
                  <a:srgbClr val="E8ECF4"/>
                </a:solidFill>
              </a:rPr>
              <a:t> labels,</a:t>
            </a:r>
          </a:p>
          <a:p>
            <a:pPr>
              <a:lnSpc>
                <a:spcPct val="150000"/>
              </a:lnSpc>
              <a:defRPr sz="1000">
                <a:solidFill>
                  <a:srgbClr val="E8ECF4"/>
                </a:solidFill>
                <a:latin typeface="Arial"/>
                <a:ea typeface="Arial"/>
                <a:cs typeface="Arial"/>
                <a:sym typeface="Arial"/>
              </a:defRPr>
            </a:pPr>
            <a:r>
              <a:t>        </a:t>
            </a:r>
          </a:p>
          <a:p>
            <a:pPr>
              <a:lnSpc>
                <a:spcPct val="150000"/>
              </a:lnSpc>
              <a:defRPr sz="1000">
                <a:solidFill>
                  <a:srgbClr val="7EC1FF"/>
                </a:solidFill>
                <a:latin typeface="Arial"/>
                <a:ea typeface="Arial"/>
                <a:cs typeface="Arial"/>
                <a:sym typeface="Arial"/>
              </a:defRPr>
            </a:pPr>
            <a:r>
              <a:t>string_agg</a:t>
            </a:r>
            <a:r>
              <a:rPr>
                <a:solidFill>
                  <a:srgbClr val="E8ECF4"/>
                </a:solidFill>
              </a:rPr>
              <a:t>(</a:t>
            </a:r>
            <a:r>
              <a:rPr>
                <a:solidFill>
                  <a:srgbClr val="FF8FB3"/>
                </a:solidFill>
              </a:rPr>
              <a:t>DISTINCT</a:t>
            </a:r>
            <a:r>
              <a:rPr>
                <a:solidFill>
                  <a:srgbClr val="E8ECF4"/>
                </a:solidFill>
              </a:rPr>
              <a:t> llr.rule_name, </a:t>
            </a:r>
            <a:r>
              <a:rPr>
                <a:solidFill>
                  <a:srgbClr val="7DDCA0"/>
                </a:solidFill>
              </a:rPr>
              <a:t>', ' </a:t>
            </a:r>
            <a:r>
              <a:rPr>
                <a:solidFill>
                  <a:srgbClr val="E8ECF4"/>
                </a:solidFill>
              </a:rPr>
              <a:t>                  </a:t>
            </a:r>
            <a:r>
              <a:rPr>
                <a:solidFill>
                  <a:srgbClr val="FF8FB3"/>
                </a:solidFill>
              </a:rPr>
              <a:t>ORDER BY</a:t>
            </a:r>
            <a:r>
              <a:rPr>
                <a:solidFill>
                  <a:srgbClr val="E8ECF4"/>
                </a:solidFill>
              </a:rPr>
              <a:t> llr.rule_name) </a:t>
            </a:r>
            <a:r>
              <a:rPr>
                <a:solidFill>
                  <a:srgbClr val="FF8FB3"/>
                </a:solidFill>
              </a:rPr>
              <a:t>AS</a:t>
            </a:r>
            <a:r>
              <a:rPr>
                <a:solidFill>
                  <a:srgbClr val="E8ECF4"/>
                </a:solidFill>
              </a:rPr>
              <a:t> rules </a:t>
            </a:r>
            <a:r>
              <a:rPr>
                <a:solidFill>
                  <a:srgbClr val="FF8FB3"/>
                </a:solidFill>
              </a:rPr>
              <a:t>FROM</a:t>
            </a:r>
            <a:r>
              <a:rPr>
                <a:solidFill>
                  <a:srgbClr val="E8ECF4"/>
                </a:solidFill>
              </a:rPr>
              <a:t> audit_event ae </a:t>
            </a:r>
            <a:r>
              <a:rPr>
                <a:solidFill>
                  <a:srgbClr val="FF8FB3"/>
                </a:solidFill>
              </a:rPr>
              <a:t>JOIN</a:t>
            </a:r>
            <a:r>
              <a:rPr>
                <a:solidFill>
                  <a:srgbClr val="E8ECF4"/>
                </a:solidFill>
              </a:rPr>
              <a:t> host h                  </a:t>
            </a:r>
            <a:r>
              <a:rPr>
                <a:solidFill>
                  <a:srgbClr val="FF8FB3"/>
                </a:solidFill>
              </a:rPr>
              <a:t>ON</a:t>
            </a:r>
            <a:r>
              <a:rPr>
                <a:solidFill>
                  <a:srgbClr val="E8ECF4"/>
                </a:solidFill>
              </a:rPr>
              <a:t> h.host_id = ae.host_id </a:t>
            </a:r>
            <a:r>
              <a:rPr>
                <a:solidFill>
                  <a:srgbClr val="FF8FB3"/>
                </a:solidFill>
              </a:rPr>
              <a:t>LEFT JOIN</a:t>
            </a:r>
            <a:r>
              <a:rPr>
                <a:solidFill>
                  <a:srgbClr val="E8ECF4"/>
                </a:solidFill>
              </a:rPr>
              <a:t> audit_message am   </a:t>
            </a:r>
            <a:r>
              <a:rPr>
                <a:solidFill>
                  <a:srgbClr val="FF8FB3"/>
                </a:solidFill>
              </a:rPr>
              <a:t>ON</a:t>
            </a:r>
            <a:r>
              <a:rPr>
                <a:solidFill>
                  <a:srgbClr val="E8ECF4"/>
                </a:solidFill>
              </a:rPr>
              <a:t> am.event_id = ae.event_id </a:t>
            </a:r>
            <a:r>
              <a:rPr>
                <a:solidFill>
                  <a:srgbClr val="FF8FB3"/>
                </a:solidFill>
              </a:rPr>
              <a:t>JOIN</a:t>
            </a:r>
            <a:r>
              <a:rPr>
                <a:solidFill>
                  <a:srgbClr val="E8ECF4"/>
                </a:solidFill>
              </a:rPr>
              <a:t> labeled_line ll         </a:t>
            </a:r>
            <a:r>
              <a:rPr>
                <a:solidFill>
                  <a:srgbClr val="FF8FB3"/>
                </a:solidFill>
              </a:rPr>
              <a:t>ON </a:t>
            </a:r>
            <a:r>
              <a:rPr>
                <a:solidFill>
                  <a:srgbClr val="E8ECF4"/>
                </a:solidFill>
              </a:rPr>
              <a:t> ll.source_host = h.host_key</a:t>
            </a:r>
          </a:p>
          <a:p>
            <a:pPr>
              <a:lnSpc>
                <a:spcPct val="150000"/>
              </a:lnSpc>
              <a:defRPr sz="1000">
                <a:solidFill>
                  <a:srgbClr val="E8ECF4"/>
                </a:solidFill>
                <a:latin typeface="Arial"/>
                <a:ea typeface="Arial"/>
                <a:cs typeface="Arial"/>
                <a:sym typeface="Arial"/>
              </a:defRPr>
            </a:pPr>
            <a:r>
              <a:t>                             </a:t>
            </a:r>
          </a:p>
          <a:p>
            <a:pPr>
              <a:lnSpc>
                <a:spcPct val="150000"/>
              </a:lnSpc>
              <a:defRPr sz="1000">
                <a:solidFill>
                  <a:srgbClr val="FF8FB3"/>
                </a:solidFill>
                <a:latin typeface="Arial"/>
                <a:ea typeface="Arial"/>
                <a:cs typeface="Arial"/>
                <a:sym typeface="Arial"/>
              </a:defRPr>
            </a:pPr>
            <a:r>
              <a:t>AND</a:t>
            </a:r>
            <a:r>
              <a:rPr>
                <a:solidFill>
                  <a:srgbClr val="E8ECF4"/>
                </a:solidFill>
              </a:rPr>
              <a:t> ll.source_log  = </a:t>
            </a:r>
            <a:r>
              <a:rPr>
                <a:solidFill>
                  <a:srgbClr val="7DDCA0"/>
                </a:solidFill>
              </a:rPr>
              <a:t>'audit.log' </a:t>
            </a:r>
            <a:r>
              <a:rPr>
                <a:solidFill>
                  <a:srgbClr val="E8ECF4"/>
                </a:solidFill>
              </a:rPr>
              <a:t>                            </a:t>
            </a:r>
            <a:r>
              <a:t>AND</a:t>
            </a:r>
            <a:r>
              <a:rPr>
                <a:solidFill>
                  <a:srgbClr val="E8ECF4"/>
                </a:solidFill>
              </a:rPr>
              <a:t> ll.line_number = ae.line_number </a:t>
            </a:r>
            <a:r>
              <a:t>JOIN</a:t>
            </a:r>
            <a:r>
              <a:rPr>
                <a:solidFill>
                  <a:srgbClr val="E8ECF4"/>
                </a:solidFill>
              </a:rPr>
              <a:t> labeled_line_label lll  </a:t>
            </a:r>
            <a:r>
              <a:t>ON</a:t>
            </a:r>
            <a:r>
              <a:rPr>
                <a:solidFill>
                  <a:srgbClr val="E8ECF4"/>
                </a:solidFill>
              </a:rPr>
              <a:t> lll.labeled_line_id = ll.labeled_line_id </a:t>
            </a:r>
            <a:r>
              <a:t>JOIN</a:t>
            </a:r>
            <a:r>
              <a:rPr>
                <a:solidFill>
                  <a:srgbClr val="E8ECF4"/>
                </a:solidFill>
              </a:rPr>
              <a:t> attack_label al         </a:t>
            </a:r>
            <a:r>
              <a:t>ON</a:t>
            </a:r>
            <a:r>
              <a:rPr>
                <a:solidFill>
                  <a:srgbClr val="E8ECF4"/>
                </a:solidFill>
              </a:rPr>
              <a:t> al.label_id = lll.label_id </a:t>
            </a:r>
            <a:r>
              <a:t>JOIN</a:t>
            </a:r>
            <a:r>
              <a:rPr>
                <a:solidFill>
                  <a:srgbClr val="E8ECF4"/>
                </a:solidFill>
              </a:rPr>
              <a:t> attack_phase ap         </a:t>
            </a:r>
            <a:r>
              <a:t>ON</a:t>
            </a:r>
            <a:r>
              <a:rPr>
                <a:solidFill>
                  <a:srgbClr val="E8ECF4"/>
                </a:solidFill>
              </a:rPr>
              <a:t> ap.phase_id = al.phase_id </a:t>
            </a:r>
            <a:r>
              <a:t>LEFT JOIN</a:t>
            </a:r>
            <a:r>
              <a:rPr>
                <a:solidFill>
                  <a:srgbClr val="E8ECF4"/>
                </a:solidFill>
              </a:rPr>
              <a:t> labeled_line_rule llr </a:t>
            </a:r>
            <a:r>
              <a:t>ON </a:t>
            </a:r>
            <a:r>
              <a:rPr>
                <a:solidFill>
                  <a:srgbClr val="E8ECF4"/>
                </a:solidFill>
              </a:rPr>
              <a:t> llr.labeled_line_id = ll.labeled_line_id</a:t>
            </a:r>
          </a:p>
          <a:p>
            <a:pPr>
              <a:lnSpc>
                <a:spcPct val="150000"/>
              </a:lnSpc>
              <a:defRPr sz="1000">
                <a:solidFill>
                  <a:srgbClr val="E8ECF4"/>
                </a:solidFill>
                <a:latin typeface="Arial"/>
                <a:ea typeface="Arial"/>
                <a:cs typeface="Arial"/>
                <a:sym typeface="Arial"/>
              </a:defRPr>
            </a:pPr>
            <a:r>
              <a:t>                               </a:t>
            </a:r>
          </a:p>
          <a:p>
            <a:pPr>
              <a:lnSpc>
                <a:spcPct val="150000"/>
              </a:lnSpc>
              <a:defRPr sz="1000">
                <a:solidFill>
                  <a:srgbClr val="FF8FB3"/>
                </a:solidFill>
                <a:latin typeface="Arial"/>
                <a:ea typeface="Arial"/>
                <a:cs typeface="Arial"/>
                <a:sym typeface="Arial"/>
              </a:defRPr>
            </a:pPr>
            <a:r>
              <a:t>AND</a:t>
            </a:r>
            <a:r>
              <a:rPr>
                <a:solidFill>
                  <a:srgbClr val="E8ECF4"/>
                </a:solidFill>
              </a:rPr>
              <a:t> llr.label_id        = al.label_id </a:t>
            </a:r>
            <a:r>
              <a:t>WHERE</a:t>
            </a:r>
            <a:r>
              <a:rPr>
                <a:solidFill>
                  <a:srgbClr val="E8ECF4"/>
                </a:solidFill>
              </a:rPr>
              <a:t> ap.phase_name = </a:t>
            </a:r>
            <a:r>
              <a:rPr>
                <a:solidFill>
                  <a:srgbClr val="7DDCA0"/>
                </a:solidFill>
              </a:rPr>
              <a:t>'privilege_escalation' </a:t>
            </a:r>
            <a:r>
              <a:t>GROUP BY </a:t>
            </a:r>
            <a:r>
              <a:rPr>
                <a:solidFill>
                  <a:srgbClr val="E8ECF4"/>
                </a:solidFill>
              </a:rPr>
              <a:t> h.host_key, ae.timestamp, ae.type, am.op, am.acct,</a:t>
            </a:r>
          </a:p>
          <a:p>
            <a:pPr>
              <a:lnSpc>
                <a:spcPct val="150000"/>
              </a:lnSpc>
              <a:defRPr sz="1000">
                <a:solidFill>
                  <a:srgbClr val="E8ECF4"/>
                </a:solidFill>
                <a:latin typeface="Arial"/>
                <a:ea typeface="Arial"/>
                <a:cs typeface="Arial"/>
                <a:sym typeface="Arial"/>
              </a:defRPr>
            </a:pPr>
            <a:r>
              <a:t>         am.exe, am.terminal;</a:t>
            </a:r>
          </a:p>
        </p:txBody>
      </p:sp>
      <p:sp>
        <p:nvSpPr>
          <p:cNvPr id="277" name="Shape 6"/>
          <p:cNvSpPr/>
          <p:nvPr/>
        </p:nvSpPr>
        <p:spPr>
          <a:xfrm>
            <a:off x="952500" y="9028112"/>
            <a:ext cx="2171700" cy="12701"/>
          </a:xfrm>
          <a:prstGeom prst="rect">
            <a:avLst/>
          </a:prstGeom>
          <a:solidFill>
            <a:srgbClr val="2C3548"/>
          </a:solidFill>
          <a:ln w="12700">
            <a:miter lim="400000"/>
          </a:ln>
        </p:spPr>
        <p:txBody>
          <a:bodyPr lIns="45719" rIns="45719"/>
          <a:lstStyle/>
          <a:p>
            <a:pPr/>
          </a:p>
        </p:txBody>
      </p:sp>
      <p:sp>
        <p:nvSpPr>
          <p:cNvPr id="278" name="Text 7"/>
          <p:cNvSpPr txBox="1"/>
          <p:nvPr/>
        </p:nvSpPr>
        <p:spPr>
          <a:xfrm>
            <a:off x="952500" y="9172575"/>
            <a:ext cx="2247900" cy="18097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900">
                <a:solidFill>
                  <a:srgbClr val="5D6577"/>
                </a:solidFill>
                <a:latin typeface="Arial"/>
                <a:ea typeface="Arial"/>
                <a:cs typeface="Arial"/>
                <a:sym typeface="Arial"/>
              </a:defRPr>
            </a:lvl1pPr>
          </a:lstStyle>
          <a:p>
            <a:pPr/>
            <a:r>
              <a:t>TABLES</a:t>
            </a:r>
          </a:p>
        </p:txBody>
      </p:sp>
      <p:sp>
        <p:nvSpPr>
          <p:cNvPr id="279" name="Text 8"/>
          <p:cNvSpPr txBox="1"/>
          <p:nvPr/>
        </p:nvSpPr>
        <p:spPr>
          <a:xfrm>
            <a:off x="952500" y="9391650"/>
            <a:ext cx="2247900" cy="24765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50391">
              <a:defRPr sz="1488">
                <a:solidFill>
                  <a:srgbClr val="E8ECF4"/>
                </a:solidFill>
                <a:latin typeface="Arial"/>
                <a:ea typeface="Arial"/>
                <a:cs typeface="Arial"/>
                <a:sym typeface="Arial"/>
              </a:defRPr>
            </a:lvl1pPr>
          </a:lstStyle>
          <a:p>
            <a:pPr/>
            <a:r>
              <a:t>8</a:t>
            </a:r>
          </a:p>
        </p:txBody>
      </p:sp>
      <p:sp>
        <p:nvSpPr>
          <p:cNvPr id="280" name="Shape 9"/>
          <p:cNvSpPr/>
          <p:nvPr/>
        </p:nvSpPr>
        <p:spPr>
          <a:xfrm>
            <a:off x="3295650" y="9028112"/>
            <a:ext cx="2171700" cy="12701"/>
          </a:xfrm>
          <a:prstGeom prst="rect">
            <a:avLst/>
          </a:prstGeom>
          <a:solidFill>
            <a:srgbClr val="2C3548"/>
          </a:solidFill>
          <a:ln w="12700">
            <a:miter lim="400000"/>
          </a:ln>
        </p:spPr>
        <p:txBody>
          <a:bodyPr lIns="45719" rIns="45719"/>
          <a:lstStyle/>
          <a:p>
            <a:pPr/>
          </a:p>
        </p:txBody>
      </p:sp>
      <p:sp>
        <p:nvSpPr>
          <p:cNvPr id="281" name="Text 10"/>
          <p:cNvSpPr txBox="1"/>
          <p:nvPr/>
        </p:nvSpPr>
        <p:spPr>
          <a:xfrm>
            <a:off x="3295650" y="9172575"/>
            <a:ext cx="2247900" cy="18097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900">
                <a:solidFill>
                  <a:srgbClr val="5D6577"/>
                </a:solidFill>
                <a:latin typeface="Arial"/>
                <a:ea typeface="Arial"/>
                <a:cs typeface="Arial"/>
                <a:sym typeface="Arial"/>
              </a:defRPr>
            </a:lvl1pPr>
          </a:lstStyle>
          <a:p>
            <a:pPr/>
            <a:r>
              <a:t>AGGREGATOR</a:t>
            </a:r>
          </a:p>
        </p:txBody>
      </p:sp>
      <p:sp>
        <p:nvSpPr>
          <p:cNvPr id="282" name="Text 11"/>
          <p:cNvSpPr txBox="1"/>
          <p:nvPr/>
        </p:nvSpPr>
        <p:spPr>
          <a:xfrm>
            <a:off x="3295650" y="9391650"/>
            <a:ext cx="2247900" cy="20955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defRPr sz="1157">
                <a:solidFill>
                  <a:srgbClr val="E8ECF4"/>
                </a:solidFill>
                <a:latin typeface="Arial"/>
                <a:ea typeface="Arial"/>
                <a:cs typeface="Arial"/>
                <a:sym typeface="Arial"/>
              </a:defRPr>
            </a:lvl1pPr>
          </a:lstStyle>
          <a:p>
            <a:pPr/>
            <a:r>
              <a:t>string_agg</a:t>
            </a:r>
          </a:p>
        </p:txBody>
      </p:sp>
      <p:sp>
        <p:nvSpPr>
          <p:cNvPr id="283" name="Shape 12"/>
          <p:cNvSpPr/>
          <p:nvPr/>
        </p:nvSpPr>
        <p:spPr>
          <a:xfrm>
            <a:off x="5638800" y="9028112"/>
            <a:ext cx="2171700" cy="12701"/>
          </a:xfrm>
          <a:prstGeom prst="rect">
            <a:avLst/>
          </a:prstGeom>
          <a:solidFill>
            <a:srgbClr val="2C3548"/>
          </a:solidFill>
          <a:ln w="12700">
            <a:miter lim="400000"/>
          </a:ln>
        </p:spPr>
        <p:txBody>
          <a:bodyPr lIns="45719" rIns="45719"/>
          <a:lstStyle/>
          <a:p>
            <a:pPr/>
          </a:p>
        </p:txBody>
      </p:sp>
      <p:sp>
        <p:nvSpPr>
          <p:cNvPr id="284" name="Text 13"/>
          <p:cNvSpPr txBox="1"/>
          <p:nvPr/>
        </p:nvSpPr>
        <p:spPr>
          <a:xfrm>
            <a:off x="5638800" y="9172575"/>
            <a:ext cx="2247900" cy="18097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900">
                <a:solidFill>
                  <a:srgbClr val="5D6577"/>
                </a:solidFill>
                <a:latin typeface="Arial"/>
                <a:ea typeface="Arial"/>
                <a:cs typeface="Arial"/>
                <a:sym typeface="Arial"/>
              </a:defRPr>
            </a:lvl1pPr>
          </a:lstStyle>
          <a:p>
            <a:pPr/>
            <a:r>
              <a:t>PHASE</a:t>
            </a:r>
          </a:p>
        </p:txBody>
      </p:sp>
      <p:sp>
        <p:nvSpPr>
          <p:cNvPr id="285" name="Text 14"/>
          <p:cNvSpPr txBox="1"/>
          <p:nvPr/>
        </p:nvSpPr>
        <p:spPr>
          <a:xfrm>
            <a:off x="5638800" y="9391650"/>
            <a:ext cx="2247900" cy="19050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95527">
              <a:defRPr sz="1044">
                <a:solidFill>
                  <a:srgbClr val="E8ECF4"/>
                </a:solidFill>
                <a:latin typeface="Arial"/>
                <a:ea typeface="Arial"/>
                <a:cs typeface="Arial"/>
                <a:sym typeface="Arial"/>
              </a:defRPr>
            </a:lvl1pPr>
          </a:lstStyle>
          <a:p>
            <a:pPr/>
            <a:r>
              <a:t>privilege_escalation</a:t>
            </a:r>
          </a:p>
        </p:txBody>
      </p:sp>
      <p:sp>
        <p:nvSpPr>
          <p:cNvPr id="286" name="Shape 15"/>
          <p:cNvSpPr/>
          <p:nvPr/>
        </p:nvSpPr>
        <p:spPr>
          <a:xfrm>
            <a:off x="7981950" y="9028112"/>
            <a:ext cx="2171700" cy="12701"/>
          </a:xfrm>
          <a:prstGeom prst="rect">
            <a:avLst/>
          </a:prstGeom>
          <a:solidFill>
            <a:srgbClr val="2C3548"/>
          </a:solidFill>
          <a:ln w="12700">
            <a:miter lim="400000"/>
          </a:ln>
        </p:spPr>
        <p:txBody>
          <a:bodyPr lIns="45719" rIns="45719"/>
          <a:lstStyle/>
          <a:p>
            <a:pPr/>
          </a:p>
        </p:txBody>
      </p:sp>
      <p:sp>
        <p:nvSpPr>
          <p:cNvPr id="287" name="Text 16"/>
          <p:cNvSpPr txBox="1"/>
          <p:nvPr/>
        </p:nvSpPr>
        <p:spPr>
          <a:xfrm>
            <a:off x="7981950" y="9172575"/>
            <a:ext cx="2247900" cy="18097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900">
                <a:solidFill>
                  <a:srgbClr val="5D6577"/>
                </a:solidFill>
                <a:latin typeface="Arial"/>
                <a:ea typeface="Arial"/>
                <a:cs typeface="Arial"/>
                <a:sym typeface="Arial"/>
              </a:defRPr>
            </a:lvl1pPr>
          </a:lstStyle>
          <a:p>
            <a:pPr/>
            <a:r>
              <a:t>ROWS</a:t>
            </a:r>
          </a:p>
        </p:txBody>
      </p:sp>
      <p:sp>
        <p:nvSpPr>
          <p:cNvPr id="288" name="Text 17"/>
          <p:cNvSpPr txBox="1"/>
          <p:nvPr/>
        </p:nvSpPr>
        <p:spPr>
          <a:xfrm>
            <a:off x="7981950" y="9391650"/>
            <a:ext cx="2247900" cy="24765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50391">
              <a:defRPr sz="1488">
                <a:solidFill>
                  <a:srgbClr val="E8ECF4"/>
                </a:solidFill>
                <a:latin typeface="Arial"/>
                <a:ea typeface="Arial"/>
                <a:cs typeface="Arial"/>
                <a:sym typeface="Arial"/>
              </a:defRPr>
            </a:lvl1pPr>
          </a:lstStyle>
          <a:p>
            <a:pPr/>
            <a:r>
              <a:t>9</a:t>
            </a:r>
          </a:p>
        </p:txBody>
      </p:sp>
      <p:sp>
        <p:nvSpPr>
          <p:cNvPr id="289" name="Shape 18"/>
          <p:cNvSpPr/>
          <p:nvPr/>
        </p:nvSpPr>
        <p:spPr>
          <a:xfrm>
            <a:off x="10534650" y="2436763"/>
            <a:ext cx="6800850" cy="2847976"/>
          </a:xfrm>
          <a:prstGeom prst="roundRect">
            <a:avLst>
              <a:gd name="adj" fmla="val 2007"/>
            </a:avLst>
          </a:prstGeom>
          <a:solidFill>
            <a:srgbClr val="141923"/>
          </a:solidFill>
          <a:ln>
            <a:solidFill>
              <a:srgbClr val="232A3A"/>
            </a:solidFill>
          </a:ln>
        </p:spPr>
        <p:txBody>
          <a:bodyPr lIns="45719" rIns="45719"/>
          <a:lstStyle/>
          <a:p>
            <a:pPr/>
          </a:p>
        </p:txBody>
      </p:sp>
      <p:sp>
        <p:nvSpPr>
          <p:cNvPr id="290" name="Text 19"/>
          <p:cNvSpPr txBox="1"/>
          <p:nvPr/>
        </p:nvSpPr>
        <p:spPr>
          <a:xfrm>
            <a:off x="10753724" y="2617738"/>
            <a:ext cx="6553583"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200" sz="1000">
                <a:solidFill>
                  <a:srgbClr val="8A93A6"/>
                </a:solidFill>
                <a:latin typeface="Arial"/>
                <a:ea typeface="Arial"/>
                <a:cs typeface="Arial"/>
                <a:sym typeface="Arial"/>
              </a:defRPr>
            </a:lvl1pPr>
          </a:lstStyle>
          <a:p>
            <a:pPr/>
            <a:r>
              <a:t>V_PRIVILEGE_ESCALATION_TIMELINE · INTRANET_SERVER</a:t>
            </a:r>
          </a:p>
        </p:txBody>
      </p:sp>
      <p:sp>
        <p:nvSpPr>
          <p:cNvPr id="291" name="Text 20"/>
          <p:cNvSpPr txBox="1"/>
          <p:nvPr/>
        </p:nvSpPr>
        <p:spPr>
          <a:xfrm>
            <a:off x="10753725" y="2903488"/>
            <a:ext cx="1945035" cy="18097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pc="100" sz="700">
                <a:solidFill>
                  <a:srgbClr val="8A93A6"/>
                </a:solidFill>
                <a:latin typeface="Arial"/>
                <a:ea typeface="Arial"/>
                <a:cs typeface="Arial"/>
                <a:sym typeface="Arial"/>
              </a:defRPr>
            </a:lvl1pPr>
          </a:lstStyle>
          <a:p>
            <a:pPr/>
            <a:r>
              <a:t>TIMESTAMP</a:t>
            </a:r>
          </a:p>
        </p:txBody>
      </p:sp>
      <p:sp>
        <p:nvSpPr>
          <p:cNvPr id="292" name="Text 21"/>
          <p:cNvSpPr txBox="1"/>
          <p:nvPr/>
        </p:nvSpPr>
        <p:spPr>
          <a:xfrm>
            <a:off x="12755909" y="2903488"/>
            <a:ext cx="1322041" cy="18097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pc="100" sz="700">
                <a:solidFill>
                  <a:srgbClr val="8A93A6"/>
                </a:solidFill>
                <a:latin typeface="Arial"/>
                <a:ea typeface="Arial"/>
                <a:cs typeface="Arial"/>
                <a:sym typeface="Arial"/>
              </a:defRPr>
            </a:lvl1pPr>
          </a:lstStyle>
          <a:p>
            <a:pPr/>
            <a:r>
              <a:t>AUDIT_TYPE</a:t>
            </a:r>
          </a:p>
        </p:txBody>
      </p:sp>
      <p:sp>
        <p:nvSpPr>
          <p:cNvPr id="293" name="Text 22"/>
          <p:cNvSpPr txBox="1"/>
          <p:nvPr/>
        </p:nvSpPr>
        <p:spPr>
          <a:xfrm>
            <a:off x="14135099" y="2903488"/>
            <a:ext cx="1589189" cy="18097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pc="100" sz="700">
                <a:solidFill>
                  <a:srgbClr val="8A93A6"/>
                </a:solidFill>
                <a:latin typeface="Arial"/>
                <a:ea typeface="Arial"/>
                <a:cs typeface="Arial"/>
                <a:sym typeface="Arial"/>
              </a:defRPr>
            </a:lvl1pPr>
          </a:lstStyle>
          <a:p>
            <a:pPr/>
            <a:r>
              <a:t>PAM_OP · ACCT</a:t>
            </a:r>
          </a:p>
        </p:txBody>
      </p:sp>
      <p:sp>
        <p:nvSpPr>
          <p:cNvPr id="294" name="Text 23"/>
          <p:cNvSpPr txBox="1"/>
          <p:nvPr/>
        </p:nvSpPr>
        <p:spPr>
          <a:xfrm>
            <a:off x="15781436" y="2903488"/>
            <a:ext cx="1411189" cy="18097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pc="100" sz="700">
                <a:solidFill>
                  <a:srgbClr val="8A93A6"/>
                </a:solidFill>
                <a:latin typeface="Arial"/>
                <a:ea typeface="Arial"/>
                <a:cs typeface="Arial"/>
                <a:sym typeface="Arial"/>
              </a:defRPr>
            </a:lvl1pPr>
          </a:lstStyle>
          <a:p>
            <a:pPr/>
            <a:r>
              <a:t>LABELS</a:t>
            </a:r>
          </a:p>
        </p:txBody>
      </p:sp>
      <p:sp>
        <p:nvSpPr>
          <p:cNvPr id="295" name="Text 24"/>
          <p:cNvSpPr txBox="1"/>
          <p:nvPr/>
        </p:nvSpPr>
        <p:spPr>
          <a:xfrm>
            <a:off x="10753725" y="3103513"/>
            <a:ext cx="1945035"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C3CAD8"/>
                </a:solidFill>
                <a:latin typeface="Arial"/>
                <a:ea typeface="Arial"/>
                <a:cs typeface="Arial"/>
                <a:sym typeface="Arial"/>
              </a:defRPr>
            </a:lvl1pPr>
          </a:lstStyle>
          <a:p>
            <a:pPr/>
            <a:r>
              <a:t>15:53:55</a:t>
            </a:r>
          </a:p>
        </p:txBody>
      </p:sp>
      <p:sp>
        <p:nvSpPr>
          <p:cNvPr id="296" name="Text 25"/>
          <p:cNvSpPr txBox="1"/>
          <p:nvPr/>
        </p:nvSpPr>
        <p:spPr>
          <a:xfrm>
            <a:off x="12755909" y="3103513"/>
            <a:ext cx="1322041"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E8ECF4"/>
                </a:solidFill>
                <a:latin typeface="Arial"/>
                <a:ea typeface="Arial"/>
                <a:cs typeface="Arial"/>
                <a:sym typeface="Arial"/>
              </a:defRPr>
            </a:lvl1pPr>
          </a:lstStyle>
          <a:p>
            <a:pPr/>
            <a:r>
              <a:t>USER_AUTH</a:t>
            </a:r>
          </a:p>
        </p:txBody>
      </p:sp>
      <p:sp>
        <p:nvSpPr>
          <p:cNvPr id="297" name="Text 26"/>
          <p:cNvSpPr txBox="1"/>
          <p:nvPr/>
        </p:nvSpPr>
        <p:spPr>
          <a:xfrm>
            <a:off x="14135099" y="3103513"/>
            <a:ext cx="1589189"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C3CAD8"/>
                </a:solidFill>
                <a:latin typeface="Arial"/>
                <a:ea typeface="Arial"/>
                <a:cs typeface="Arial"/>
                <a:sym typeface="Arial"/>
              </a:defRPr>
            </a:lvl1pPr>
          </a:lstStyle>
          <a:p>
            <a:pPr/>
            <a:r>
              <a:t>PAM:auth · root</a:t>
            </a:r>
          </a:p>
        </p:txBody>
      </p:sp>
      <p:sp>
        <p:nvSpPr>
          <p:cNvPr id="298" name="Text 27"/>
          <p:cNvSpPr txBox="1"/>
          <p:nvPr/>
        </p:nvSpPr>
        <p:spPr>
          <a:xfrm>
            <a:off x="15781436" y="3103513"/>
            <a:ext cx="1411189"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7AD9FF"/>
                </a:solidFill>
                <a:latin typeface="Arial"/>
                <a:ea typeface="Arial"/>
                <a:cs typeface="Arial"/>
                <a:sym typeface="Arial"/>
              </a:defRPr>
            </a:lvl1pPr>
          </a:lstStyle>
          <a:p>
            <a:pPr/>
            <a:r>
              <a:t>su_attempt</a:t>
            </a:r>
          </a:p>
        </p:txBody>
      </p:sp>
      <p:sp>
        <p:nvSpPr>
          <p:cNvPr id="299" name="Text 28"/>
          <p:cNvSpPr txBox="1"/>
          <p:nvPr/>
        </p:nvSpPr>
        <p:spPr>
          <a:xfrm>
            <a:off x="10753725" y="3332112"/>
            <a:ext cx="1945035"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C3CAD8"/>
                </a:solidFill>
                <a:latin typeface="Arial"/>
                <a:ea typeface="Arial"/>
                <a:cs typeface="Arial"/>
                <a:sym typeface="Arial"/>
              </a:defRPr>
            </a:lvl1pPr>
          </a:lstStyle>
          <a:p>
            <a:pPr/>
            <a:r>
              <a:t>15:53:55</a:t>
            </a:r>
          </a:p>
        </p:txBody>
      </p:sp>
      <p:sp>
        <p:nvSpPr>
          <p:cNvPr id="300" name="Text 29"/>
          <p:cNvSpPr txBox="1"/>
          <p:nvPr/>
        </p:nvSpPr>
        <p:spPr>
          <a:xfrm>
            <a:off x="12755909" y="3332112"/>
            <a:ext cx="1322041"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E8ECF4"/>
                </a:solidFill>
                <a:latin typeface="Arial"/>
                <a:ea typeface="Arial"/>
                <a:cs typeface="Arial"/>
                <a:sym typeface="Arial"/>
              </a:defRPr>
            </a:lvl1pPr>
          </a:lstStyle>
          <a:p>
            <a:pPr/>
            <a:r>
              <a:t>USER_ACCT</a:t>
            </a:r>
          </a:p>
        </p:txBody>
      </p:sp>
      <p:sp>
        <p:nvSpPr>
          <p:cNvPr id="301" name="Text 30"/>
          <p:cNvSpPr txBox="1"/>
          <p:nvPr/>
        </p:nvSpPr>
        <p:spPr>
          <a:xfrm>
            <a:off x="14135099" y="3332112"/>
            <a:ext cx="1589189"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C3CAD8"/>
                </a:solidFill>
                <a:latin typeface="Arial"/>
                <a:ea typeface="Arial"/>
                <a:cs typeface="Arial"/>
                <a:sym typeface="Arial"/>
              </a:defRPr>
            </a:lvl1pPr>
          </a:lstStyle>
          <a:p>
            <a:pPr/>
            <a:r>
              <a:t>PAM:acct · root</a:t>
            </a:r>
          </a:p>
        </p:txBody>
      </p:sp>
      <p:sp>
        <p:nvSpPr>
          <p:cNvPr id="302" name="Text 31"/>
          <p:cNvSpPr txBox="1"/>
          <p:nvPr/>
        </p:nvSpPr>
        <p:spPr>
          <a:xfrm>
            <a:off x="15781436" y="3332112"/>
            <a:ext cx="1411189"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7AD9FF"/>
                </a:solidFill>
                <a:latin typeface="Arial"/>
                <a:ea typeface="Arial"/>
                <a:cs typeface="Arial"/>
                <a:sym typeface="Arial"/>
              </a:defRPr>
            </a:lvl1pPr>
          </a:lstStyle>
          <a:p>
            <a:pPr/>
            <a:r>
              <a:t>su_attempt</a:t>
            </a:r>
          </a:p>
        </p:txBody>
      </p:sp>
      <p:sp>
        <p:nvSpPr>
          <p:cNvPr id="303" name="Text 32"/>
          <p:cNvSpPr txBox="1"/>
          <p:nvPr/>
        </p:nvSpPr>
        <p:spPr>
          <a:xfrm>
            <a:off x="10753725" y="3560712"/>
            <a:ext cx="1945035"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C3CAD8"/>
                </a:solidFill>
                <a:latin typeface="Arial"/>
                <a:ea typeface="Arial"/>
                <a:cs typeface="Arial"/>
                <a:sym typeface="Arial"/>
              </a:defRPr>
            </a:lvl1pPr>
          </a:lstStyle>
          <a:p>
            <a:pPr/>
            <a:r>
              <a:t>15:53:55</a:t>
            </a:r>
          </a:p>
        </p:txBody>
      </p:sp>
      <p:sp>
        <p:nvSpPr>
          <p:cNvPr id="304" name="Text 33"/>
          <p:cNvSpPr txBox="1"/>
          <p:nvPr/>
        </p:nvSpPr>
        <p:spPr>
          <a:xfrm>
            <a:off x="12755909" y="3560712"/>
            <a:ext cx="1322041"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E8ECF4"/>
                </a:solidFill>
                <a:latin typeface="Arial"/>
                <a:ea typeface="Arial"/>
                <a:cs typeface="Arial"/>
                <a:sym typeface="Arial"/>
              </a:defRPr>
            </a:lvl1pPr>
          </a:lstStyle>
          <a:p>
            <a:pPr/>
            <a:r>
              <a:t>CRED_ACQ</a:t>
            </a:r>
          </a:p>
        </p:txBody>
      </p:sp>
      <p:sp>
        <p:nvSpPr>
          <p:cNvPr id="305" name="Text 34"/>
          <p:cNvSpPr txBox="1"/>
          <p:nvPr/>
        </p:nvSpPr>
        <p:spPr>
          <a:xfrm>
            <a:off x="14135099" y="3560712"/>
            <a:ext cx="1589189"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C3CAD8"/>
                </a:solidFill>
                <a:latin typeface="Arial"/>
                <a:ea typeface="Arial"/>
                <a:cs typeface="Arial"/>
                <a:sym typeface="Arial"/>
              </a:defRPr>
            </a:lvl1pPr>
          </a:lstStyle>
          <a:p>
            <a:pPr/>
            <a:r>
              <a:t>PAM:setcred · root</a:t>
            </a:r>
          </a:p>
        </p:txBody>
      </p:sp>
      <p:sp>
        <p:nvSpPr>
          <p:cNvPr id="306" name="Text 35"/>
          <p:cNvSpPr txBox="1"/>
          <p:nvPr/>
        </p:nvSpPr>
        <p:spPr>
          <a:xfrm>
            <a:off x="15781436" y="3560712"/>
            <a:ext cx="1411189"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7AD9FF"/>
                </a:solidFill>
                <a:latin typeface="Arial"/>
                <a:ea typeface="Arial"/>
                <a:cs typeface="Arial"/>
                <a:sym typeface="Arial"/>
              </a:defRPr>
            </a:lvl1pPr>
          </a:lstStyle>
          <a:p>
            <a:pPr/>
            <a:r>
              <a:t>su_attempt</a:t>
            </a:r>
          </a:p>
        </p:txBody>
      </p:sp>
      <p:sp>
        <p:nvSpPr>
          <p:cNvPr id="307" name="Text 36"/>
          <p:cNvSpPr txBox="1"/>
          <p:nvPr/>
        </p:nvSpPr>
        <p:spPr>
          <a:xfrm>
            <a:off x="10753725" y="3789312"/>
            <a:ext cx="1945035"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C3CAD8"/>
                </a:solidFill>
                <a:latin typeface="Arial"/>
                <a:ea typeface="Arial"/>
                <a:cs typeface="Arial"/>
                <a:sym typeface="Arial"/>
              </a:defRPr>
            </a:lvl1pPr>
          </a:lstStyle>
          <a:p>
            <a:pPr/>
            <a:r>
              <a:t>15:53:55</a:t>
            </a:r>
          </a:p>
        </p:txBody>
      </p:sp>
      <p:sp>
        <p:nvSpPr>
          <p:cNvPr id="308" name="Text 37"/>
          <p:cNvSpPr txBox="1"/>
          <p:nvPr/>
        </p:nvSpPr>
        <p:spPr>
          <a:xfrm>
            <a:off x="12755909" y="3789312"/>
            <a:ext cx="1322041"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E8ECF4"/>
                </a:solidFill>
                <a:latin typeface="Arial"/>
                <a:ea typeface="Arial"/>
                <a:cs typeface="Arial"/>
                <a:sym typeface="Arial"/>
              </a:defRPr>
            </a:lvl1pPr>
          </a:lstStyle>
          <a:p>
            <a:pPr/>
            <a:r>
              <a:t>USER_START</a:t>
            </a:r>
          </a:p>
        </p:txBody>
      </p:sp>
      <p:sp>
        <p:nvSpPr>
          <p:cNvPr id="309" name="Text 38"/>
          <p:cNvSpPr txBox="1"/>
          <p:nvPr/>
        </p:nvSpPr>
        <p:spPr>
          <a:xfrm>
            <a:off x="14135099" y="3789312"/>
            <a:ext cx="1589189"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C3CAD8"/>
                </a:solidFill>
                <a:latin typeface="Arial"/>
                <a:ea typeface="Arial"/>
                <a:cs typeface="Arial"/>
                <a:sym typeface="Arial"/>
              </a:defRPr>
            </a:lvl1pPr>
          </a:lstStyle>
          <a:p>
            <a:pPr/>
            <a:r>
              <a:t>PAM:session · root</a:t>
            </a:r>
          </a:p>
        </p:txBody>
      </p:sp>
      <p:sp>
        <p:nvSpPr>
          <p:cNvPr id="310" name="Text 39"/>
          <p:cNvSpPr txBox="1"/>
          <p:nvPr/>
        </p:nvSpPr>
        <p:spPr>
          <a:xfrm>
            <a:off x="15781436" y="3789312"/>
            <a:ext cx="1411189"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7AD9FF"/>
                </a:solidFill>
                <a:latin typeface="Arial"/>
                <a:ea typeface="Arial"/>
                <a:cs typeface="Arial"/>
                <a:sym typeface="Arial"/>
              </a:defRPr>
            </a:lvl1pPr>
          </a:lstStyle>
          <a:p>
            <a:pPr/>
            <a:r>
              <a:t>su_session</a:t>
            </a:r>
          </a:p>
        </p:txBody>
      </p:sp>
      <p:sp>
        <p:nvSpPr>
          <p:cNvPr id="311" name="Text 40"/>
          <p:cNvSpPr txBox="1"/>
          <p:nvPr/>
        </p:nvSpPr>
        <p:spPr>
          <a:xfrm>
            <a:off x="10753725" y="4017912"/>
            <a:ext cx="1945035"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C3CAD8"/>
                </a:solidFill>
                <a:latin typeface="Arial"/>
                <a:ea typeface="Arial"/>
                <a:cs typeface="Arial"/>
                <a:sym typeface="Arial"/>
              </a:defRPr>
            </a:lvl1pPr>
          </a:lstStyle>
          <a:p>
            <a:pPr/>
            <a:r>
              <a:t>15:54:11</a:t>
            </a:r>
          </a:p>
        </p:txBody>
      </p:sp>
      <p:sp>
        <p:nvSpPr>
          <p:cNvPr id="312" name="Text 41"/>
          <p:cNvSpPr txBox="1"/>
          <p:nvPr/>
        </p:nvSpPr>
        <p:spPr>
          <a:xfrm>
            <a:off x="12755909" y="4017912"/>
            <a:ext cx="1322041"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E8ECF4"/>
                </a:solidFill>
                <a:latin typeface="Arial"/>
                <a:ea typeface="Arial"/>
                <a:cs typeface="Arial"/>
                <a:sym typeface="Arial"/>
              </a:defRPr>
            </a:lvl1pPr>
          </a:lstStyle>
          <a:p>
            <a:pPr/>
            <a:r>
              <a:t>USER_END</a:t>
            </a:r>
          </a:p>
        </p:txBody>
      </p:sp>
      <p:sp>
        <p:nvSpPr>
          <p:cNvPr id="313" name="Text 42"/>
          <p:cNvSpPr txBox="1"/>
          <p:nvPr/>
        </p:nvSpPr>
        <p:spPr>
          <a:xfrm>
            <a:off x="14135099" y="4017912"/>
            <a:ext cx="1589189"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C3CAD8"/>
                </a:solidFill>
                <a:latin typeface="Arial"/>
                <a:ea typeface="Arial"/>
                <a:cs typeface="Arial"/>
                <a:sym typeface="Arial"/>
              </a:defRPr>
            </a:lvl1pPr>
          </a:lstStyle>
          <a:p>
            <a:pPr/>
            <a:r>
              <a:t>PAM:session · root</a:t>
            </a:r>
          </a:p>
        </p:txBody>
      </p:sp>
      <p:sp>
        <p:nvSpPr>
          <p:cNvPr id="314" name="Text 43"/>
          <p:cNvSpPr txBox="1"/>
          <p:nvPr/>
        </p:nvSpPr>
        <p:spPr>
          <a:xfrm>
            <a:off x="15781436" y="4017912"/>
            <a:ext cx="1411189"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7AD9FF"/>
                </a:solidFill>
                <a:latin typeface="Arial"/>
                <a:ea typeface="Arial"/>
                <a:cs typeface="Arial"/>
                <a:sym typeface="Arial"/>
              </a:defRPr>
            </a:lvl1pPr>
          </a:lstStyle>
          <a:p>
            <a:pPr/>
            <a:r>
              <a:t>su_session</a:t>
            </a:r>
          </a:p>
        </p:txBody>
      </p:sp>
      <p:sp>
        <p:nvSpPr>
          <p:cNvPr id="315" name="Text 44"/>
          <p:cNvSpPr txBox="1"/>
          <p:nvPr/>
        </p:nvSpPr>
        <p:spPr>
          <a:xfrm>
            <a:off x="10753725" y="4246512"/>
            <a:ext cx="1945035"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C3CAD8"/>
                </a:solidFill>
                <a:latin typeface="Arial"/>
                <a:ea typeface="Arial"/>
                <a:cs typeface="Arial"/>
                <a:sym typeface="Arial"/>
              </a:defRPr>
            </a:lvl1pPr>
          </a:lstStyle>
          <a:p>
            <a:pPr/>
            <a:r>
              <a:t>15:54:11</a:t>
            </a:r>
          </a:p>
        </p:txBody>
      </p:sp>
      <p:sp>
        <p:nvSpPr>
          <p:cNvPr id="316" name="Text 45"/>
          <p:cNvSpPr txBox="1"/>
          <p:nvPr/>
        </p:nvSpPr>
        <p:spPr>
          <a:xfrm>
            <a:off x="12755909" y="4246512"/>
            <a:ext cx="1322041"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E8ECF4"/>
                </a:solidFill>
                <a:latin typeface="Arial"/>
                <a:ea typeface="Arial"/>
                <a:cs typeface="Arial"/>
                <a:sym typeface="Arial"/>
              </a:defRPr>
            </a:lvl1pPr>
          </a:lstStyle>
          <a:p>
            <a:pPr/>
            <a:r>
              <a:t>CRED_DISP</a:t>
            </a:r>
          </a:p>
        </p:txBody>
      </p:sp>
      <p:sp>
        <p:nvSpPr>
          <p:cNvPr id="317" name="Text 46"/>
          <p:cNvSpPr txBox="1"/>
          <p:nvPr/>
        </p:nvSpPr>
        <p:spPr>
          <a:xfrm>
            <a:off x="14135099" y="4246512"/>
            <a:ext cx="1589189"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C3CAD8"/>
                </a:solidFill>
                <a:latin typeface="Arial"/>
                <a:ea typeface="Arial"/>
                <a:cs typeface="Arial"/>
                <a:sym typeface="Arial"/>
              </a:defRPr>
            </a:lvl1pPr>
          </a:lstStyle>
          <a:p>
            <a:pPr/>
            <a:r>
              <a:t>PAM:setcred · root</a:t>
            </a:r>
          </a:p>
        </p:txBody>
      </p:sp>
      <p:sp>
        <p:nvSpPr>
          <p:cNvPr id="318" name="Text 47"/>
          <p:cNvSpPr txBox="1"/>
          <p:nvPr/>
        </p:nvSpPr>
        <p:spPr>
          <a:xfrm>
            <a:off x="15781436" y="4246512"/>
            <a:ext cx="1411189"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7AD9FF"/>
                </a:solidFill>
                <a:latin typeface="Arial"/>
                <a:ea typeface="Arial"/>
                <a:cs typeface="Arial"/>
                <a:sym typeface="Arial"/>
              </a:defRPr>
            </a:lvl1pPr>
          </a:lstStyle>
          <a:p>
            <a:pPr/>
            <a:r>
              <a:t>su_session</a:t>
            </a:r>
          </a:p>
        </p:txBody>
      </p:sp>
      <p:sp>
        <p:nvSpPr>
          <p:cNvPr id="319" name="Text 48"/>
          <p:cNvSpPr txBox="1"/>
          <p:nvPr/>
        </p:nvSpPr>
        <p:spPr>
          <a:xfrm>
            <a:off x="10753725" y="4475112"/>
            <a:ext cx="1945035"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FFD27A"/>
                </a:solidFill>
                <a:latin typeface="Arial"/>
                <a:ea typeface="Arial"/>
                <a:cs typeface="Arial"/>
                <a:sym typeface="Arial"/>
              </a:defRPr>
            </a:lvl1pPr>
          </a:lstStyle>
          <a:p>
            <a:pPr/>
            <a:r>
              <a:t>15:54:23</a:t>
            </a:r>
          </a:p>
        </p:txBody>
      </p:sp>
      <p:sp>
        <p:nvSpPr>
          <p:cNvPr id="320" name="Text 49"/>
          <p:cNvSpPr txBox="1"/>
          <p:nvPr/>
        </p:nvSpPr>
        <p:spPr>
          <a:xfrm>
            <a:off x="12755909" y="4475112"/>
            <a:ext cx="1322041"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b="1" sz="900">
                <a:solidFill>
                  <a:srgbClr val="E8ECF4"/>
                </a:solidFill>
                <a:latin typeface="Arial"/>
                <a:ea typeface="Arial"/>
                <a:cs typeface="Arial"/>
                <a:sym typeface="Arial"/>
              </a:defRPr>
            </a:lvl1pPr>
          </a:lstStyle>
          <a:p>
            <a:pPr/>
            <a:r>
              <a:t>USER_CMD</a:t>
            </a:r>
          </a:p>
        </p:txBody>
      </p:sp>
      <p:sp>
        <p:nvSpPr>
          <p:cNvPr id="321" name="Text 50"/>
          <p:cNvSpPr txBox="1"/>
          <p:nvPr/>
        </p:nvSpPr>
        <p:spPr>
          <a:xfrm>
            <a:off x="14135099" y="4475112"/>
            <a:ext cx="1589189"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C3CAD8"/>
                </a:solidFill>
                <a:latin typeface="Arial"/>
                <a:ea typeface="Arial"/>
                <a:cs typeface="Arial"/>
                <a:sym typeface="Arial"/>
              </a:defRPr>
            </a:lvl1pPr>
          </a:lstStyle>
          <a:p>
            <a:pPr/>
            <a:r>
              <a:t>cmd · jhall</a:t>
            </a:r>
          </a:p>
        </p:txBody>
      </p:sp>
      <p:sp>
        <p:nvSpPr>
          <p:cNvPr id="322" name="Text 51"/>
          <p:cNvSpPr txBox="1"/>
          <p:nvPr/>
        </p:nvSpPr>
        <p:spPr>
          <a:xfrm>
            <a:off x="15781436" y="4475112"/>
            <a:ext cx="1411189"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FFD27A"/>
                </a:solidFill>
                <a:latin typeface="Arial"/>
                <a:ea typeface="Arial"/>
                <a:cs typeface="Arial"/>
                <a:sym typeface="Arial"/>
              </a:defRPr>
            </a:lvl1pPr>
          </a:lstStyle>
          <a:p>
            <a:pPr/>
            <a:r>
              <a:t>sudo_exec</a:t>
            </a:r>
          </a:p>
        </p:txBody>
      </p:sp>
      <p:sp>
        <p:nvSpPr>
          <p:cNvPr id="323" name="Text 52"/>
          <p:cNvSpPr txBox="1"/>
          <p:nvPr/>
        </p:nvSpPr>
        <p:spPr>
          <a:xfrm>
            <a:off x="10753725" y="4703712"/>
            <a:ext cx="1945035"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FFD27A"/>
                </a:solidFill>
                <a:latin typeface="Arial"/>
                <a:ea typeface="Arial"/>
                <a:cs typeface="Arial"/>
                <a:sym typeface="Arial"/>
              </a:defRPr>
            </a:lvl1pPr>
          </a:lstStyle>
          <a:p>
            <a:pPr/>
            <a:r>
              <a:t>15:54:23</a:t>
            </a:r>
          </a:p>
        </p:txBody>
      </p:sp>
      <p:sp>
        <p:nvSpPr>
          <p:cNvPr id="324" name="Text 53"/>
          <p:cNvSpPr txBox="1"/>
          <p:nvPr/>
        </p:nvSpPr>
        <p:spPr>
          <a:xfrm>
            <a:off x="12755909" y="4703712"/>
            <a:ext cx="1322041"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b="1" sz="900">
                <a:solidFill>
                  <a:srgbClr val="E8ECF4"/>
                </a:solidFill>
                <a:latin typeface="Arial"/>
                <a:ea typeface="Arial"/>
                <a:cs typeface="Arial"/>
                <a:sym typeface="Arial"/>
              </a:defRPr>
            </a:lvl1pPr>
          </a:lstStyle>
          <a:p>
            <a:pPr/>
            <a:r>
              <a:t>CRED_REFR</a:t>
            </a:r>
          </a:p>
        </p:txBody>
      </p:sp>
      <p:sp>
        <p:nvSpPr>
          <p:cNvPr id="325" name="Text 54"/>
          <p:cNvSpPr txBox="1"/>
          <p:nvPr/>
        </p:nvSpPr>
        <p:spPr>
          <a:xfrm>
            <a:off x="14135099" y="4703712"/>
            <a:ext cx="1589189"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C3CAD8"/>
                </a:solidFill>
                <a:latin typeface="Arial"/>
                <a:ea typeface="Arial"/>
                <a:cs typeface="Arial"/>
                <a:sym typeface="Arial"/>
              </a:defRPr>
            </a:lvl1pPr>
          </a:lstStyle>
          <a:p>
            <a:pPr/>
            <a:r>
              <a:t>PAM:setcred · root</a:t>
            </a:r>
          </a:p>
        </p:txBody>
      </p:sp>
      <p:sp>
        <p:nvSpPr>
          <p:cNvPr id="326" name="Text 55"/>
          <p:cNvSpPr txBox="1"/>
          <p:nvPr/>
        </p:nvSpPr>
        <p:spPr>
          <a:xfrm>
            <a:off x="15781436" y="4703712"/>
            <a:ext cx="1411189"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FFD27A"/>
                </a:solidFill>
                <a:latin typeface="Arial"/>
                <a:ea typeface="Arial"/>
                <a:cs typeface="Arial"/>
                <a:sym typeface="Arial"/>
              </a:defRPr>
            </a:lvl1pPr>
          </a:lstStyle>
          <a:p>
            <a:pPr/>
            <a:r>
              <a:t>sudo_exec</a:t>
            </a:r>
          </a:p>
        </p:txBody>
      </p:sp>
      <p:sp>
        <p:nvSpPr>
          <p:cNvPr id="327" name="Text 56"/>
          <p:cNvSpPr txBox="1"/>
          <p:nvPr/>
        </p:nvSpPr>
        <p:spPr>
          <a:xfrm>
            <a:off x="10753725" y="4932312"/>
            <a:ext cx="1945035"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FFD27A"/>
                </a:solidFill>
                <a:latin typeface="Arial"/>
                <a:ea typeface="Arial"/>
                <a:cs typeface="Arial"/>
                <a:sym typeface="Arial"/>
              </a:defRPr>
            </a:lvl1pPr>
          </a:lstStyle>
          <a:p>
            <a:pPr/>
            <a:r>
              <a:t>15:54:23</a:t>
            </a:r>
          </a:p>
        </p:txBody>
      </p:sp>
      <p:sp>
        <p:nvSpPr>
          <p:cNvPr id="328" name="Text 57"/>
          <p:cNvSpPr txBox="1"/>
          <p:nvPr/>
        </p:nvSpPr>
        <p:spPr>
          <a:xfrm>
            <a:off x="12755909" y="4932312"/>
            <a:ext cx="1322041"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b="1" sz="900">
                <a:solidFill>
                  <a:srgbClr val="E8ECF4"/>
                </a:solidFill>
                <a:latin typeface="Arial"/>
                <a:ea typeface="Arial"/>
                <a:cs typeface="Arial"/>
                <a:sym typeface="Arial"/>
              </a:defRPr>
            </a:lvl1pPr>
          </a:lstStyle>
          <a:p>
            <a:pPr/>
            <a:r>
              <a:t>USER_START</a:t>
            </a:r>
          </a:p>
        </p:txBody>
      </p:sp>
      <p:sp>
        <p:nvSpPr>
          <p:cNvPr id="329" name="Text 58"/>
          <p:cNvSpPr txBox="1"/>
          <p:nvPr/>
        </p:nvSpPr>
        <p:spPr>
          <a:xfrm>
            <a:off x="14135099" y="4932312"/>
            <a:ext cx="1589189"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C3CAD8"/>
                </a:solidFill>
                <a:latin typeface="Arial"/>
                <a:ea typeface="Arial"/>
                <a:cs typeface="Arial"/>
                <a:sym typeface="Arial"/>
              </a:defRPr>
            </a:lvl1pPr>
          </a:lstStyle>
          <a:p>
            <a:pPr/>
            <a:r>
              <a:t>PAM:session · root</a:t>
            </a:r>
          </a:p>
        </p:txBody>
      </p:sp>
      <p:sp>
        <p:nvSpPr>
          <p:cNvPr id="330" name="Text 59"/>
          <p:cNvSpPr txBox="1"/>
          <p:nvPr/>
        </p:nvSpPr>
        <p:spPr>
          <a:xfrm>
            <a:off x="15781436" y="4932312"/>
            <a:ext cx="1411189"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50000"/>
              </a:lnSpc>
              <a:defRPr sz="900">
                <a:solidFill>
                  <a:srgbClr val="FFD27A"/>
                </a:solidFill>
                <a:latin typeface="Arial"/>
                <a:ea typeface="Arial"/>
                <a:cs typeface="Arial"/>
                <a:sym typeface="Arial"/>
              </a:defRPr>
            </a:lvl1pPr>
          </a:lstStyle>
          <a:p>
            <a:pPr/>
            <a:r>
              <a:t>sudo_session</a:t>
            </a:r>
          </a:p>
        </p:txBody>
      </p:sp>
      <p:sp>
        <p:nvSpPr>
          <p:cNvPr id="331" name="Shape 60"/>
          <p:cNvSpPr/>
          <p:nvPr/>
        </p:nvSpPr>
        <p:spPr>
          <a:xfrm>
            <a:off x="10534650" y="5456187"/>
            <a:ext cx="6800850" cy="1337222"/>
          </a:xfrm>
          <a:prstGeom prst="rect">
            <a:avLst/>
          </a:prstGeom>
          <a:solidFill>
            <a:srgbClr val="FF5A4E">
              <a:alpha val="6000"/>
            </a:srgbClr>
          </a:solidFill>
          <a:ln w="12700">
            <a:miter lim="400000"/>
          </a:ln>
        </p:spPr>
        <p:txBody>
          <a:bodyPr lIns="45719" rIns="45719"/>
          <a:lstStyle/>
          <a:p>
            <a:pPr/>
          </a:p>
        </p:txBody>
      </p:sp>
      <p:sp>
        <p:nvSpPr>
          <p:cNvPr id="332" name="Shape 61"/>
          <p:cNvSpPr/>
          <p:nvPr/>
        </p:nvSpPr>
        <p:spPr>
          <a:xfrm>
            <a:off x="10534650" y="5456187"/>
            <a:ext cx="28575" cy="1337222"/>
          </a:xfrm>
          <a:prstGeom prst="rect">
            <a:avLst/>
          </a:prstGeom>
          <a:solidFill>
            <a:srgbClr val="FF5A4E"/>
          </a:solidFill>
          <a:ln w="12700">
            <a:miter lim="400000"/>
          </a:ln>
        </p:spPr>
        <p:txBody>
          <a:bodyPr lIns="45719" rIns="45719"/>
          <a:lstStyle/>
          <a:p>
            <a:pPr/>
          </a:p>
        </p:txBody>
      </p:sp>
      <p:sp>
        <p:nvSpPr>
          <p:cNvPr id="333" name="Text 62"/>
          <p:cNvSpPr txBox="1"/>
          <p:nvPr/>
        </p:nvSpPr>
        <p:spPr>
          <a:xfrm>
            <a:off x="10791824" y="5627637"/>
            <a:ext cx="6519103" cy="1032422"/>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defTabSz="868680">
              <a:lnSpc>
                <a:spcPct val="145000"/>
              </a:lnSpc>
              <a:defRPr i="1" sz="1710">
                <a:solidFill>
                  <a:srgbClr val="E8ECF4"/>
                </a:solidFill>
                <a:latin typeface="Arial"/>
                <a:ea typeface="Arial"/>
                <a:cs typeface="Arial"/>
                <a:sym typeface="Arial"/>
              </a:defRPr>
            </a:pPr>
            <a:r>
              <a:t>One view, two bursts. </a:t>
            </a:r>
            <a:r>
              <a:rPr>
                <a:solidFill>
                  <a:srgbClr val="FF5A4E"/>
                </a:solidFill>
              </a:rPr>
              <a:t>Burst 1 at 15:53:55 is su; burst 2 at 15:54:23 is sudo. </a:t>
            </a:r>
            <a:r>
              <a:t>The dashboard reads from this view, not from a giant ad-hoc join. The SQL is the abstraction.</a:t>
            </a:r>
          </a:p>
        </p:txBody>
      </p:sp>
      <p:sp>
        <p:nvSpPr>
          <p:cNvPr id="334" name="Shape 63"/>
          <p:cNvSpPr/>
          <p:nvPr/>
        </p:nvSpPr>
        <p:spPr>
          <a:xfrm>
            <a:off x="952500" y="9647237"/>
            <a:ext cx="16383000" cy="12701"/>
          </a:xfrm>
          <a:prstGeom prst="rect">
            <a:avLst/>
          </a:prstGeom>
          <a:solidFill>
            <a:srgbClr val="232A3A"/>
          </a:solidFill>
          <a:ln w="12700">
            <a:miter lim="400000"/>
          </a:ln>
        </p:spPr>
        <p:txBody>
          <a:bodyPr lIns="45719" rIns="45719"/>
          <a:lstStyle/>
          <a:p>
            <a:pPr/>
          </a:p>
        </p:txBody>
      </p:sp>
      <p:sp>
        <p:nvSpPr>
          <p:cNvPr id="335" name="Text 64"/>
          <p:cNvSpPr txBox="1"/>
          <p:nvPr/>
        </p:nvSpPr>
        <p:spPr>
          <a:xfrm>
            <a:off x="952499" y="9810750"/>
            <a:ext cx="2372918" cy="20955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defRPr spc="96" sz="1152">
                <a:solidFill>
                  <a:srgbClr val="8A93A6"/>
                </a:solidFill>
                <a:latin typeface="Arial"/>
                <a:ea typeface="Arial"/>
                <a:cs typeface="Arial"/>
                <a:sym typeface="Arial"/>
              </a:defRPr>
            </a:lvl1pPr>
          </a:lstStyle>
          <a:p>
            <a:pPr/>
            <a:r>
              <a:t>07 / 11 · NAMAN · 1:15</a:t>
            </a:r>
          </a:p>
        </p:txBody>
      </p:sp>
      <p:sp>
        <p:nvSpPr>
          <p:cNvPr id="336" name="Text 65"/>
          <p:cNvSpPr txBox="1"/>
          <p:nvPr/>
        </p:nvSpPr>
        <p:spPr>
          <a:xfrm>
            <a:off x="14579947" y="9810750"/>
            <a:ext cx="2838220" cy="20955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defRPr spc="96" sz="1152">
                <a:solidFill>
                  <a:srgbClr val="8A93A6"/>
                </a:solidFill>
                <a:latin typeface="Arial"/>
                <a:ea typeface="Arial"/>
                <a:cs typeface="Arial"/>
                <a:sym typeface="Arial"/>
              </a:defRPr>
            </a:lvl1pPr>
          </a:lstStyle>
          <a:p>
            <a:pPr/>
            <a:r>
              <a:t>DEEP DIVE 02 · SAVED VIEW</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B0D12"/>
        </a:solidFill>
      </p:bgPr>
    </p:bg>
    <p:spTree>
      <p:nvGrpSpPr>
        <p:cNvPr id="1" name=""/>
        <p:cNvGrpSpPr/>
        <p:nvPr/>
      </p:nvGrpSpPr>
      <p:grpSpPr>
        <a:xfrm>
          <a:off x="0" y="0"/>
          <a:ext cx="0" cy="0"/>
          <a:chOff x="0" y="0"/>
          <a:chExt cx="0" cy="0"/>
        </a:xfrm>
      </p:grpSpPr>
      <p:sp>
        <p:nvSpPr>
          <p:cNvPr id="340" name="Shape 0"/>
          <p:cNvSpPr/>
          <p:nvPr/>
        </p:nvSpPr>
        <p:spPr>
          <a:xfrm>
            <a:off x="952500" y="1055687"/>
            <a:ext cx="16383000" cy="12701"/>
          </a:xfrm>
          <a:prstGeom prst="rect">
            <a:avLst/>
          </a:prstGeom>
          <a:solidFill>
            <a:srgbClr val="232A3A"/>
          </a:solidFill>
          <a:ln w="12700">
            <a:miter lim="400000"/>
          </a:ln>
        </p:spPr>
        <p:txBody>
          <a:bodyPr lIns="45719" rIns="45719"/>
          <a:lstStyle/>
          <a:p>
            <a:pPr/>
          </a:p>
        </p:txBody>
      </p:sp>
      <p:sp>
        <p:nvSpPr>
          <p:cNvPr id="341" name="Text 1"/>
          <p:cNvSpPr txBox="1"/>
          <p:nvPr/>
        </p:nvSpPr>
        <p:spPr>
          <a:xfrm>
            <a:off x="952499" y="609600"/>
            <a:ext cx="5561164" cy="25717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defRPr b="1" spc="200" sz="1300">
                <a:solidFill>
                  <a:srgbClr val="FF5A4E"/>
                </a:solidFill>
                <a:latin typeface="Arial"/>
                <a:ea typeface="Arial"/>
                <a:cs typeface="Arial"/>
                <a:sym typeface="Arial"/>
              </a:defRPr>
            </a:pPr>
            <a:r>
              <a:t>DEEP DIVE 03 </a:t>
            </a:r>
            <a:r>
              <a:rPr b="0">
                <a:solidFill>
                  <a:srgbClr val="C3CAD8"/>
                </a:solidFill>
              </a:rPr>
              <a:t>/ EXISTS SUBQUERY + DISTINCT</a:t>
            </a:r>
          </a:p>
        </p:txBody>
      </p:sp>
      <p:sp>
        <p:nvSpPr>
          <p:cNvPr id="342" name="Text 2"/>
          <p:cNvSpPr txBox="1"/>
          <p:nvPr/>
        </p:nvSpPr>
        <p:spPr>
          <a:xfrm>
            <a:off x="10336559" y="628650"/>
            <a:ext cx="7208909" cy="23812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defRPr spc="200" sz="1300">
                <a:solidFill>
                  <a:srgbClr val="8A93A6"/>
                </a:solidFill>
                <a:latin typeface="Arial"/>
                <a:ea typeface="Arial"/>
                <a:cs typeface="Arial"/>
                <a:sym typeface="Arial"/>
              </a:defRPr>
            </a:pPr>
            <a:r>
              <a:t>ISHAAN · </a:t>
            </a:r>
            <a:r>
              <a:rPr sz="1200">
                <a:solidFill>
                  <a:srgbClr val="E8ECF4"/>
                </a:solidFill>
              </a:rPr>
              <a:t>ISHAAN_AUDIT_TYPES_IN_PRIVILEGE_ESCALATION.SQL</a:t>
            </a:r>
          </a:p>
        </p:txBody>
      </p:sp>
      <p:sp>
        <p:nvSpPr>
          <p:cNvPr id="343" name="Text 3"/>
          <p:cNvSpPr txBox="1"/>
          <p:nvPr/>
        </p:nvSpPr>
        <p:spPr>
          <a:xfrm>
            <a:off x="952500" y="1600199"/>
            <a:ext cx="16874490" cy="1107879"/>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defTabSz="896111">
              <a:lnSpc>
                <a:spcPct val="108000"/>
              </a:lnSpc>
              <a:defRPr spc="-98" sz="3822">
                <a:solidFill>
                  <a:srgbClr val="E8ECF4"/>
                </a:solidFill>
                <a:latin typeface="Arial"/>
                <a:ea typeface="Arial"/>
                <a:cs typeface="Arial"/>
                <a:sym typeface="Arial"/>
              </a:defRPr>
            </a:pPr>
            <a:r>
              <a:t>Which audit types fire on </a:t>
            </a:r>
            <a:r>
              <a:rPr spc="-97" sz="3430"/>
              <a:t>intranet_server </a:t>
            </a:r>
            <a:r>
              <a:t>lines that carry a privilege_escalation label?</a:t>
            </a:r>
          </a:p>
        </p:txBody>
      </p:sp>
      <p:sp>
        <p:nvSpPr>
          <p:cNvPr id="344" name="Shape 4"/>
          <p:cNvSpPr/>
          <p:nvPr/>
        </p:nvSpPr>
        <p:spPr>
          <a:xfrm>
            <a:off x="952500" y="3012876"/>
            <a:ext cx="8320980" cy="4491039"/>
          </a:xfrm>
          <a:prstGeom prst="roundRect">
            <a:avLst>
              <a:gd name="adj" fmla="val 1273"/>
            </a:avLst>
          </a:prstGeom>
          <a:solidFill>
            <a:srgbClr val="1C2230"/>
          </a:solidFill>
          <a:ln>
            <a:solidFill>
              <a:srgbClr val="2C3548"/>
            </a:solidFill>
          </a:ln>
        </p:spPr>
        <p:txBody>
          <a:bodyPr lIns="45719" rIns="45719"/>
          <a:lstStyle/>
          <a:p>
            <a:pPr/>
          </a:p>
        </p:txBody>
      </p:sp>
      <p:sp>
        <p:nvSpPr>
          <p:cNvPr id="345" name="Text 5"/>
          <p:cNvSpPr txBox="1"/>
          <p:nvPr/>
        </p:nvSpPr>
        <p:spPr>
          <a:xfrm>
            <a:off x="1228724" y="3251002"/>
            <a:ext cx="8018162" cy="405288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defTabSz="896111">
              <a:lnSpc>
                <a:spcPct val="155000"/>
              </a:lnSpc>
              <a:defRPr sz="1176">
                <a:solidFill>
                  <a:srgbClr val="FF8FB3"/>
                </a:solidFill>
                <a:latin typeface="Arial"/>
                <a:ea typeface="Arial"/>
                <a:cs typeface="Arial"/>
                <a:sym typeface="Arial"/>
              </a:defRPr>
            </a:pPr>
            <a:r>
              <a:t>SELECT DISTINCT</a:t>
            </a:r>
            <a:r>
              <a:rPr>
                <a:solidFill>
                  <a:srgbClr val="E8ECF4"/>
                </a:solidFill>
              </a:rPr>
              <a:t> ae.type </a:t>
            </a:r>
            <a:r>
              <a:t>AS</a:t>
            </a:r>
            <a:r>
              <a:rPr>
                <a:solidFill>
                  <a:srgbClr val="E8ECF4"/>
                </a:solidFill>
              </a:rPr>
              <a:t> audit_type </a:t>
            </a:r>
            <a:r>
              <a:t>FROM</a:t>
            </a:r>
            <a:r>
              <a:rPr>
                <a:solidFill>
                  <a:srgbClr val="E8ECF4"/>
                </a:solidFill>
              </a:rPr>
              <a:t> audit_event ae </a:t>
            </a:r>
            <a:r>
              <a:t>JOIN</a:t>
            </a:r>
            <a:r>
              <a:rPr>
                <a:solidFill>
                  <a:srgbClr val="E8ECF4"/>
                </a:solidFill>
              </a:rPr>
              <a:t> host h </a:t>
            </a:r>
            <a:r>
              <a:t>ON</a:t>
            </a:r>
            <a:r>
              <a:rPr>
                <a:solidFill>
                  <a:srgbClr val="E8ECF4"/>
                </a:solidFill>
              </a:rPr>
              <a:t> h.host_id = ae.host_id </a:t>
            </a:r>
            <a:r>
              <a:t>WHERE</a:t>
            </a:r>
            <a:r>
              <a:rPr>
                <a:solidFill>
                  <a:srgbClr val="E8ECF4"/>
                </a:solidFill>
              </a:rPr>
              <a:t> h.host_key = </a:t>
            </a:r>
            <a:r>
              <a:rPr>
                <a:solidFill>
                  <a:srgbClr val="7DDCA0"/>
                </a:solidFill>
              </a:rPr>
              <a:t>'intranet_server' </a:t>
            </a:r>
            <a:r>
              <a:rPr>
                <a:solidFill>
                  <a:srgbClr val="E8ECF4"/>
                </a:solidFill>
              </a:rPr>
              <a:t>  </a:t>
            </a:r>
            <a:r>
              <a:t>AND EXISTS </a:t>
            </a:r>
            <a:r>
              <a:rPr>
                <a:solidFill>
                  <a:srgbClr val="E8ECF4"/>
                </a:solidFill>
              </a:rPr>
              <a:t> (</a:t>
            </a:r>
          </a:p>
          <a:p>
            <a:pPr defTabSz="896111">
              <a:lnSpc>
                <a:spcPct val="155000"/>
              </a:lnSpc>
              <a:defRPr sz="1176">
                <a:solidFill>
                  <a:srgbClr val="E8ECF4"/>
                </a:solidFill>
                <a:latin typeface="Arial"/>
                <a:ea typeface="Arial"/>
                <a:cs typeface="Arial"/>
                <a:sym typeface="Arial"/>
              </a:defRPr>
            </a:pPr>
            <a:r>
              <a:t>       </a:t>
            </a:r>
          </a:p>
          <a:p>
            <a:pPr defTabSz="896111">
              <a:lnSpc>
                <a:spcPct val="155000"/>
              </a:lnSpc>
              <a:defRPr sz="1176">
                <a:solidFill>
                  <a:srgbClr val="FF8FB3"/>
                </a:solidFill>
                <a:latin typeface="Arial"/>
                <a:ea typeface="Arial"/>
                <a:cs typeface="Arial"/>
                <a:sym typeface="Arial"/>
              </a:defRPr>
            </a:pPr>
            <a:r>
              <a:t>SELECT</a:t>
            </a:r>
            <a:r>
              <a:rPr>
                <a:solidFill>
                  <a:srgbClr val="E8ECF4"/>
                </a:solidFill>
              </a:rPr>
              <a:t> </a:t>
            </a:r>
            <a:r>
              <a:rPr>
                <a:solidFill>
                  <a:srgbClr val="F7C97A"/>
                </a:solidFill>
              </a:rPr>
              <a:t>1 </a:t>
            </a:r>
            <a:r>
              <a:rPr>
                <a:solidFill>
                  <a:srgbClr val="E8ECF4"/>
                </a:solidFill>
              </a:rPr>
              <a:t>      </a:t>
            </a:r>
            <a:r>
              <a:t>FROM </a:t>
            </a:r>
            <a:r>
              <a:rPr>
                <a:solidFill>
                  <a:srgbClr val="E8ECF4"/>
                </a:solidFill>
              </a:rPr>
              <a:t> labeled_line ll</a:t>
            </a:r>
          </a:p>
          <a:p>
            <a:pPr defTabSz="896111">
              <a:lnSpc>
                <a:spcPct val="155000"/>
              </a:lnSpc>
              <a:defRPr sz="1176">
                <a:solidFill>
                  <a:srgbClr val="E8ECF4"/>
                </a:solidFill>
                <a:latin typeface="Arial"/>
                <a:ea typeface="Arial"/>
                <a:cs typeface="Arial"/>
                <a:sym typeface="Arial"/>
              </a:defRPr>
            </a:pPr>
            <a:r>
              <a:t>       </a:t>
            </a:r>
          </a:p>
          <a:p>
            <a:pPr defTabSz="896111">
              <a:lnSpc>
                <a:spcPct val="155000"/>
              </a:lnSpc>
              <a:defRPr sz="1176">
                <a:solidFill>
                  <a:srgbClr val="FF8FB3"/>
                </a:solidFill>
                <a:latin typeface="Arial"/>
                <a:ea typeface="Arial"/>
                <a:cs typeface="Arial"/>
                <a:sym typeface="Arial"/>
              </a:defRPr>
            </a:pPr>
            <a:r>
              <a:t>JOIN</a:t>
            </a:r>
            <a:r>
              <a:rPr>
                <a:solidFill>
                  <a:srgbClr val="E8ECF4"/>
                </a:solidFill>
              </a:rPr>
              <a:t> labeled_line_label lll </a:t>
            </a:r>
            <a:r>
              <a:t>ON </a:t>
            </a:r>
            <a:r>
              <a:rPr>
                <a:solidFill>
                  <a:srgbClr val="E8ECF4"/>
                </a:solidFill>
              </a:rPr>
              <a:t> lll.labeled_line_id = ll.labeled_line_id</a:t>
            </a:r>
          </a:p>
          <a:p>
            <a:pPr defTabSz="896111">
              <a:lnSpc>
                <a:spcPct val="155000"/>
              </a:lnSpc>
              <a:defRPr sz="1176">
                <a:solidFill>
                  <a:srgbClr val="E8ECF4"/>
                </a:solidFill>
                <a:latin typeface="Arial"/>
                <a:ea typeface="Arial"/>
                <a:cs typeface="Arial"/>
                <a:sym typeface="Arial"/>
              </a:defRPr>
            </a:pPr>
            <a:r>
              <a:t>       </a:t>
            </a:r>
          </a:p>
          <a:p>
            <a:pPr defTabSz="896111">
              <a:lnSpc>
                <a:spcPct val="155000"/>
              </a:lnSpc>
              <a:defRPr sz="1176">
                <a:solidFill>
                  <a:srgbClr val="FF8FB3"/>
                </a:solidFill>
                <a:latin typeface="Arial"/>
                <a:ea typeface="Arial"/>
                <a:cs typeface="Arial"/>
                <a:sym typeface="Arial"/>
              </a:defRPr>
            </a:pPr>
            <a:r>
              <a:t>JOIN</a:t>
            </a:r>
            <a:r>
              <a:rPr>
                <a:solidFill>
                  <a:srgbClr val="E8ECF4"/>
                </a:solidFill>
              </a:rPr>
              <a:t> attack_label al        </a:t>
            </a:r>
            <a:r>
              <a:t>ON </a:t>
            </a:r>
            <a:r>
              <a:rPr>
                <a:solidFill>
                  <a:srgbClr val="E8ECF4"/>
                </a:solidFill>
              </a:rPr>
              <a:t> al.label_id = lll.label_id</a:t>
            </a:r>
          </a:p>
          <a:p>
            <a:pPr defTabSz="896111">
              <a:lnSpc>
                <a:spcPct val="155000"/>
              </a:lnSpc>
              <a:defRPr sz="1176">
                <a:solidFill>
                  <a:srgbClr val="E8ECF4"/>
                </a:solidFill>
                <a:latin typeface="Arial"/>
                <a:ea typeface="Arial"/>
                <a:cs typeface="Arial"/>
                <a:sym typeface="Arial"/>
              </a:defRPr>
            </a:pPr>
            <a:r>
              <a:t>       </a:t>
            </a:r>
          </a:p>
          <a:p>
            <a:pPr defTabSz="896111">
              <a:lnSpc>
                <a:spcPct val="155000"/>
              </a:lnSpc>
              <a:defRPr sz="1176">
                <a:solidFill>
                  <a:srgbClr val="FF8FB3"/>
                </a:solidFill>
                <a:latin typeface="Arial"/>
                <a:ea typeface="Arial"/>
                <a:cs typeface="Arial"/>
                <a:sym typeface="Arial"/>
              </a:defRPr>
            </a:pPr>
            <a:r>
              <a:t>JOIN</a:t>
            </a:r>
            <a:r>
              <a:rPr>
                <a:solidFill>
                  <a:srgbClr val="E8ECF4"/>
                </a:solidFill>
              </a:rPr>
              <a:t> attack_phase ap        </a:t>
            </a:r>
            <a:r>
              <a:t>ON </a:t>
            </a:r>
            <a:r>
              <a:rPr>
                <a:solidFill>
                  <a:srgbClr val="E8ECF4"/>
                </a:solidFill>
              </a:rPr>
              <a:t> ap.phase_id = al.phase_id</a:t>
            </a:r>
          </a:p>
          <a:p>
            <a:pPr defTabSz="896111">
              <a:lnSpc>
                <a:spcPct val="155000"/>
              </a:lnSpc>
              <a:defRPr sz="1176">
                <a:solidFill>
                  <a:srgbClr val="E8ECF4"/>
                </a:solidFill>
                <a:latin typeface="Arial"/>
                <a:ea typeface="Arial"/>
                <a:cs typeface="Arial"/>
                <a:sym typeface="Arial"/>
              </a:defRPr>
            </a:pPr>
            <a:r>
              <a:t>       </a:t>
            </a:r>
          </a:p>
          <a:p>
            <a:pPr defTabSz="896111">
              <a:lnSpc>
                <a:spcPct val="155000"/>
              </a:lnSpc>
              <a:defRPr sz="1176">
                <a:solidFill>
                  <a:srgbClr val="FF8FB3"/>
                </a:solidFill>
                <a:latin typeface="Arial"/>
                <a:ea typeface="Arial"/>
                <a:cs typeface="Arial"/>
                <a:sym typeface="Arial"/>
              </a:defRPr>
            </a:pPr>
            <a:r>
              <a:t>WHERE </a:t>
            </a:r>
            <a:r>
              <a:rPr>
                <a:solidFill>
                  <a:srgbClr val="E8ECF4"/>
                </a:solidFill>
              </a:rPr>
              <a:t> ll.source_host = h.host_key</a:t>
            </a:r>
          </a:p>
          <a:p>
            <a:pPr defTabSz="896111">
              <a:lnSpc>
                <a:spcPct val="155000"/>
              </a:lnSpc>
              <a:defRPr sz="1176">
                <a:solidFill>
                  <a:srgbClr val="E8ECF4"/>
                </a:solidFill>
                <a:latin typeface="Arial"/>
                <a:ea typeface="Arial"/>
                <a:cs typeface="Arial"/>
                <a:sym typeface="Arial"/>
              </a:defRPr>
            </a:pPr>
            <a:r>
              <a:t>         </a:t>
            </a:r>
          </a:p>
          <a:p>
            <a:pPr defTabSz="896111">
              <a:lnSpc>
                <a:spcPct val="155000"/>
              </a:lnSpc>
              <a:defRPr sz="1176">
                <a:solidFill>
                  <a:srgbClr val="FF8FB3"/>
                </a:solidFill>
                <a:latin typeface="Arial"/>
                <a:ea typeface="Arial"/>
                <a:cs typeface="Arial"/>
                <a:sym typeface="Arial"/>
              </a:defRPr>
            </a:pPr>
            <a:r>
              <a:t>AND</a:t>
            </a:r>
            <a:r>
              <a:rPr>
                <a:solidFill>
                  <a:srgbClr val="E8ECF4"/>
                </a:solidFill>
              </a:rPr>
              <a:t> ll.source_log  = </a:t>
            </a:r>
            <a:r>
              <a:rPr>
                <a:solidFill>
                  <a:srgbClr val="7DDCA0"/>
                </a:solidFill>
              </a:rPr>
              <a:t>'audit.log' </a:t>
            </a:r>
            <a:r>
              <a:rPr>
                <a:solidFill>
                  <a:srgbClr val="E8ECF4"/>
                </a:solidFill>
              </a:rPr>
              <a:t>        </a:t>
            </a:r>
            <a:r>
              <a:t>AND </a:t>
            </a:r>
            <a:r>
              <a:rPr>
                <a:solidFill>
                  <a:srgbClr val="E8ECF4"/>
                </a:solidFill>
              </a:rPr>
              <a:t> ll.line_number = ae.line_number</a:t>
            </a:r>
          </a:p>
          <a:p>
            <a:pPr defTabSz="896111">
              <a:lnSpc>
                <a:spcPct val="155000"/>
              </a:lnSpc>
              <a:defRPr sz="1176">
                <a:solidFill>
                  <a:srgbClr val="E8ECF4"/>
                </a:solidFill>
                <a:latin typeface="Arial"/>
                <a:ea typeface="Arial"/>
                <a:cs typeface="Arial"/>
                <a:sym typeface="Arial"/>
              </a:defRPr>
            </a:pPr>
            <a:r>
              <a:t>         </a:t>
            </a:r>
          </a:p>
          <a:p>
            <a:pPr defTabSz="896111">
              <a:lnSpc>
                <a:spcPct val="155000"/>
              </a:lnSpc>
              <a:defRPr sz="1176">
                <a:solidFill>
                  <a:srgbClr val="FF8FB3"/>
                </a:solidFill>
                <a:latin typeface="Arial"/>
                <a:ea typeface="Arial"/>
                <a:cs typeface="Arial"/>
                <a:sym typeface="Arial"/>
              </a:defRPr>
            </a:pPr>
            <a:r>
              <a:t>AND</a:t>
            </a:r>
            <a:r>
              <a:rPr>
                <a:solidFill>
                  <a:srgbClr val="E8ECF4"/>
                </a:solidFill>
              </a:rPr>
              <a:t> ap.phase_name  = </a:t>
            </a:r>
            <a:r>
              <a:rPr>
                <a:solidFill>
                  <a:srgbClr val="7DDCA0"/>
                </a:solidFill>
              </a:rPr>
              <a:t>'privilege_escalation' </a:t>
            </a:r>
            <a:r>
              <a:rPr>
                <a:solidFill>
                  <a:srgbClr val="E8ECF4"/>
                </a:solidFill>
              </a:rPr>
              <a:t>  ) </a:t>
            </a:r>
            <a:r>
              <a:t>ORDER BY</a:t>
            </a:r>
            <a:r>
              <a:rPr>
                <a:solidFill>
                  <a:srgbClr val="E8ECF4"/>
                </a:solidFill>
              </a:rPr>
              <a:t> audit_type;</a:t>
            </a:r>
          </a:p>
        </p:txBody>
      </p:sp>
      <p:sp>
        <p:nvSpPr>
          <p:cNvPr id="346" name="Shape 6"/>
          <p:cNvSpPr/>
          <p:nvPr/>
        </p:nvSpPr>
        <p:spPr>
          <a:xfrm>
            <a:off x="952499" y="7730926"/>
            <a:ext cx="2659263" cy="12701"/>
          </a:xfrm>
          <a:prstGeom prst="rect">
            <a:avLst/>
          </a:prstGeom>
          <a:solidFill>
            <a:srgbClr val="2C3548"/>
          </a:solidFill>
          <a:ln w="12700">
            <a:miter lim="400000"/>
          </a:ln>
        </p:spPr>
        <p:txBody>
          <a:bodyPr lIns="45719" rIns="45719"/>
          <a:lstStyle/>
          <a:p>
            <a:pPr/>
          </a:p>
        </p:txBody>
      </p:sp>
      <p:sp>
        <p:nvSpPr>
          <p:cNvPr id="347" name="Text 7"/>
          <p:cNvSpPr txBox="1"/>
          <p:nvPr/>
        </p:nvSpPr>
        <p:spPr>
          <a:xfrm>
            <a:off x="952499" y="7875389"/>
            <a:ext cx="2739041" cy="18097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900">
                <a:solidFill>
                  <a:srgbClr val="5D6577"/>
                </a:solidFill>
                <a:latin typeface="Arial"/>
                <a:ea typeface="Arial"/>
                <a:cs typeface="Arial"/>
                <a:sym typeface="Arial"/>
              </a:defRPr>
            </a:lvl1pPr>
          </a:lstStyle>
          <a:p>
            <a:pPr/>
            <a:r>
              <a:t>PATTERN</a:t>
            </a:r>
          </a:p>
        </p:txBody>
      </p:sp>
      <p:sp>
        <p:nvSpPr>
          <p:cNvPr id="348" name="Text 8"/>
          <p:cNvSpPr txBox="1"/>
          <p:nvPr/>
        </p:nvSpPr>
        <p:spPr>
          <a:xfrm>
            <a:off x="952499" y="8094464"/>
            <a:ext cx="2739041" cy="2476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50391">
              <a:defRPr sz="1488">
                <a:solidFill>
                  <a:srgbClr val="E8ECF4"/>
                </a:solidFill>
                <a:latin typeface="Arial"/>
                <a:ea typeface="Arial"/>
                <a:cs typeface="Arial"/>
                <a:sym typeface="Arial"/>
              </a:defRPr>
            </a:lvl1pPr>
          </a:lstStyle>
          <a:p>
            <a:pPr/>
            <a:r>
              <a:t>EXISTS · 4-tbl body</a:t>
            </a:r>
          </a:p>
        </p:txBody>
      </p:sp>
      <p:sp>
        <p:nvSpPr>
          <p:cNvPr id="349" name="Shape 9"/>
          <p:cNvSpPr/>
          <p:nvPr/>
        </p:nvSpPr>
        <p:spPr>
          <a:xfrm>
            <a:off x="3783210" y="7730926"/>
            <a:ext cx="2659411" cy="12701"/>
          </a:xfrm>
          <a:prstGeom prst="rect">
            <a:avLst/>
          </a:prstGeom>
          <a:solidFill>
            <a:srgbClr val="2C3548"/>
          </a:solidFill>
          <a:ln w="12700">
            <a:miter lim="400000"/>
          </a:ln>
        </p:spPr>
        <p:txBody>
          <a:bodyPr lIns="45719" rIns="45719"/>
          <a:lstStyle/>
          <a:p>
            <a:pPr/>
          </a:p>
        </p:txBody>
      </p:sp>
      <p:sp>
        <p:nvSpPr>
          <p:cNvPr id="350" name="Text 10"/>
          <p:cNvSpPr txBox="1"/>
          <p:nvPr/>
        </p:nvSpPr>
        <p:spPr>
          <a:xfrm>
            <a:off x="3783211" y="7875389"/>
            <a:ext cx="2739192" cy="18097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900">
                <a:solidFill>
                  <a:srgbClr val="5D6577"/>
                </a:solidFill>
                <a:latin typeface="Arial"/>
                <a:ea typeface="Arial"/>
                <a:cs typeface="Arial"/>
                <a:sym typeface="Arial"/>
              </a:defRPr>
            </a:lvl1pPr>
          </a:lstStyle>
          <a:p>
            <a:pPr/>
            <a:r>
              <a:t>RESULT</a:t>
            </a:r>
          </a:p>
        </p:txBody>
      </p:sp>
      <p:sp>
        <p:nvSpPr>
          <p:cNvPr id="351" name="Text 11"/>
          <p:cNvSpPr txBox="1"/>
          <p:nvPr/>
        </p:nvSpPr>
        <p:spPr>
          <a:xfrm>
            <a:off x="3783211" y="8094464"/>
            <a:ext cx="2739192" cy="2476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50391">
              <a:defRPr sz="1488">
                <a:solidFill>
                  <a:srgbClr val="E8ECF4"/>
                </a:solidFill>
                <a:latin typeface="Arial"/>
                <a:ea typeface="Arial"/>
                <a:cs typeface="Arial"/>
                <a:sym typeface="Arial"/>
              </a:defRPr>
            </a:lvl1pPr>
          </a:lstStyle>
          <a:p>
            <a:pPr/>
            <a:r>
              <a:t>8 rows</a:t>
            </a:r>
          </a:p>
        </p:txBody>
      </p:sp>
      <p:sp>
        <p:nvSpPr>
          <p:cNvPr id="352" name="Shape 12"/>
          <p:cNvSpPr/>
          <p:nvPr/>
        </p:nvSpPr>
        <p:spPr>
          <a:xfrm>
            <a:off x="6614070" y="7730926"/>
            <a:ext cx="2659262" cy="12701"/>
          </a:xfrm>
          <a:prstGeom prst="rect">
            <a:avLst/>
          </a:prstGeom>
          <a:solidFill>
            <a:srgbClr val="2C3548"/>
          </a:solidFill>
          <a:ln w="12700">
            <a:miter lim="400000"/>
          </a:ln>
        </p:spPr>
        <p:txBody>
          <a:bodyPr lIns="45719" rIns="45719"/>
          <a:lstStyle/>
          <a:p>
            <a:pPr/>
          </a:p>
        </p:txBody>
      </p:sp>
      <p:sp>
        <p:nvSpPr>
          <p:cNvPr id="353" name="Text 13"/>
          <p:cNvSpPr txBox="1"/>
          <p:nvPr/>
        </p:nvSpPr>
        <p:spPr>
          <a:xfrm>
            <a:off x="6614070" y="7875389"/>
            <a:ext cx="2739040" cy="18097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900">
                <a:solidFill>
                  <a:srgbClr val="5D6577"/>
                </a:solidFill>
                <a:latin typeface="Arial"/>
                <a:ea typeface="Arial"/>
                <a:cs typeface="Arial"/>
                <a:sym typeface="Arial"/>
              </a:defRPr>
            </a:lvl1pPr>
          </a:lstStyle>
          <a:p>
            <a:pPr/>
            <a:r>
              <a:t>RUNTIME</a:t>
            </a:r>
          </a:p>
        </p:txBody>
      </p:sp>
      <p:sp>
        <p:nvSpPr>
          <p:cNvPr id="354" name="Text 14"/>
          <p:cNvSpPr txBox="1"/>
          <p:nvPr/>
        </p:nvSpPr>
        <p:spPr>
          <a:xfrm>
            <a:off x="6614070" y="8094464"/>
            <a:ext cx="2739040" cy="2476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50391">
              <a:defRPr sz="1488">
                <a:solidFill>
                  <a:srgbClr val="E8ECF4"/>
                </a:solidFill>
                <a:latin typeface="Arial"/>
                <a:ea typeface="Arial"/>
                <a:cs typeface="Arial"/>
                <a:sym typeface="Arial"/>
              </a:defRPr>
            </a:lvl1pPr>
          </a:lstStyle>
          <a:p>
            <a:pPr/>
            <a:r>
              <a:t>0.233 s</a:t>
            </a:r>
          </a:p>
        </p:txBody>
      </p:sp>
      <p:sp>
        <p:nvSpPr>
          <p:cNvPr id="355" name="Shape 15"/>
          <p:cNvSpPr/>
          <p:nvPr/>
        </p:nvSpPr>
        <p:spPr>
          <a:xfrm>
            <a:off x="9806879" y="3012876"/>
            <a:ext cx="3678437" cy="2219326"/>
          </a:xfrm>
          <a:prstGeom prst="roundRect">
            <a:avLst>
              <a:gd name="adj" fmla="val 3433"/>
            </a:avLst>
          </a:prstGeom>
          <a:solidFill>
            <a:srgbClr val="141923"/>
          </a:solidFill>
          <a:ln w="12700">
            <a:miter lim="400000"/>
          </a:ln>
        </p:spPr>
        <p:txBody>
          <a:bodyPr lIns="45719" rIns="45719"/>
          <a:lstStyle/>
          <a:p>
            <a:pPr/>
          </a:p>
        </p:txBody>
      </p:sp>
      <p:sp>
        <p:nvSpPr>
          <p:cNvPr id="356" name="Shape 16"/>
          <p:cNvSpPr/>
          <p:nvPr/>
        </p:nvSpPr>
        <p:spPr>
          <a:xfrm>
            <a:off x="9806879" y="5221089"/>
            <a:ext cx="3678437" cy="12701"/>
          </a:xfrm>
          <a:prstGeom prst="rect">
            <a:avLst/>
          </a:prstGeom>
          <a:solidFill>
            <a:srgbClr val="232A3A"/>
          </a:solidFill>
          <a:ln w="12700">
            <a:miter lim="400000"/>
          </a:ln>
        </p:spPr>
        <p:txBody>
          <a:bodyPr lIns="45719" rIns="45719"/>
          <a:lstStyle/>
          <a:p>
            <a:pPr/>
          </a:p>
        </p:txBody>
      </p:sp>
      <p:sp>
        <p:nvSpPr>
          <p:cNvPr id="357" name="Shape 17"/>
          <p:cNvSpPr/>
          <p:nvPr/>
        </p:nvSpPr>
        <p:spPr>
          <a:xfrm>
            <a:off x="9806879" y="3011289"/>
            <a:ext cx="3678437" cy="12701"/>
          </a:xfrm>
          <a:prstGeom prst="rect">
            <a:avLst/>
          </a:prstGeom>
          <a:solidFill>
            <a:srgbClr val="232A3A"/>
          </a:solidFill>
          <a:ln w="12700">
            <a:miter lim="400000"/>
          </a:ln>
        </p:spPr>
        <p:txBody>
          <a:bodyPr lIns="45719" rIns="45719"/>
          <a:lstStyle/>
          <a:p>
            <a:pPr/>
          </a:p>
        </p:txBody>
      </p:sp>
      <p:sp>
        <p:nvSpPr>
          <p:cNvPr id="358" name="Shape 18"/>
          <p:cNvSpPr/>
          <p:nvPr/>
        </p:nvSpPr>
        <p:spPr>
          <a:xfrm>
            <a:off x="9806879" y="3012876"/>
            <a:ext cx="38101" cy="2219326"/>
          </a:xfrm>
          <a:prstGeom prst="rect">
            <a:avLst/>
          </a:prstGeom>
          <a:solidFill>
            <a:srgbClr val="FF5A4E"/>
          </a:solidFill>
          <a:ln w="12700">
            <a:miter lim="400000"/>
          </a:ln>
        </p:spPr>
        <p:txBody>
          <a:bodyPr lIns="45719" rIns="45719"/>
          <a:lstStyle/>
          <a:p>
            <a:pPr/>
          </a:p>
        </p:txBody>
      </p:sp>
      <p:sp>
        <p:nvSpPr>
          <p:cNvPr id="359" name="Shape 19"/>
          <p:cNvSpPr/>
          <p:nvPr/>
        </p:nvSpPr>
        <p:spPr>
          <a:xfrm>
            <a:off x="13474203" y="3012876"/>
            <a:ext cx="12701" cy="2219326"/>
          </a:xfrm>
          <a:prstGeom prst="rect">
            <a:avLst/>
          </a:prstGeom>
          <a:solidFill>
            <a:srgbClr val="232A3A"/>
          </a:solidFill>
          <a:ln w="12700">
            <a:miter lim="400000"/>
          </a:ln>
        </p:spPr>
        <p:txBody>
          <a:bodyPr lIns="45719" rIns="45719"/>
          <a:lstStyle/>
          <a:p>
            <a:pPr/>
          </a:p>
        </p:txBody>
      </p:sp>
      <p:sp>
        <p:nvSpPr>
          <p:cNvPr id="360" name="Text 20"/>
          <p:cNvSpPr txBox="1"/>
          <p:nvPr/>
        </p:nvSpPr>
        <p:spPr>
          <a:xfrm>
            <a:off x="10073579" y="3231951"/>
            <a:ext cx="3268820"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200" sz="1000">
                <a:solidFill>
                  <a:srgbClr val="FF5A4E"/>
                </a:solidFill>
                <a:latin typeface="Arial"/>
                <a:ea typeface="Arial"/>
                <a:cs typeface="Arial"/>
                <a:sym typeface="Arial"/>
              </a:defRPr>
            </a:lvl1pPr>
          </a:lstStyle>
          <a:p>
            <a:pPr/>
            <a:r>
              <a:t>CRED FAMILY · 3</a:t>
            </a:r>
          </a:p>
        </p:txBody>
      </p:sp>
      <p:sp>
        <p:nvSpPr>
          <p:cNvPr id="361" name="Shape 21"/>
          <p:cNvSpPr/>
          <p:nvPr/>
        </p:nvSpPr>
        <p:spPr>
          <a:xfrm>
            <a:off x="10073579" y="3536751"/>
            <a:ext cx="1201788" cy="428626"/>
          </a:xfrm>
          <a:prstGeom prst="roundRect">
            <a:avLst>
              <a:gd name="adj" fmla="val 8889"/>
            </a:avLst>
          </a:prstGeom>
          <a:solidFill>
            <a:srgbClr val="FF5A4E">
              <a:alpha val="16000"/>
            </a:srgbClr>
          </a:solidFill>
          <a:ln>
            <a:solidFill>
              <a:srgbClr val="FF5A4E">
                <a:alpha val="55000"/>
              </a:srgbClr>
            </a:solidFill>
          </a:ln>
        </p:spPr>
        <p:txBody>
          <a:bodyPr lIns="45719" rIns="45719"/>
          <a:lstStyle/>
          <a:p>
            <a:pPr/>
          </a:p>
        </p:txBody>
      </p:sp>
      <p:sp>
        <p:nvSpPr>
          <p:cNvPr id="362" name="Text 22"/>
          <p:cNvSpPr txBox="1"/>
          <p:nvPr/>
        </p:nvSpPr>
        <p:spPr>
          <a:xfrm>
            <a:off x="10235504" y="3641526"/>
            <a:ext cx="954138" cy="25717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96111">
              <a:defRPr sz="1274">
                <a:solidFill>
                  <a:srgbClr val="FFB4AD"/>
                </a:solidFill>
                <a:latin typeface="Arial"/>
                <a:ea typeface="Arial"/>
                <a:cs typeface="Arial"/>
                <a:sym typeface="Arial"/>
              </a:defRPr>
            </a:lvl1pPr>
          </a:lstStyle>
          <a:p>
            <a:pPr/>
            <a:r>
              <a:t>CRED_ACQ</a:t>
            </a:r>
          </a:p>
        </p:txBody>
      </p:sp>
      <p:sp>
        <p:nvSpPr>
          <p:cNvPr id="363" name="Shape 23"/>
          <p:cNvSpPr/>
          <p:nvPr/>
        </p:nvSpPr>
        <p:spPr>
          <a:xfrm>
            <a:off x="11370618" y="3536751"/>
            <a:ext cx="1311474" cy="428626"/>
          </a:xfrm>
          <a:prstGeom prst="roundRect">
            <a:avLst>
              <a:gd name="adj" fmla="val 8889"/>
            </a:avLst>
          </a:prstGeom>
          <a:solidFill>
            <a:srgbClr val="FF5A4E">
              <a:alpha val="16000"/>
            </a:srgbClr>
          </a:solidFill>
          <a:ln>
            <a:solidFill>
              <a:srgbClr val="FF5A4E">
                <a:alpha val="55000"/>
              </a:srgbClr>
            </a:solidFill>
          </a:ln>
        </p:spPr>
        <p:txBody>
          <a:bodyPr lIns="45719" rIns="45719"/>
          <a:lstStyle/>
          <a:p>
            <a:pPr/>
          </a:p>
        </p:txBody>
      </p:sp>
      <p:sp>
        <p:nvSpPr>
          <p:cNvPr id="364" name="Text 24"/>
          <p:cNvSpPr txBox="1"/>
          <p:nvPr/>
        </p:nvSpPr>
        <p:spPr>
          <a:xfrm>
            <a:off x="11532543" y="3641526"/>
            <a:ext cx="1063824" cy="25717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300">
                <a:solidFill>
                  <a:srgbClr val="FFB4AD"/>
                </a:solidFill>
                <a:latin typeface="Arial"/>
                <a:ea typeface="Arial"/>
                <a:cs typeface="Arial"/>
                <a:sym typeface="Arial"/>
              </a:defRPr>
            </a:lvl1pPr>
          </a:lstStyle>
          <a:p>
            <a:pPr/>
            <a:r>
              <a:t>CRED_DISP</a:t>
            </a:r>
          </a:p>
        </p:txBody>
      </p:sp>
      <p:sp>
        <p:nvSpPr>
          <p:cNvPr id="365" name="Shape 25"/>
          <p:cNvSpPr/>
          <p:nvPr/>
        </p:nvSpPr>
        <p:spPr>
          <a:xfrm>
            <a:off x="10073579" y="4060626"/>
            <a:ext cx="1311474" cy="428626"/>
          </a:xfrm>
          <a:prstGeom prst="roundRect">
            <a:avLst>
              <a:gd name="adj" fmla="val 8889"/>
            </a:avLst>
          </a:prstGeom>
          <a:solidFill>
            <a:srgbClr val="FF5A4E">
              <a:alpha val="16000"/>
            </a:srgbClr>
          </a:solidFill>
          <a:ln>
            <a:solidFill>
              <a:srgbClr val="FF5A4E">
                <a:alpha val="55000"/>
              </a:srgbClr>
            </a:solidFill>
          </a:ln>
        </p:spPr>
        <p:txBody>
          <a:bodyPr lIns="45719" rIns="45719"/>
          <a:lstStyle/>
          <a:p>
            <a:pPr/>
          </a:p>
        </p:txBody>
      </p:sp>
      <p:sp>
        <p:nvSpPr>
          <p:cNvPr id="366" name="Text 26"/>
          <p:cNvSpPr txBox="1"/>
          <p:nvPr/>
        </p:nvSpPr>
        <p:spPr>
          <a:xfrm>
            <a:off x="10235504" y="4165401"/>
            <a:ext cx="1063824" cy="25717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300">
                <a:solidFill>
                  <a:srgbClr val="FFB4AD"/>
                </a:solidFill>
                <a:latin typeface="Arial"/>
                <a:ea typeface="Arial"/>
                <a:cs typeface="Arial"/>
                <a:sym typeface="Arial"/>
              </a:defRPr>
            </a:lvl1pPr>
          </a:lstStyle>
          <a:p>
            <a:pPr/>
            <a:r>
              <a:t>CRED_REFR</a:t>
            </a:r>
          </a:p>
        </p:txBody>
      </p:sp>
      <p:sp>
        <p:nvSpPr>
          <p:cNvPr id="367" name="Shape 27"/>
          <p:cNvSpPr/>
          <p:nvPr/>
        </p:nvSpPr>
        <p:spPr>
          <a:xfrm>
            <a:off x="13656766" y="3012876"/>
            <a:ext cx="3678586" cy="2219326"/>
          </a:xfrm>
          <a:prstGeom prst="roundRect">
            <a:avLst>
              <a:gd name="adj" fmla="val 3433"/>
            </a:avLst>
          </a:prstGeom>
          <a:solidFill>
            <a:srgbClr val="141923"/>
          </a:solidFill>
          <a:ln w="12700">
            <a:miter lim="400000"/>
          </a:ln>
        </p:spPr>
        <p:txBody>
          <a:bodyPr lIns="45719" rIns="45719"/>
          <a:lstStyle/>
          <a:p>
            <a:pPr/>
          </a:p>
        </p:txBody>
      </p:sp>
      <p:sp>
        <p:nvSpPr>
          <p:cNvPr id="368" name="Shape 28"/>
          <p:cNvSpPr/>
          <p:nvPr/>
        </p:nvSpPr>
        <p:spPr>
          <a:xfrm>
            <a:off x="13656766" y="5221089"/>
            <a:ext cx="3678586" cy="12701"/>
          </a:xfrm>
          <a:prstGeom prst="rect">
            <a:avLst/>
          </a:prstGeom>
          <a:solidFill>
            <a:srgbClr val="232A3A"/>
          </a:solidFill>
          <a:ln w="12700">
            <a:miter lim="400000"/>
          </a:ln>
        </p:spPr>
        <p:txBody>
          <a:bodyPr lIns="45719" rIns="45719"/>
          <a:lstStyle/>
          <a:p>
            <a:pPr/>
          </a:p>
        </p:txBody>
      </p:sp>
      <p:sp>
        <p:nvSpPr>
          <p:cNvPr id="369" name="Shape 29"/>
          <p:cNvSpPr/>
          <p:nvPr/>
        </p:nvSpPr>
        <p:spPr>
          <a:xfrm>
            <a:off x="13656766" y="3011289"/>
            <a:ext cx="3678586" cy="12701"/>
          </a:xfrm>
          <a:prstGeom prst="rect">
            <a:avLst/>
          </a:prstGeom>
          <a:solidFill>
            <a:srgbClr val="232A3A"/>
          </a:solidFill>
          <a:ln w="12700">
            <a:miter lim="400000"/>
          </a:ln>
        </p:spPr>
        <p:txBody>
          <a:bodyPr lIns="45719" rIns="45719"/>
          <a:lstStyle/>
          <a:p>
            <a:pPr/>
          </a:p>
        </p:txBody>
      </p:sp>
      <p:sp>
        <p:nvSpPr>
          <p:cNvPr id="370" name="Shape 30"/>
          <p:cNvSpPr/>
          <p:nvPr/>
        </p:nvSpPr>
        <p:spPr>
          <a:xfrm>
            <a:off x="13656766" y="3012876"/>
            <a:ext cx="38101" cy="2219326"/>
          </a:xfrm>
          <a:prstGeom prst="rect">
            <a:avLst/>
          </a:prstGeom>
          <a:solidFill>
            <a:srgbClr val="4EA8FF"/>
          </a:solidFill>
          <a:ln w="12700">
            <a:miter lim="400000"/>
          </a:ln>
        </p:spPr>
        <p:txBody>
          <a:bodyPr lIns="45719" rIns="45719"/>
          <a:lstStyle/>
          <a:p>
            <a:pPr/>
          </a:p>
        </p:txBody>
      </p:sp>
      <p:sp>
        <p:nvSpPr>
          <p:cNvPr id="371" name="Shape 31"/>
          <p:cNvSpPr/>
          <p:nvPr/>
        </p:nvSpPr>
        <p:spPr>
          <a:xfrm>
            <a:off x="17324238" y="3012876"/>
            <a:ext cx="12701" cy="2219326"/>
          </a:xfrm>
          <a:prstGeom prst="rect">
            <a:avLst/>
          </a:prstGeom>
          <a:solidFill>
            <a:srgbClr val="232A3A"/>
          </a:solidFill>
          <a:ln w="12700">
            <a:miter lim="400000"/>
          </a:ln>
        </p:spPr>
        <p:txBody>
          <a:bodyPr lIns="45719" rIns="45719"/>
          <a:lstStyle/>
          <a:p>
            <a:pPr/>
          </a:p>
        </p:txBody>
      </p:sp>
      <p:sp>
        <p:nvSpPr>
          <p:cNvPr id="372" name="Text 32"/>
          <p:cNvSpPr txBox="1"/>
          <p:nvPr/>
        </p:nvSpPr>
        <p:spPr>
          <a:xfrm>
            <a:off x="13923466" y="3231951"/>
            <a:ext cx="3268974"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200" sz="1000">
                <a:solidFill>
                  <a:srgbClr val="4EA8FF"/>
                </a:solidFill>
                <a:latin typeface="Arial"/>
                <a:ea typeface="Arial"/>
                <a:cs typeface="Arial"/>
                <a:sym typeface="Arial"/>
              </a:defRPr>
            </a:lvl1pPr>
          </a:lstStyle>
          <a:p>
            <a:pPr/>
            <a:r>
              <a:t>USER FAMILY · 5</a:t>
            </a:r>
          </a:p>
        </p:txBody>
      </p:sp>
      <p:sp>
        <p:nvSpPr>
          <p:cNvPr id="373" name="Shape 33"/>
          <p:cNvSpPr/>
          <p:nvPr/>
        </p:nvSpPr>
        <p:spPr>
          <a:xfrm>
            <a:off x="13923466" y="3536751"/>
            <a:ext cx="1311474" cy="428626"/>
          </a:xfrm>
          <a:prstGeom prst="roundRect">
            <a:avLst>
              <a:gd name="adj" fmla="val 8889"/>
            </a:avLst>
          </a:prstGeom>
          <a:solidFill>
            <a:srgbClr val="4EA8FF">
              <a:alpha val="14000"/>
            </a:srgbClr>
          </a:solidFill>
          <a:ln>
            <a:solidFill>
              <a:srgbClr val="4EA8FF">
                <a:alpha val="55000"/>
              </a:srgbClr>
            </a:solidFill>
          </a:ln>
        </p:spPr>
        <p:txBody>
          <a:bodyPr lIns="45719" rIns="45719"/>
          <a:lstStyle/>
          <a:p>
            <a:pPr/>
          </a:p>
        </p:txBody>
      </p:sp>
      <p:sp>
        <p:nvSpPr>
          <p:cNvPr id="374" name="Text 34"/>
          <p:cNvSpPr txBox="1"/>
          <p:nvPr/>
        </p:nvSpPr>
        <p:spPr>
          <a:xfrm>
            <a:off x="14085391" y="3641526"/>
            <a:ext cx="1063824" cy="25717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300">
                <a:solidFill>
                  <a:srgbClr val="A8D3FF"/>
                </a:solidFill>
                <a:latin typeface="Arial"/>
                <a:ea typeface="Arial"/>
                <a:cs typeface="Arial"/>
                <a:sym typeface="Arial"/>
              </a:defRPr>
            </a:lvl1pPr>
          </a:lstStyle>
          <a:p>
            <a:pPr/>
            <a:r>
              <a:t>USER_ACCT</a:t>
            </a:r>
          </a:p>
        </p:txBody>
      </p:sp>
      <p:sp>
        <p:nvSpPr>
          <p:cNvPr id="375" name="Shape 35"/>
          <p:cNvSpPr/>
          <p:nvPr/>
        </p:nvSpPr>
        <p:spPr>
          <a:xfrm>
            <a:off x="15330189" y="3536751"/>
            <a:ext cx="1311474" cy="428626"/>
          </a:xfrm>
          <a:prstGeom prst="roundRect">
            <a:avLst>
              <a:gd name="adj" fmla="val 8889"/>
            </a:avLst>
          </a:prstGeom>
          <a:solidFill>
            <a:srgbClr val="4EA8FF">
              <a:alpha val="14000"/>
            </a:srgbClr>
          </a:solidFill>
          <a:ln>
            <a:solidFill>
              <a:srgbClr val="4EA8FF">
                <a:alpha val="55000"/>
              </a:srgbClr>
            </a:solidFill>
          </a:ln>
        </p:spPr>
        <p:txBody>
          <a:bodyPr lIns="45719" rIns="45719"/>
          <a:lstStyle/>
          <a:p>
            <a:pPr/>
          </a:p>
        </p:txBody>
      </p:sp>
      <p:sp>
        <p:nvSpPr>
          <p:cNvPr id="376" name="Text 36"/>
          <p:cNvSpPr txBox="1"/>
          <p:nvPr/>
        </p:nvSpPr>
        <p:spPr>
          <a:xfrm>
            <a:off x="15492114" y="3641526"/>
            <a:ext cx="1063824" cy="25717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300">
                <a:solidFill>
                  <a:srgbClr val="A8D3FF"/>
                </a:solidFill>
                <a:latin typeface="Arial"/>
                <a:ea typeface="Arial"/>
                <a:cs typeface="Arial"/>
                <a:sym typeface="Arial"/>
              </a:defRPr>
            </a:lvl1pPr>
          </a:lstStyle>
          <a:p>
            <a:pPr/>
            <a:r>
              <a:t>USER_AUTH</a:t>
            </a:r>
          </a:p>
        </p:txBody>
      </p:sp>
      <p:sp>
        <p:nvSpPr>
          <p:cNvPr id="377" name="Shape 37"/>
          <p:cNvSpPr/>
          <p:nvPr/>
        </p:nvSpPr>
        <p:spPr>
          <a:xfrm>
            <a:off x="13923466" y="4060626"/>
            <a:ext cx="1201788" cy="428626"/>
          </a:xfrm>
          <a:prstGeom prst="roundRect">
            <a:avLst>
              <a:gd name="adj" fmla="val 8889"/>
            </a:avLst>
          </a:prstGeom>
          <a:solidFill>
            <a:srgbClr val="4EA8FF">
              <a:alpha val="14000"/>
            </a:srgbClr>
          </a:solidFill>
          <a:ln>
            <a:solidFill>
              <a:srgbClr val="4EA8FF">
                <a:alpha val="55000"/>
              </a:srgbClr>
            </a:solidFill>
          </a:ln>
        </p:spPr>
        <p:txBody>
          <a:bodyPr lIns="45719" rIns="45719"/>
          <a:lstStyle/>
          <a:p>
            <a:pPr/>
          </a:p>
        </p:txBody>
      </p:sp>
      <p:sp>
        <p:nvSpPr>
          <p:cNvPr id="378" name="Text 38"/>
          <p:cNvSpPr txBox="1"/>
          <p:nvPr/>
        </p:nvSpPr>
        <p:spPr>
          <a:xfrm>
            <a:off x="14085391" y="4165401"/>
            <a:ext cx="954138" cy="25717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86968">
              <a:defRPr sz="1261">
                <a:solidFill>
                  <a:srgbClr val="A8D3FF"/>
                </a:solidFill>
                <a:latin typeface="Arial"/>
                <a:ea typeface="Arial"/>
                <a:cs typeface="Arial"/>
                <a:sym typeface="Arial"/>
              </a:defRPr>
            </a:lvl1pPr>
          </a:lstStyle>
          <a:p>
            <a:pPr/>
            <a:r>
              <a:t>USER_CMD</a:t>
            </a:r>
          </a:p>
        </p:txBody>
      </p:sp>
      <p:sp>
        <p:nvSpPr>
          <p:cNvPr id="379" name="Shape 39"/>
          <p:cNvSpPr/>
          <p:nvPr/>
        </p:nvSpPr>
        <p:spPr>
          <a:xfrm>
            <a:off x="15220503" y="4060626"/>
            <a:ext cx="1201788" cy="428626"/>
          </a:xfrm>
          <a:prstGeom prst="roundRect">
            <a:avLst>
              <a:gd name="adj" fmla="val 8889"/>
            </a:avLst>
          </a:prstGeom>
          <a:solidFill>
            <a:srgbClr val="4EA8FF">
              <a:alpha val="14000"/>
            </a:srgbClr>
          </a:solidFill>
          <a:ln>
            <a:solidFill>
              <a:srgbClr val="4EA8FF">
                <a:alpha val="55000"/>
              </a:srgbClr>
            </a:solidFill>
          </a:ln>
        </p:spPr>
        <p:txBody>
          <a:bodyPr lIns="45719" rIns="45719"/>
          <a:lstStyle/>
          <a:p>
            <a:pPr/>
          </a:p>
        </p:txBody>
      </p:sp>
      <p:sp>
        <p:nvSpPr>
          <p:cNvPr id="380" name="Text 40"/>
          <p:cNvSpPr txBox="1"/>
          <p:nvPr/>
        </p:nvSpPr>
        <p:spPr>
          <a:xfrm>
            <a:off x="15382428" y="4165401"/>
            <a:ext cx="954138" cy="25717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300">
                <a:solidFill>
                  <a:srgbClr val="A8D3FF"/>
                </a:solidFill>
                <a:latin typeface="Arial"/>
                <a:ea typeface="Arial"/>
                <a:cs typeface="Arial"/>
                <a:sym typeface="Arial"/>
              </a:defRPr>
            </a:lvl1pPr>
          </a:lstStyle>
          <a:p>
            <a:pPr/>
            <a:r>
              <a:t>USER_END</a:t>
            </a:r>
          </a:p>
        </p:txBody>
      </p:sp>
      <p:sp>
        <p:nvSpPr>
          <p:cNvPr id="381" name="Shape 41"/>
          <p:cNvSpPr/>
          <p:nvPr/>
        </p:nvSpPr>
        <p:spPr>
          <a:xfrm>
            <a:off x="13923466" y="4584501"/>
            <a:ext cx="1421161" cy="428626"/>
          </a:xfrm>
          <a:prstGeom prst="roundRect">
            <a:avLst>
              <a:gd name="adj" fmla="val 8889"/>
            </a:avLst>
          </a:prstGeom>
          <a:solidFill>
            <a:srgbClr val="4EA8FF">
              <a:alpha val="14000"/>
            </a:srgbClr>
          </a:solidFill>
          <a:ln>
            <a:solidFill>
              <a:srgbClr val="4EA8FF">
                <a:alpha val="55000"/>
              </a:srgbClr>
            </a:solidFill>
          </a:ln>
        </p:spPr>
        <p:txBody>
          <a:bodyPr lIns="45719" rIns="45719"/>
          <a:lstStyle/>
          <a:p>
            <a:pPr/>
          </a:p>
        </p:txBody>
      </p:sp>
      <p:sp>
        <p:nvSpPr>
          <p:cNvPr id="382" name="Text 42"/>
          <p:cNvSpPr txBox="1"/>
          <p:nvPr/>
        </p:nvSpPr>
        <p:spPr>
          <a:xfrm>
            <a:off x="14085391" y="4689276"/>
            <a:ext cx="1173511" cy="25717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300">
                <a:solidFill>
                  <a:srgbClr val="A8D3FF"/>
                </a:solidFill>
                <a:latin typeface="Arial"/>
                <a:ea typeface="Arial"/>
                <a:cs typeface="Arial"/>
                <a:sym typeface="Arial"/>
              </a:defRPr>
            </a:lvl1pPr>
          </a:lstStyle>
          <a:p>
            <a:pPr/>
            <a:r>
              <a:t>USER_START</a:t>
            </a:r>
          </a:p>
        </p:txBody>
      </p:sp>
      <p:sp>
        <p:nvSpPr>
          <p:cNvPr id="383" name="Shape 43"/>
          <p:cNvSpPr/>
          <p:nvPr/>
        </p:nvSpPr>
        <p:spPr>
          <a:xfrm>
            <a:off x="9806879" y="5403651"/>
            <a:ext cx="7528472" cy="1638301"/>
          </a:xfrm>
          <a:prstGeom prst="roundRect">
            <a:avLst>
              <a:gd name="adj" fmla="val 4651"/>
            </a:avLst>
          </a:prstGeom>
          <a:solidFill>
            <a:srgbClr val="141923"/>
          </a:solidFill>
          <a:ln>
            <a:solidFill>
              <a:srgbClr val="232A3A"/>
            </a:solidFill>
          </a:ln>
        </p:spPr>
        <p:txBody>
          <a:bodyPr lIns="45719" rIns="45719"/>
          <a:lstStyle/>
          <a:p>
            <a:pPr/>
          </a:p>
        </p:txBody>
      </p:sp>
      <p:sp>
        <p:nvSpPr>
          <p:cNvPr id="384" name="Shape 44"/>
          <p:cNvSpPr/>
          <p:nvPr/>
        </p:nvSpPr>
        <p:spPr>
          <a:xfrm>
            <a:off x="9987854" y="5546526"/>
            <a:ext cx="1107133" cy="1352551"/>
          </a:xfrm>
          <a:prstGeom prst="roundRect">
            <a:avLst>
              <a:gd name="adj" fmla="val 3441"/>
            </a:avLst>
          </a:prstGeom>
          <a:ln>
            <a:solidFill>
              <a:srgbClr val="2C3548"/>
            </a:solidFill>
          </a:ln>
        </p:spPr>
        <p:txBody>
          <a:bodyPr lIns="45719" rIns="45719"/>
          <a:lstStyle/>
          <a:p>
            <a:pPr/>
          </a:p>
        </p:txBody>
      </p:sp>
      <p:pic>
        <p:nvPicPr>
          <p:cNvPr id="385" name="Image 0" descr="Image 0"/>
          <p:cNvPicPr>
            <a:picLocks noChangeAspect="1"/>
          </p:cNvPicPr>
          <p:nvPr/>
        </p:nvPicPr>
        <p:blipFill>
          <a:blip r:embed="rId3">
            <a:extLst/>
          </a:blip>
          <a:stretch>
            <a:fillRect/>
          </a:stretch>
        </p:blipFill>
        <p:spPr>
          <a:xfrm>
            <a:off x="9987854" y="5546526"/>
            <a:ext cx="1107133" cy="1352551"/>
          </a:xfrm>
          <a:prstGeom prst="rect">
            <a:avLst/>
          </a:prstGeom>
          <a:ln w="12700">
            <a:miter lim="400000"/>
          </a:ln>
        </p:spPr>
      </p:pic>
      <p:sp>
        <p:nvSpPr>
          <p:cNvPr id="386" name="Text 45"/>
          <p:cNvSpPr txBox="1"/>
          <p:nvPr/>
        </p:nvSpPr>
        <p:spPr>
          <a:xfrm>
            <a:off x="11266437" y="5925592"/>
            <a:ext cx="3149098" cy="632372"/>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lnSpc>
                <a:spcPct val="160000"/>
              </a:lnSpc>
              <a:defRPr b="1" spc="100" sz="900">
                <a:solidFill>
                  <a:srgbClr val="E8ECF4"/>
                </a:solidFill>
                <a:latin typeface="Arial"/>
                <a:ea typeface="Arial"/>
                <a:cs typeface="Arial"/>
                <a:sym typeface="Arial"/>
              </a:defRPr>
            </a:pPr>
            <a:r>
              <a:t>RUN IN PGADMIN </a:t>
            </a:r>
            <a:r>
              <a:rPr b="0">
                <a:solidFill>
                  <a:srgbClr val="8A93A6"/>
                </a:solidFill>
              </a:rPr>
              <a:t>0.233 SEC · 8 ROWS AUDIT_TYPE, CHARACTER VARYING(20)</a:t>
            </a:r>
          </a:p>
        </p:txBody>
      </p:sp>
      <p:sp>
        <p:nvSpPr>
          <p:cNvPr id="387" name="Shape 46"/>
          <p:cNvSpPr/>
          <p:nvPr/>
        </p:nvSpPr>
        <p:spPr>
          <a:xfrm>
            <a:off x="9806879" y="7175302"/>
            <a:ext cx="7528471" cy="1668662"/>
          </a:xfrm>
          <a:prstGeom prst="rect">
            <a:avLst/>
          </a:prstGeom>
          <a:solidFill>
            <a:srgbClr val="FF5A4E">
              <a:alpha val="6000"/>
            </a:srgbClr>
          </a:solidFill>
          <a:ln w="12700">
            <a:miter lim="400000"/>
          </a:ln>
        </p:spPr>
        <p:txBody>
          <a:bodyPr lIns="45719" rIns="45719"/>
          <a:lstStyle/>
          <a:p>
            <a:pPr/>
          </a:p>
        </p:txBody>
      </p:sp>
      <p:sp>
        <p:nvSpPr>
          <p:cNvPr id="388" name="Shape 47"/>
          <p:cNvSpPr/>
          <p:nvPr/>
        </p:nvSpPr>
        <p:spPr>
          <a:xfrm>
            <a:off x="9806879" y="7175302"/>
            <a:ext cx="28576" cy="1668662"/>
          </a:xfrm>
          <a:prstGeom prst="rect">
            <a:avLst/>
          </a:prstGeom>
          <a:solidFill>
            <a:srgbClr val="FF5A4E"/>
          </a:solidFill>
          <a:ln w="12700">
            <a:miter lim="400000"/>
          </a:ln>
        </p:spPr>
        <p:txBody>
          <a:bodyPr lIns="45719" rIns="45719"/>
          <a:lstStyle/>
          <a:p>
            <a:pPr/>
          </a:p>
        </p:txBody>
      </p:sp>
      <p:sp>
        <p:nvSpPr>
          <p:cNvPr id="389" name="Text 48"/>
          <p:cNvSpPr txBox="1"/>
          <p:nvPr/>
        </p:nvSpPr>
        <p:spPr>
          <a:xfrm>
            <a:off x="10064054" y="7346752"/>
            <a:ext cx="7268551" cy="1363862"/>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defTabSz="868680">
              <a:lnSpc>
                <a:spcPct val="145000"/>
              </a:lnSpc>
              <a:defRPr i="1" sz="1710">
                <a:solidFill>
                  <a:srgbClr val="E8ECF4"/>
                </a:solidFill>
                <a:latin typeface="Arial"/>
                <a:ea typeface="Arial"/>
                <a:cs typeface="Arial"/>
                <a:sym typeface="Arial"/>
              </a:defRPr>
            </a:pPr>
            <a:r>
              <a:t>The chain triggers a specific subset of the auditd taxonomy, only credential and user-session events plus one </a:t>
            </a:r>
            <a:r>
              <a:rPr sz="1520"/>
              <a:t>USER_CMD</a:t>
            </a:r>
            <a:r>
              <a:t>. </a:t>
            </a:r>
            <a:r>
              <a:rPr>
                <a:solidFill>
                  <a:srgbClr val="FF5A4E"/>
                </a:solidFill>
              </a:rPr>
              <a:t>A detector subscribed to those 8 types catches the chain </a:t>
            </a:r>
            <a:r>
              <a:t>without the full auditd firehose.</a:t>
            </a:r>
          </a:p>
        </p:txBody>
      </p:sp>
      <p:sp>
        <p:nvSpPr>
          <p:cNvPr id="390" name="Shape 49"/>
          <p:cNvSpPr/>
          <p:nvPr/>
        </p:nvSpPr>
        <p:spPr>
          <a:xfrm>
            <a:off x="952500" y="9647237"/>
            <a:ext cx="16383000" cy="12701"/>
          </a:xfrm>
          <a:prstGeom prst="rect">
            <a:avLst/>
          </a:prstGeom>
          <a:solidFill>
            <a:srgbClr val="232A3A"/>
          </a:solidFill>
          <a:ln w="12700">
            <a:miter lim="400000"/>
          </a:ln>
        </p:spPr>
        <p:txBody>
          <a:bodyPr lIns="45719" rIns="45719"/>
          <a:lstStyle/>
          <a:p>
            <a:pPr/>
          </a:p>
        </p:txBody>
      </p:sp>
      <p:sp>
        <p:nvSpPr>
          <p:cNvPr id="391" name="Text 50"/>
          <p:cNvSpPr txBox="1"/>
          <p:nvPr/>
        </p:nvSpPr>
        <p:spPr>
          <a:xfrm>
            <a:off x="952499" y="9810750"/>
            <a:ext cx="2411315" cy="20955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defRPr spc="96" sz="1152">
                <a:solidFill>
                  <a:srgbClr val="8A93A6"/>
                </a:solidFill>
                <a:latin typeface="Arial"/>
                <a:ea typeface="Arial"/>
                <a:cs typeface="Arial"/>
                <a:sym typeface="Arial"/>
              </a:defRPr>
            </a:lvl1pPr>
          </a:lstStyle>
          <a:p>
            <a:pPr/>
            <a:r>
              <a:t>08 / 11 · ISHAAN · 1:10</a:t>
            </a:r>
          </a:p>
        </p:txBody>
      </p:sp>
      <p:sp>
        <p:nvSpPr>
          <p:cNvPr id="392" name="Text 51"/>
          <p:cNvSpPr txBox="1"/>
          <p:nvPr/>
        </p:nvSpPr>
        <p:spPr>
          <a:xfrm>
            <a:off x="13973472" y="9810750"/>
            <a:ext cx="3462888" cy="20955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defRPr spc="96" sz="1152">
                <a:solidFill>
                  <a:srgbClr val="8A93A6"/>
                </a:solidFill>
                <a:latin typeface="Arial"/>
                <a:ea typeface="Arial"/>
                <a:cs typeface="Arial"/>
                <a:sym typeface="Arial"/>
              </a:defRPr>
            </a:lvl1pPr>
          </a:lstStyle>
          <a:p>
            <a:pPr/>
            <a:r>
              <a:t>DEEP DIVE 03 · EXISTS SUBQUERY</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B0D12"/>
        </a:solidFill>
      </p:bgPr>
    </p:bg>
    <p:spTree>
      <p:nvGrpSpPr>
        <p:cNvPr id="1" name=""/>
        <p:cNvGrpSpPr/>
        <p:nvPr/>
      </p:nvGrpSpPr>
      <p:grpSpPr>
        <a:xfrm>
          <a:off x="0" y="0"/>
          <a:ext cx="0" cy="0"/>
          <a:chOff x="0" y="0"/>
          <a:chExt cx="0" cy="0"/>
        </a:xfrm>
      </p:grpSpPr>
      <p:sp>
        <p:nvSpPr>
          <p:cNvPr id="396" name="Shape 0"/>
          <p:cNvSpPr/>
          <p:nvPr/>
        </p:nvSpPr>
        <p:spPr>
          <a:xfrm>
            <a:off x="952500" y="1055687"/>
            <a:ext cx="16383000" cy="12701"/>
          </a:xfrm>
          <a:prstGeom prst="rect">
            <a:avLst/>
          </a:prstGeom>
          <a:solidFill>
            <a:srgbClr val="232A3A"/>
          </a:solidFill>
          <a:ln w="12700">
            <a:miter lim="400000"/>
          </a:ln>
        </p:spPr>
        <p:txBody>
          <a:bodyPr lIns="45719" rIns="45719"/>
          <a:lstStyle/>
          <a:p>
            <a:pPr/>
          </a:p>
        </p:txBody>
      </p:sp>
      <p:sp>
        <p:nvSpPr>
          <p:cNvPr id="397" name="Text 1"/>
          <p:cNvSpPr txBox="1"/>
          <p:nvPr/>
        </p:nvSpPr>
        <p:spPr>
          <a:xfrm>
            <a:off x="952500" y="609600"/>
            <a:ext cx="6532885" cy="25717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defRPr b="1" spc="200" sz="1300">
                <a:solidFill>
                  <a:srgbClr val="FF5A4E"/>
                </a:solidFill>
                <a:latin typeface="Arial"/>
                <a:ea typeface="Arial"/>
                <a:cs typeface="Arial"/>
                <a:sym typeface="Arial"/>
              </a:defRPr>
            </a:pPr>
            <a:r>
              <a:t>DEEP DIVE 04 </a:t>
            </a:r>
            <a:r>
              <a:rPr b="0">
                <a:solidFill>
                  <a:srgbClr val="C3CAD8"/>
                </a:solidFill>
              </a:rPr>
              <a:t>/ EXPLAIN ANALYZE + COMPOSITE INDEX</a:t>
            </a:r>
          </a:p>
        </p:txBody>
      </p:sp>
      <p:sp>
        <p:nvSpPr>
          <p:cNvPr id="398" name="Text 2"/>
          <p:cNvSpPr txBox="1"/>
          <p:nvPr/>
        </p:nvSpPr>
        <p:spPr>
          <a:xfrm>
            <a:off x="11582400" y="628650"/>
            <a:ext cx="5925693" cy="23812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defRPr spc="200" sz="1300">
                <a:solidFill>
                  <a:srgbClr val="8A93A6"/>
                </a:solidFill>
                <a:latin typeface="Arial"/>
                <a:ea typeface="Arial"/>
                <a:cs typeface="Arial"/>
                <a:sym typeface="Arial"/>
              </a:defRPr>
            </a:pPr>
            <a:r>
              <a:t>NAMAN · </a:t>
            </a:r>
            <a:r>
              <a:rPr sz="1200">
                <a:solidFill>
                  <a:srgbClr val="E8ECF4"/>
                </a:solidFill>
              </a:rPr>
              <a:t>NAMAN_EXPLAIN_INDEX_IMPROVEMENT.SQL</a:t>
            </a:r>
          </a:p>
        </p:txBody>
      </p:sp>
      <p:sp>
        <p:nvSpPr>
          <p:cNvPr id="399" name="Text 3"/>
          <p:cNvSpPr txBox="1"/>
          <p:nvPr/>
        </p:nvSpPr>
        <p:spPr>
          <a:xfrm>
            <a:off x="952500" y="1600200"/>
            <a:ext cx="16874490" cy="69636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108000"/>
              </a:lnSpc>
              <a:defRPr spc="-95" sz="4560">
                <a:solidFill>
                  <a:srgbClr val="E8ECF4"/>
                </a:solidFill>
                <a:latin typeface="Arial"/>
                <a:ea typeface="Arial"/>
                <a:cs typeface="Arial"/>
                <a:sym typeface="Arial"/>
              </a:defRPr>
            </a:lvl1pPr>
          </a:lstStyle>
          <a:p>
            <a:pPr/>
            <a:r>
              <a:t>Sequential scan to index scan on the incident-response zoom.</a:t>
            </a:r>
          </a:p>
        </p:txBody>
      </p:sp>
      <p:sp>
        <p:nvSpPr>
          <p:cNvPr id="400" name="Text 4"/>
          <p:cNvSpPr txBox="1"/>
          <p:nvPr/>
        </p:nvSpPr>
        <p:spPr>
          <a:xfrm>
            <a:off x="952500" y="2601366"/>
            <a:ext cx="14716125" cy="8382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defTabSz="868680">
              <a:lnSpc>
                <a:spcPct val="150000"/>
              </a:lnSpc>
              <a:defRPr sz="1994">
                <a:solidFill>
                  <a:srgbClr val="8A93A6"/>
                </a:solidFill>
                <a:latin typeface="-apple-system"/>
                <a:ea typeface="-apple-system"/>
                <a:cs typeface="-apple-system"/>
                <a:sym typeface="-apple-system"/>
              </a:defRPr>
            </a:pPr>
            <a:r>
              <a:t>Workload: </a:t>
            </a:r>
            <a:r>
              <a:rPr sz="1804">
                <a:solidFill>
                  <a:srgbClr val="E8ECF4"/>
                </a:solidFill>
                <a:latin typeface="Arial"/>
                <a:ea typeface="Arial"/>
                <a:cs typeface="Arial"/>
                <a:sym typeface="Arial"/>
              </a:rPr>
              <a:t>h.host_key = 'intranet_server'</a:t>
            </a:r>
            <a:r>
              <a:t>, </a:t>
            </a:r>
            <a:r>
              <a:rPr sz="1804">
                <a:solidFill>
                  <a:srgbClr val="E8ECF4"/>
                </a:solidFill>
                <a:latin typeface="Arial"/>
                <a:ea typeface="Arial"/>
                <a:cs typeface="Arial"/>
                <a:sym typeface="Arial"/>
              </a:rPr>
              <a:t>ae.timestamp </a:t>
            </a:r>
            <a:r>
              <a:t>in </a:t>
            </a:r>
            <a:r>
              <a:rPr sz="1804">
                <a:solidFill>
                  <a:srgbClr val="E8ECF4"/>
                </a:solidFill>
                <a:latin typeface="Arial"/>
                <a:ea typeface="Arial"/>
                <a:cs typeface="Arial"/>
                <a:sym typeface="Arial"/>
              </a:rPr>
              <a:t>2022-01-24 04:37:30 </a:t>
            </a:r>
            <a:r>
              <a:t>to </a:t>
            </a:r>
            <a:r>
              <a:rPr sz="1804">
                <a:solidFill>
                  <a:srgbClr val="E8ECF4"/>
                </a:solidFill>
                <a:latin typeface="Arial"/>
                <a:ea typeface="Arial"/>
                <a:cs typeface="Arial"/>
                <a:sym typeface="Arial"/>
              </a:rPr>
              <a:t>04:38:15 UTC</a:t>
            </a:r>
            <a:r>
              <a:t>. Index: </a:t>
            </a:r>
            <a:r>
              <a:rPr sz="1804">
                <a:solidFill>
                  <a:srgbClr val="E8ECF4"/>
                </a:solidFill>
                <a:latin typeface="Arial"/>
                <a:ea typeface="Arial"/>
                <a:cs typeface="Arial"/>
                <a:sym typeface="Arial"/>
              </a:rPr>
              <a:t>idx_audit_event_host_timestamp ON audit_event (host_id, timestamp)</a:t>
            </a:r>
            <a:r>
              <a:t>, migration </a:t>
            </a:r>
            <a:r>
              <a:rPr sz="1804">
                <a:solidFill>
                  <a:srgbClr val="E8ECF4"/>
                </a:solidFill>
                <a:latin typeface="Arial"/>
                <a:ea typeface="Arial"/>
                <a:cs typeface="Arial"/>
                <a:sym typeface="Arial"/>
              </a:rPr>
              <a:t>742e860d116f</a:t>
            </a:r>
            <a:r>
              <a:t>.</a:t>
            </a:r>
          </a:p>
        </p:txBody>
      </p:sp>
      <p:sp>
        <p:nvSpPr>
          <p:cNvPr id="401" name="Shape 5"/>
          <p:cNvSpPr/>
          <p:nvPr/>
        </p:nvSpPr>
        <p:spPr>
          <a:xfrm>
            <a:off x="952500" y="3630067"/>
            <a:ext cx="8039100" cy="3496569"/>
          </a:xfrm>
          <a:prstGeom prst="roundRect">
            <a:avLst>
              <a:gd name="adj" fmla="val 1634"/>
            </a:avLst>
          </a:prstGeom>
          <a:solidFill>
            <a:srgbClr val="141923"/>
          </a:solidFill>
          <a:ln w="12700">
            <a:miter lim="400000"/>
          </a:ln>
        </p:spPr>
        <p:txBody>
          <a:bodyPr lIns="45719" rIns="45719"/>
          <a:lstStyle/>
          <a:p>
            <a:pPr/>
          </a:p>
        </p:txBody>
      </p:sp>
      <p:sp>
        <p:nvSpPr>
          <p:cNvPr id="402" name="Shape 6"/>
          <p:cNvSpPr/>
          <p:nvPr/>
        </p:nvSpPr>
        <p:spPr>
          <a:xfrm>
            <a:off x="952500" y="7115522"/>
            <a:ext cx="8039100" cy="12701"/>
          </a:xfrm>
          <a:prstGeom prst="rect">
            <a:avLst/>
          </a:prstGeom>
          <a:solidFill>
            <a:srgbClr val="232A3A"/>
          </a:solidFill>
          <a:ln w="12700">
            <a:miter lim="400000"/>
          </a:ln>
        </p:spPr>
        <p:txBody>
          <a:bodyPr lIns="45719" rIns="45719"/>
          <a:lstStyle/>
          <a:p>
            <a:pPr/>
          </a:p>
        </p:txBody>
      </p:sp>
      <p:sp>
        <p:nvSpPr>
          <p:cNvPr id="403" name="Shape 7"/>
          <p:cNvSpPr/>
          <p:nvPr/>
        </p:nvSpPr>
        <p:spPr>
          <a:xfrm>
            <a:off x="952500" y="3628479"/>
            <a:ext cx="8039100" cy="12701"/>
          </a:xfrm>
          <a:prstGeom prst="rect">
            <a:avLst/>
          </a:prstGeom>
          <a:solidFill>
            <a:srgbClr val="232A3A"/>
          </a:solidFill>
          <a:ln w="12700">
            <a:miter lim="400000"/>
          </a:ln>
        </p:spPr>
        <p:txBody>
          <a:bodyPr lIns="45719" rIns="45719"/>
          <a:lstStyle/>
          <a:p>
            <a:pPr/>
          </a:p>
        </p:txBody>
      </p:sp>
      <p:sp>
        <p:nvSpPr>
          <p:cNvPr id="404" name="Shape 8"/>
          <p:cNvSpPr/>
          <p:nvPr/>
        </p:nvSpPr>
        <p:spPr>
          <a:xfrm>
            <a:off x="952500" y="3630067"/>
            <a:ext cx="28575" cy="3496569"/>
          </a:xfrm>
          <a:prstGeom prst="rect">
            <a:avLst/>
          </a:prstGeom>
          <a:solidFill>
            <a:srgbClr val="8A93A6"/>
          </a:solidFill>
          <a:ln w="12700">
            <a:miter lim="400000"/>
          </a:ln>
        </p:spPr>
        <p:txBody>
          <a:bodyPr lIns="45719" rIns="45719"/>
          <a:lstStyle/>
          <a:p>
            <a:pPr/>
          </a:p>
        </p:txBody>
      </p:sp>
      <p:sp>
        <p:nvSpPr>
          <p:cNvPr id="405" name="Shape 9"/>
          <p:cNvSpPr/>
          <p:nvPr/>
        </p:nvSpPr>
        <p:spPr>
          <a:xfrm>
            <a:off x="8980487" y="3630067"/>
            <a:ext cx="12701" cy="3496569"/>
          </a:xfrm>
          <a:prstGeom prst="rect">
            <a:avLst/>
          </a:prstGeom>
          <a:solidFill>
            <a:srgbClr val="232A3A"/>
          </a:solidFill>
          <a:ln w="12700">
            <a:miter lim="400000"/>
          </a:ln>
        </p:spPr>
        <p:txBody>
          <a:bodyPr lIns="45719" rIns="45719"/>
          <a:lstStyle/>
          <a:p>
            <a:pPr/>
          </a:p>
        </p:txBody>
      </p:sp>
      <p:sp>
        <p:nvSpPr>
          <p:cNvPr id="406" name="Text 10"/>
          <p:cNvSpPr txBox="1"/>
          <p:nvPr/>
        </p:nvSpPr>
        <p:spPr>
          <a:xfrm>
            <a:off x="1285874" y="3906292"/>
            <a:ext cx="7613144"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defRPr spc="200" sz="1000">
                <a:solidFill>
                  <a:srgbClr val="8A93A6"/>
                </a:solidFill>
                <a:latin typeface="Arial"/>
                <a:ea typeface="Arial"/>
                <a:cs typeface="Arial"/>
                <a:sym typeface="Arial"/>
              </a:defRPr>
            </a:pPr>
            <a:r>
              <a:t>● </a:t>
            </a:r>
            <a:r>
              <a:rPr>
                <a:solidFill>
                  <a:srgbClr val="5D6577"/>
                </a:solidFill>
              </a:rPr>
              <a:t>BEFORE · NO INDEX</a:t>
            </a:r>
          </a:p>
        </p:txBody>
      </p:sp>
      <p:sp>
        <p:nvSpPr>
          <p:cNvPr id="407" name="Text 11"/>
          <p:cNvSpPr txBox="1"/>
          <p:nvPr/>
        </p:nvSpPr>
        <p:spPr>
          <a:xfrm>
            <a:off x="1285874" y="4172992"/>
            <a:ext cx="1950692" cy="8763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95527">
              <a:defRPr sz="5742">
                <a:solidFill>
                  <a:srgbClr val="E8ECF4"/>
                </a:solidFill>
                <a:latin typeface="Arial"/>
                <a:ea typeface="Arial"/>
                <a:cs typeface="Arial"/>
                <a:sym typeface="Arial"/>
              </a:defRPr>
            </a:lvl1pPr>
          </a:lstStyle>
          <a:p>
            <a:pPr/>
            <a:r>
              <a:t>1.462</a:t>
            </a:r>
          </a:p>
        </p:txBody>
      </p:sp>
      <p:sp>
        <p:nvSpPr>
          <p:cNvPr id="408" name="Text 12"/>
          <p:cNvSpPr txBox="1"/>
          <p:nvPr/>
        </p:nvSpPr>
        <p:spPr>
          <a:xfrm>
            <a:off x="3369914" y="4706392"/>
            <a:ext cx="355551" cy="2857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600">
                <a:solidFill>
                  <a:srgbClr val="8A93A6"/>
                </a:solidFill>
                <a:latin typeface="Arial"/>
                <a:ea typeface="Arial"/>
                <a:cs typeface="Arial"/>
                <a:sym typeface="Arial"/>
              </a:defRPr>
            </a:lvl1pPr>
          </a:lstStyle>
          <a:p>
            <a:pPr/>
            <a:r>
              <a:t>ms</a:t>
            </a:r>
          </a:p>
        </p:txBody>
      </p:sp>
      <p:sp>
        <p:nvSpPr>
          <p:cNvPr id="409" name="Text 13"/>
          <p:cNvSpPr txBox="1"/>
          <p:nvPr/>
        </p:nvSpPr>
        <p:spPr>
          <a:xfrm>
            <a:off x="1285874" y="5049292"/>
            <a:ext cx="7613144" cy="23812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lnSpc>
                <a:spcPct val="150000"/>
              </a:lnSpc>
              <a:defRPr spc="100" sz="1000">
                <a:solidFill>
                  <a:srgbClr val="8A93A6"/>
                </a:solidFill>
                <a:latin typeface="Arial"/>
                <a:ea typeface="Arial"/>
                <a:cs typeface="Arial"/>
                <a:sym typeface="Arial"/>
              </a:defRPr>
            </a:pPr>
            <a:r>
              <a:t>PLAN NODE · </a:t>
            </a:r>
            <a:r>
              <a:rPr>
                <a:solidFill>
                  <a:srgbClr val="C3CAD8"/>
                </a:solidFill>
              </a:rPr>
              <a:t>SEQ SCAN ON AUDIT_EVENT</a:t>
            </a:r>
          </a:p>
        </p:txBody>
      </p:sp>
      <p:sp>
        <p:nvSpPr>
          <p:cNvPr id="410" name="Shape 14"/>
          <p:cNvSpPr/>
          <p:nvPr/>
        </p:nvSpPr>
        <p:spPr>
          <a:xfrm>
            <a:off x="1285875" y="5438229"/>
            <a:ext cx="3609975" cy="12701"/>
          </a:xfrm>
          <a:prstGeom prst="rect">
            <a:avLst/>
          </a:prstGeom>
          <a:solidFill>
            <a:srgbClr val="2C3548"/>
          </a:solidFill>
          <a:ln w="12700">
            <a:miter lim="400000"/>
          </a:ln>
        </p:spPr>
        <p:txBody>
          <a:bodyPr lIns="45719" rIns="45719"/>
          <a:lstStyle/>
          <a:p>
            <a:pPr/>
          </a:p>
        </p:txBody>
      </p:sp>
      <p:sp>
        <p:nvSpPr>
          <p:cNvPr id="411" name="Text 15"/>
          <p:cNvSpPr txBox="1"/>
          <p:nvPr/>
        </p:nvSpPr>
        <p:spPr>
          <a:xfrm>
            <a:off x="1285874" y="5582692"/>
            <a:ext cx="3718275" cy="18097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900">
                <a:solidFill>
                  <a:srgbClr val="5D6577"/>
                </a:solidFill>
                <a:latin typeface="Arial"/>
                <a:ea typeface="Arial"/>
                <a:cs typeface="Arial"/>
                <a:sym typeface="Arial"/>
              </a:defRPr>
            </a:lvl1pPr>
          </a:lstStyle>
          <a:p>
            <a:pPr/>
            <a:r>
              <a:t>BUFFERS (SHARED HIT)</a:t>
            </a:r>
          </a:p>
        </p:txBody>
      </p:sp>
      <p:sp>
        <p:nvSpPr>
          <p:cNvPr id="412" name="Text 16"/>
          <p:cNvSpPr txBox="1"/>
          <p:nvPr/>
        </p:nvSpPr>
        <p:spPr>
          <a:xfrm>
            <a:off x="1285874" y="5801767"/>
            <a:ext cx="3718275" cy="3810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58951">
              <a:defRPr sz="2241">
                <a:solidFill>
                  <a:srgbClr val="E8ECF4"/>
                </a:solidFill>
                <a:latin typeface="Arial"/>
                <a:ea typeface="Arial"/>
                <a:cs typeface="Arial"/>
                <a:sym typeface="Arial"/>
              </a:defRPr>
            </a:lvl1pPr>
          </a:lstStyle>
          <a:p>
            <a:pPr/>
            <a:r>
              <a:t>141</a:t>
            </a:r>
          </a:p>
        </p:txBody>
      </p:sp>
      <p:sp>
        <p:nvSpPr>
          <p:cNvPr id="413" name="Shape 17"/>
          <p:cNvSpPr/>
          <p:nvPr/>
        </p:nvSpPr>
        <p:spPr>
          <a:xfrm>
            <a:off x="5067300" y="5438229"/>
            <a:ext cx="3609975" cy="12701"/>
          </a:xfrm>
          <a:prstGeom prst="rect">
            <a:avLst/>
          </a:prstGeom>
          <a:solidFill>
            <a:srgbClr val="2C3548"/>
          </a:solidFill>
          <a:ln w="12700">
            <a:miter lim="400000"/>
          </a:ln>
        </p:spPr>
        <p:txBody>
          <a:bodyPr lIns="45719" rIns="45719"/>
          <a:lstStyle/>
          <a:p>
            <a:pPr/>
          </a:p>
        </p:txBody>
      </p:sp>
      <p:sp>
        <p:nvSpPr>
          <p:cNvPr id="414" name="Text 18"/>
          <p:cNvSpPr txBox="1"/>
          <p:nvPr/>
        </p:nvSpPr>
        <p:spPr>
          <a:xfrm>
            <a:off x="5067299" y="5582692"/>
            <a:ext cx="3718275" cy="18097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900">
                <a:solidFill>
                  <a:srgbClr val="5D6577"/>
                </a:solidFill>
                <a:latin typeface="Arial"/>
                <a:ea typeface="Arial"/>
                <a:cs typeface="Arial"/>
                <a:sym typeface="Arial"/>
              </a:defRPr>
            </a:lvl1pPr>
          </a:lstStyle>
          <a:p>
            <a:pPr/>
            <a:r>
              <a:t>PLANNER COST</a:t>
            </a:r>
          </a:p>
        </p:txBody>
      </p:sp>
      <p:sp>
        <p:nvSpPr>
          <p:cNvPr id="415" name="Text 19"/>
          <p:cNvSpPr txBox="1"/>
          <p:nvPr/>
        </p:nvSpPr>
        <p:spPr>
          <a:xfrm>
            <a:off x="5067299" y="5801767"/>
            <a:ext cx="3718275" cy="3810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58951">
              <a:defRPr sz="2241">
                <a:solidFill>
                  <a:srgbClr val="E8ECF4"/>
                </a:solidFill>
                <a:latin typeface="Arial"/>
                <a:ea typeface="Arial"/>
                <a:cs typeface="Arial"/>
                <a:sym typeface="Arial"/>
              </a:defRPr>
            </a:lvl1pPr>
          </a:lstStyle>
          <a:p>
            <a:pPr/>
            <a:r>
              <a:t>171.22</a:t>
            </a:r>
          </a:p>
        </p:txBody>
      </p:sp>
      <p:sp>
        <p:nvSpPr>
          <p:cNvPr id="416" name="Shape 20"/>
          <p:cNvSpPr/>
          <p:nvPr/>
        </p:nvSpPr>
        <p:spPr>
          <a:xfrm>
            <a:off x="9296400" y="3630067"/>
            <a:ext cx="8039100" cy="3496569"/>
          </a:xfrm>
          <a:prstGeom prst="roundRect">
            <a:avLst>
              <a:gd name="adj" fmla="val 1634"/>
            </a:avLst>
          </a:prstGeom>
          <a:solidFill>
            <a:srgbClr val="141923"/>
          </a:solidFill>
          <a:ln w="12700">
            <a:miter lim="400000"/>
          </a:ln>
        </p:spPr>
        <p:txBody>
          <a:bodyPr lIns="45719" rIns="45719"/>
          <a:lstStyle/>
          <a:p>
            <a:pPr/>
          </a:p>
        </p:txBody>
      </p:sp>
      <p:sp>
        <p:nvSpPr>
          <p:cNvPr id="417" name="Shape 21"/>
          <p:cNvSpPr/>
          <p:nvPr/>
        </p:nvSpPr>
        <p:spPr>
          <a:xfrm>
            <a:off x="9296400" y="7115522"/>
            <a:ext cx="8039100" cy="12701"/>
          </a:xfrm>
          <a:prstGeom prst="rect">
            <a:avLst/>
          </a:prstGeom>
          <a:solidFill>
            <a:srgbClr val="232A3A"/>
          </a:solidFill>
          <a:ln w="12700">
            <a:miter lim="400000"/>
          </a:ln>
        </p:spPr>
        <p:txBody>
          <a:bodyPr lIns="45719" rIns="45719"/>
          <a:lstStyle/>
          <a:p>
            <a:pPr/>
          </a:p>
        </p:txBody>
      </p:sp>
      <p:sp>
        <p:nvSpPr>
          <p:cNvPr id="418" name="Shape 22"/>
          <p:cNvSpPr/>
          <p:nvPr/>
        </p:nvSpPr>
        <p:spPr>
          <a:xfrm>
            <a:off x="9296400" y="3628479"/>
            <a:ext cx="8039100" cy="12701"/>
          </a:xfrm>
          <a:prstGeom prst="rect">
            <a:avLst/>
          </a:prstGeom>
          <a:solidFill>
            <a:srgbClr val="232A3A"/>
          </a:solidFill>
          <a:ln w="12700">
            <a:miter lim="400000"/>
          </a:ln>
        </p:spPr>
        <p:txBody>
          <a:bodyPr lIns="45719" rIns="45719"/>
          <a:lstStyle/>
          <a:p>
            <a:pPr/>
          </a:p>
        </p:txBody>
      </p:sp>
      <p:sp>
        <p:nvSpPr>
          <p:cNvPr id="419" name="Shape 23"/>
          <p:cNvSpPr/>
          <p:nvPr/>
        </p:nvSpPr>
        <p:spPr>
          <a:xfrm>
            <a:off x="9296400" y="3630067"/>
            <a:ext cx="28575" cy="3496569"/>
          </a:xfrm>
          <a:prstGeom prst="rect">
            <a:avLst/>
          </a:prstGeom>
          <a:solidFill>
            <a:srgbClr val="39C46F"/>
          </a:solidFill>
          <a:ln w="12700">
            <a:miter lim="400000"/>
          </a:ln>
        </p:spPr>
        <p:txBody>
          <a:bodyPr lIns="45719" rIns="45719"/>
          <a:lstStyle/>
          <a:p>
            <a:pPr/>
          </a:p>
        </p:txBody>
      </p:sp>
      <p:sp>
        <p:nvSpPr>
          <p:cNvPr id="420" name="Shape 24"/>
          <p:cNvSpPr/>
          <p:nvPr/>
        </p:nvSpPr>
        <p:spPr>
          <a:xfrm>
            <a:off x="17324387" y="3630067"/>
            <a:ext cx="12701" cy="3496569"/>
          </a:xfrm>
          <a:prstGeom prst="rect">
            <a:avLst/>
          </a:prstGeom>
          <a:solidFill>
            <a:srgbClr val="232A3A"/>
          </a:solidFill>
          <a:ln w="12700">
            <a:miter lim="400000"/>
          </a:ln>
        </p:spPr>
        <p:txBody>
          <a:bodyPr lIns="45719" rIns="45719"/>
          <a:lstStyle/>
          <a:p>
            <a:pPr/>
          </a:p>
        </p:txBody>
      </p:sp>
      <p:sp>
        <p:nvSpPr>
          <p:cNvPr id="421" name="Text 25"/>
          <p:cNvSpPr txBox="1"/>
          <p:nvPr/>
        </p:nvSpPr>
        <p:spPr>
          <a:xfrm>
            <a:off x="9629774" y="3906292"/>
            <a:ext cx="7613144"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defRPr spc="200" sz="1000">
                <a:solidFill>
                  <a:srgbClr val="39C46F"/>
                </a:solidFill>
                <a:latin typeface="Arial"/>
                <a:ea typeface="Arial"/>
                <a:cs typeface="Arial"/>
                <a:sym typeface="Arial"/>
              </a:defRPr>
            </a:pPr>
            <a:r>
              <a:t>● </a:t>
            </a:r>
            <a:r>
              <a:rPr>
                <a:solidFill>
                  <a:srgbClr val="5D6577"/>
                </a:solidFill>
              </a:rPr>
              <a:t>AFTER · IDX_AUDIT_EVENT_HOST_TIMESTAMP</a:t>
            </a:r>
          </a:p>
        </p:txBody>
      </p:sp>
      <p:sp>
        <p:nvSpPr>
          <p:cNvPr id="422" name="Text 26"/>
          <p:cNvSpPr txBox="1"/>
          <p:nvPr/>
        </p:nvSpPr>
        <p:spPr>
          <a:xfrm>
            <a:off x="9629775" y="4172992"/>
            <a:ext cx="2197001" cy="8763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95527">
              <a:defRPr sz="5742">
                <a:solidFill>
                  <a:srgbClr val="39C46F"/>
                </a:solidFill>
                <a:latin typeface="Arial"/>
                <a:ea typeface="Arial"/>
                <a:cs typeface="Arial"/>
                <a:sym typeface="Arial"/>
              </a:defRPr>
            </a:lvl1pPr>
          </a:lstStyle>
          <a:p>
            <a:pPr/>
            <a:r>
              <a:t>0.640</a:t>
            </a:r>
          </a:p>
        </p:txBody>
      </p:sp>
      <p:sp>
        <p:nvSpPr>
          <p:cNvPr id="423" name="Text 27"/>
          <p:cNvSpPr txBox="1"/>
          <p:nvPr/>
        </p:nvSpPr>
        <p:spPr>
          <a:xfrm>
            <a:off x="11960125" y="4706392"/>
            <a:ext cx="355551" cy="2857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z="1600">
                <a:solidFill>
                  <a:srgbClr val="8A93A6"/>
                </a:solidFill>
                <a:latin typeface="Arial"/>
                <a:ea typeface="Arial"/>
                <a:cs typeface="Arial"/>
                <a:sym typeface="Arial"/>
              </a:defRPr>
            </a:lvl1pPr>
          </a:lstStyle>
          <a:p>
            <a:pPr/>
            <a:r>
              <a:t>ms</a:t>
            </a:r>
          </a:p>
        </p:txBody>
      </p:sp>
      <p:sp>
        <p:nvSpPr>
          <p:cNvPr id="424" name="Text 28"/>
          <p:cNvSpPr txBox="1"/>
          <p:nvPr/>
        </p:nvSpPr>
        <p:spPr>
          <a:xfrm>
            <a:off x="9629774" y="5049292"/>
            <a:ext cx="7613144" cy="23812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lnSpc>
                <a:spcPct val="150000"/>
              </a:lnSpc>
              <a:defRPr spc="100" sz="1000">
                <a:solidFill>
                  <a:srgbClr val="8A93A6"/>
                </a:solidFill>
                <a:latin typeface="Arial"/>
                <a:ea typeface="Arial"/>
                <a:cs typeface="Arial"/>
                <a:sym typeface="Arial"/>
              </a:defRPr>
            </a:pPr>
            <a:r>
              <a:t>PLAN NODE · </a:t>
            </a:r>
            <a:r>
              <a:rPr>
                <a:solidFill>
                  <a:srgbClr val="C3CAD8"/>
                </a:solidFill>
              </a:rPr>
              <a:t>INDEX SCAN USING COMPOSITE INDEX</a:t>
            </a:r>
          </a:p>
        </p:txBody>
      </p:sp>
      <p:sp>
        <p:nvSpPr>
          <p:cNvPr id="425" name="Shape 29"/>
          <p:cNvSpPr/>
          <p:nvPr/>
        </p:nvSpPr>
        <p:spPr>
          <a:xfrm>
            <a:off x="9629775" y="5438229"/>
            <a:ext cx="3609975" cy="12701"/>
          </a:xfrm>
          <a:prstGeom prst="rect">
            <a:avLst/>
          </a:prstGeom>
          <a:solidFill>
            <a:srgbClr val="2C3548"/>
          </a:solidFill>
          <a:ln w="12700">
            <a:miter lim="400000"/>
          </a:ln>
        </p:spPr>
        <p:txBody>
          <a:bodyPr lIns="45719" rIns="45719"/>
          <a:lstStyle/>
          <a:p>
            <a:pPr/>
          </a:p>
        </p:txBody>
      </p:sp>
      <p:sp>
        <p:nvSpPr>
          <p:cNvPr id="426" name="Text 30"/>
          <p:cNvSpPr txBox="1"/>
          <p:nvPr/>
        </p:nvSpPr>
        <p:spPr>
          <a:xfrm>
            <a:off x="9629774" y="5582692"/>
            <a:ext cx="3718275" cy="18097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900">
                <a:solidFill>
                  <a:srgbClr val="5D6577"/>
                </a:solidFill>
                <a:latin typeface="Arial"/>
                <a:ea typeface="Arial"/>
                <a:cs typeface="Arial"/>
                <a:sym typeface="Arial"/>
              </a:defRPr>
            </a:lvl1pPr>
          </a:lstStyle>
          <a:p>
            <a:pPr/>
            <a:r>
              <a:t>BUFFERS (SHARED HIT)</a:t>
            </a:r>
          </a:p>
        </p:txBody>
      </p:sp>
      <p:sp>
        <p:nvSpPr>
          <p:cNvPr id="427" name="Text 31"/>
          <p:cNvSpPr txBox="1"/>
          <p:nvPr/>
        </p:nvSpPr>
        <p:spPr>
          <a:xfrm>
            <a:off x="9629774" y="5801767"/>
            <a:ext cx="3718275" cy="3810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58951">
              <a:defRPr sz="2241">
                <a:solidFill>
                  <a:srgbClr val="39C46F"/>
                </a:solidFill>
                <a:latin typeface="Arial"/>
                <a:ea typeface="Arial"/>
                <a:cs typeface="Arial"/>
                <a:sym typeface="Arial"/>
              </a:defRPr>
            </a:lvl1pPr>
          </a:lstStyle>
          <a:p>
            <a:pPr/>
            <a:r>
              <a:t>33</a:t>
            </a:r>
          </a:p>
        </p:txBody>
      </p:sp>
      <p:sp>
        <p:nvSpPr>
          <p:cNvPr id="428" name="Shape 32"/>
          <p:cNvSpPr/>
          <p:nvPr/>
        </p:nvSpPr>
        <p:spPr>
          <a:xfrm>
            <a:off x="13411200" y="5438229"/>
            <a:ext cx="3609975" cy="12701"/>
          </a:xfrm>
          <a:prstGeom prst="rect">
            <a:avLst/>
          </a:prstGeom>
          <a:solidFill>
            <a:srgbClr val="2C3548"/>
          </a:solidFill>
          <a:ln w="12700">
            <a:miter lim="400000"/>
          </a:ln>
        </p:spPr>
        <p:txBody>
          <a:bodyPr lIns="45719" rIns="45719"/>
          <a:lstStyle/>
          <a:p>
            <a:pPr/>
          </a:p>
        </p:txBody>
      </p:sp>
      <p:sp>
        <p:nvSpPr>
          <p:cNvPr id="429" name="Text 33"/>
          <p:cNvSpPr txBox="1"/>
          <p:nvPr/>
        </p:nvSpPr>
        <p:spPr>
          <a:xfrm>
            <a:off x="13411199" y="5582692"/>
            <a:ext cx="3718275" cy="18097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900">
                <a:solidFill>
                  <a:srgbClr val="5D6577"/>
                </a:solidFill>
                <a:latin typeface="Arial"/>
                <a:ea typeface="Arial"/>
                <a:cs typeface="Arial"/>
                <a:sym typeface="Arial"/>
              </a:defRPr>
            </a:lvl1pPr>
          </a:lstStyle>
          <a:p>
            <a:pPr/>
            <a:r>
              <a:t>PLANNER COST</a:t>
            </a:r>
          </a:p>
        </p:txBody>
      </p:sp>
      <p:sp>
        <p:nvSpPr>
          <p:cNvPr id="430" name="Text 34"/>
          <p:cNvSpPr txBox="1"/>
          <p:nvPr/>
        </p:nvSpPr>
        <p:spPr>
          <a:xfrm>
            <a:off x="13411199" y="5801767"/>
            <a:ext cx="3718275" cy="3810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58951">
              <a:defRPr sz="2241">
                <a:solidFill>
                  <a:srgbClr val="39C46F"/>
                </a:solidFill>
                <a:latin typeface="Arial"/>
                <a:ea typeface="Arial"/>
                <a:cs typeface="Arial"/>
                <a:sym typeface="Arial"/>
              </a:defRPr>
            </a:lvl1pPr>
          </a:lstStyle>
          <a:p>
            <a:pPr/>
            <a:r>
              <a:t>24.79</a:t>
            </a:r>
          </a:p>
        </p:txBody>
      </p:sp>
      <p:sp>
        <p:nvSpPr>
          <p:cNvPr id="431" name="Shape 35"/>
          <p:cNvSpPr/>
          <p:nvPr/>
        </p:nvSpPr>
        <p:spPr>
          <a:xfrm>
            <a:off x="952500" y="7336184"/>
            <a:ext cx="5308551" cy="1419226"/>
          </a:xfrm>
          <a:prstGeom prst="roundRect">
            <a:avLst>
              <a:gd name="adj" fmla="val 4027"/>
            </a:avLst>
          </a:prstGeom>
          <a:solidFill>
            <a:srgbClr val="141923"/>
          </a:solidFill>
          <a:ln>
            <a:solidFill>
              <a:srgbClr val="232A3A"/>
            </a:solidFill>
          </a:ln>
        </p:spPr>
        <p:txBody>
          <a:bodyPr lIns="45719" rIns="45719"/>
          <a:lstStyle/>
          <a:p>
            <a:pPr/>
          </a:p>
        </p:txBody>
      </p:sp>
      <p:sp>
        <p:nvSpPr>
          <p:cNvPr id="432" name="Text 36"/>
          <p:cNvSpPr txBox="1"/>
          <p:nvPr/>
        </p:nvSpPr>
        <p:spPr>
          <a:xfrm>
            <a:off x="1098518" y="7517159"/>
            <a:ext cx="5016514"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gn="ctr">
              <a:defRPr spc="200" sz="1000">
                <a:solidFill>
                  <a:srgbClr val="39C46F"/>
                </a:solidFill>
                <a:latin typeface="Arial"/>
                <a:ea typeface="Arial"/>
                <a:cs typeface="Arial"/>
                <a:sym typeface="Arial"/>
              </a:defRPr>
            </a:lvl1pPr>
          </a:lstStyle>
          <a:p>
            <a:pPr/>
            <a:r>
              <a:t>EXECUTION SPEEDUP</a:t>
            </a:r>
          </a:p>
        </p:txBody>
      </p:sp>
      <p:sp>
        <p:nvSpPr>
          <p:cNvPr id="433" name="Text 37"/>
          <p:cNvSpPr txBox="1"/>
          <p:nvPr/>
        </p:nvSpPr>
        <p:spPr>
          <a:xfrm>
            <a:off x="1098518" y="7764809"/>
            <a:ext cx="5016514" cy="5524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lgn="ctr" defTabSz="813816">
              <a:defRPr sz="3559">
                <a:solidFill>
                  <a:srgbClr val="E8ECF4"/>
                </a:solidFill>
                <a:latin typeface="Arial"/>
                <a:ea typeface="Arial"/>
                <a:cs typeface="Arial"/>
                <a:sym typeface="Arial"/>
              </a:defRPr>
            </a:pPr>
            <a:r>
              <a:t>~2.3</a:t>
            </a:r>
            <a:r>
              <a:rPr sz="1779">
                <a:solidFill>
                  <a:srgbClr val="8A93A6"/>
                </a:solidFill>
              </a:rPr>
              <a:t>×</a:t>
            </a:r>
          </a:p>
        </p:txBody>
      </p:sp>
      <p:sp>
        <p:nvSpPr>
          <p:cNvPr id="434" name="Text 38"/>
          <p:cNvSpPr txBox="1"/>
          <p:nvPr/>
        </p:nvSpPr>
        <p:spPr>
          <a:xfrm>
            <a:off x="1098518" y="8336309"/>
            <a:ext cx="5016514" cy="27622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lgn="ctr">
              <a:lnSpc>
                <a:spcPct val="150000"/>
              </a:lnSpc>
              <a:defRPr sz="1200">
                <a:solidFill>
                  <a:srgbClr val="8A93A6"/>
                </a:solidFill>
                <a:latin typeface="-apple-system"/>
                <a:ea typeface="-apple-system"/>
                <a:cs typeface="-apple-system"/>
                <a:sym typeface="-apple-system"/>
              </a:defRPr>
            </a:pPr>
            <a:r>
              <a:t>1.462 ms </a:t>
            </a:r>
            <a:r>
              <a:rPr>
                <a:latin typeface="Arial"/>
                <a:ea typeface="Arial"/>
                <a:cs typeface="Arial"/>
                <a:sym typeface="Arial"/>
              </a:rPr>
              <a:t>→ </a:t>
            </a:r>
            <a:r>
              <a:t>0.640 ms</a:t>
            </a:r>
          </a:p>
        </p:txBody>
      </p:sp>
      <p:sp>
        <p:nvSpPr>
          <p:cNvPr id="435" name="Shape 39"/>
          <p:cNvSpPr/>
          <p:nvPr/>
        </p:nvSpPr>
        <p:spPr>
          <a:xfrm>
            <a:off x="6489650" y="7336184"/>
            <a:ext cx="5308551" cy="1419226"/>
          </a:xfrm>
          <a:prstGeom prst="roundRect">
            <a:avLst>
              <a:gd name="adj" fmla="val 4027"/>
            </a:avLst>
          </a:prstGeom>
          <a:solidFill>
            <a:srgbClr val="141923"/>
          </a:solidFill>
          <a:ln>
            <a:solidFill>
              <a:srgbClr val="232A3A"/>
            </a:solidFill>
          </a:ln>
        </p:spPr>
        <p:txBody>
          <a:bodyPr lIns="45719" rIns="45719"/>
          <a:lstStyle/>
          <a:p>
            <a:pPr/>
          </a:p>
        </p:txBody>
      </p:sp>
      <p:sp>
        <p:nvSpPr>
          <p:cNvPr id="436" name="Text 40"/>
          <p:cNvSpPr txBox="1"/>
          <p:nvPr/>
        </p:nvSpPr>
        <p:spPr>
          <a:xfrm>
            <a:off x="6635669" y="7517159"/>
            <a:ext cx="5016513"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gn="ctr">
              <a:defRPr spc="200" sz="1000">
                <a:solidFill>
                  <a:srgbClr val="39C46F"/>
                </a:solidFill>
                <a:latin typeface="Arial"/>
                <a:ea typeface="Arial"/>
                <a:cs typeface="Arial"/>
                <a:sym typeface="Arial"/>
              </a:defRPr>
            </a:lvl1pPr>
          </a:lstStyle>
          <a:p>
            <a:pPr/>
            <a:r>
              <a:t>BUFFERS READ</a:t>
            </a:r>
          </a:p>
        </p:txBody>
      </p:sp>
      <p:sp>
        <p:nvSpPr>
          <p:cNvPr id="437" name="Text 41"/>
          <p:cNvSpPr txBox="1"/>
          <p:nvPr/>
        </p:nvSpPr>
        <p:spPr>
          <a:xfrm>
            <a:off x="6635669" y="7764809"/>
            <a:ext cx="5016513" cy="5524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lgn="ctr" defTabSz="813816">
              <a:defRPr sz="3559">
                <a:solidFill>
                  <a:srgbClr val="E8ECF4"/>
                </a:solidFill>
                <a:latin typeface="Arial"/>
                <a:ea typeface="Arial"/>
                <a:cs typeface="Arial"/>
                <a:sym typeface="Arial"/>
              </a:defRPr>
            </a:pPr>
            <a:r>
              <a:t>~4</a:t>
            </a:r>
            <a:r>
              <a:rPr sz="1779">
                <a:solidFill>
                  <a:srgbClr val="8A93A6"/>
                </a:solidFill>
              </a:rPr>
              <a:t>×</a:t>
            </a:r>
          </a:p>
        </p:txBody>
      </p:sp>
      <p:sp>
        <p:nvSpPr>
          <p:cNvPr id="438" name="Text 42"/>
          <p:cNvSpPr txBox="1"/>
          <p:nvPr/>
        </p:nvSpPr>
        <p:spPr>
          <a:xfrm>
            <a:off x="6635669" y="8336309"/>
            <a:ext cx="5016513" cy="27622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lgn="ctr">
              <a:lnSpc>
                <a:spcPct val="150000"/>
              </a:lnSpc>
              <a:defRPr sz="1200">
                <a:solidFill>
                  <a:srgbClr val="8A93A6"/>
                </a:solidFill>
                <a:latin typeface="-apple-system"/>
                <a:ea typeface="-apple-system"/>
                <a:cs typeface="-apple-system"/>
                <a:sym typeface="-apple-system"/>
              </a:defRPr>
            </a:pPr>
            <a:r>
              <a:t>141 </a:t>
            </a:r>
            <a:r>
              <a:rPr>
                <a:latin typeface="Arial"/>
                <a:ea typeface="Arial"/>
                <a:cs typeface="Arial"/>
                <a:sym typeface="Arial"/>
              </a:rPr>
              <a:t>→ </a:t>
            </a:r>
            <a:r>
              <a:t>33 fewer</a:t>
            </a:r>
          </a:p>
        </p:txBody>
      </p:sp>
      <p:sp>
        <p:nvSpPr>
          <p:cNvPr id="439" name="Shape 43"/>
          <p:cNvSpPr/>
          <p:nvPr/>
        </p:nvSpPr>
        <p:spPr>
          <a:xfrm>
            <a:off x="12026800" y="7336184"/>
            <a:ext cx="5308551" cy="1419226"/>
          </a:xfrm>
          <a:prstGeom prst="roundRect">
            <a:avLst>
              <a:gd name="adj" fmla="val 4027"/>
            </a:avLst>
          </a:prstGeom>
          <a:solidFill>
            <a:srgbClr val="141923"/>
          </a:solidFill>
          <a:ln>
            <a:solidFill>
              <a:srgbClr val="232A3A"/>
            </a:solidFill>
          </a:ln>
        </p:spPr>
        <p:txBody>
          <a:bodyPr lIns="45719" rIns="45719"/>
          <a:lstStyle/>
          <a:p>
            <a:pPr/>
          </a:p>
        </p:txBody>
      </p:sp>
      <p:sp>
        <p:nvSpPr>
          <p:cNvPr id="440" name="Text 44"/>
          <p:cNvSpPr txBox="1"/>
          <p:nvPr/>
        </p:nvSpPr>
        <p:spPr>
          <a:xfrm>
            <a:off x="12172819" y="7517159"/>
            <a:ext cx="5016513"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gn="ctr">
              <a:defRPr spc="200" sz="1000">
                <a:solidFill>
                  <a:srgbClr val="39C46F"/>
                </a:solidFill>
                <a:latin typeface="Arial"/>
                <a:ea typeface="Arial"/>
                <a:cs typeface="Arial"/>
                <a:sym typeface="Arial"/>
              </a:defRPr>
            </a:lvl1pPr>
          </a:lstStyle>
          <a:p>
            <a:pPr/>
            <a:r>
              <a:t>PLANNER COST</a:t>
            </a:r>
          </a:p>
        </p:txBody>
      </p:sp>
      <p:sp>
        <p:nvSpPr>
          <p:cNvPr id="441" name="Text 45"/>
          <p:cNvSpPr txBox="1"/>
          <p:nvPr/>
        </p:nvSpPr>
        <p:spPr>
          <a:xfrm>
            <a:off x="12172819" y="7764809"/>
            <a:ext cx="5016513" cy="5524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lgn="ctr" defTabSz="813816">
              <a:defRPr sz="3559">
                <a:solidFill>
                  <a:srgbClr val="E8ECF4"/>
                </a:solidFill>
                <a:latin typeface="Arial"/>
                <a:ea typeface="Arial"/>
                <a:cs typeface="Arial"/>
                <a:sym typeface="Arial"/>
              </a:defRPr>
            </a:pPr>
            <a:r>
              <a:t>~7</a:t>
            </a:r>
            <a:r>
              <a:rPr sz="1779">
                <a:solidFill>
                  <a:srgbClr val="8A93A6"/>
                </a:solidFill>
              </a:rPr>
              <a:t>×</a:t>
            </a:r>
          </a:p>
        </p:txBody>
      </p:sp>
      <p:sp>
        <p:nvSpPr>
          <p:cNvPr id="442" name="Text 46"/>
          <p:cNvSpPr txBox="1"/>
          <p:nvPr/>
        </p:nvSpPr>
        <p:spPr>
          <a:xfrm>
            <a:off x="12172819" y="8336309"/>
            <a:ext cx="5016513" cy="27622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lgn="ctr">
              <a:lnSpc>
                <a:spcPct val="150000"/>
              </a:lnSpc>
              <a:defRPr sz="1200">
                <a:solidFill>
                  <a:srgbClr val="8A93A6"/>
                </a:solidFill>
                <a:latin typeface="-apple-system"/>
                <a:ea typeface="-apple-system"/>
                <a:cs typeface="-apple-system"/>
                <a:sym typeface="-apple-system"/>
              </a:defRPr>
            </a:pPr>
            <a:r>
              <a:t>171.22 </a:t>
            </a:r>
            <a:r>
              <a:rPr>
                <a:latin typeface="Arial"/>
                <a:ea typeface="Arial"/>
                <a:cs typeface="Arial"/>
                <a:sym typeface="Arial"/>
              </a:rPr>
              <a:t>→ </a:t>
            </a:r>
            <a:r>
              <a:t>24.79</a:t>
            </a:r>
          </a:p>
        </p:txBody>
      </p:sp>
      <p:sp>
        <p:nvSpPr>
          <p:cNvPr id="443" name="Shape 47"/>
          <p:cNvSpPr/>
          <p:nvPr/>
        </p:nvSpPr>
        <p:spPr>
          <a:xfrm>
            <a:off x="952500" y="8926859"/>
            <a:ext cx="16383000" cy="674341"/>
          </a:xfrm>
          <a:prstGeom prst="rect">
            <a:avLst/>
          </a:prstGeom>
          <a:solidFill>
            <a:srgbClr val="FF5A4E">
              <a:alpha val="6000"/>
            </a:srgbClr>
          </a:solidFill>
          <a:ln w="12700">
            <a:miter lim="400000"/>
          </a:ln>
        </p:spPr>
        <p:txBody>
          <a:bodyPr lIns="45719" rIns="45719"/>
          <a:lstStyle/>
          <a:p>
            <a:pPr/>
          </a:p>
        </p:txBody>
      </p:sp>
      <p:sp>
        <p:nvSpPr>
          <p:cNvPr id="444" name="Shape 48"/>
          <p:cNvSpPr/>
          <p:nvPr/>
        </p:nvSpPr>
        <p:spPr>
          <a:xfrm>
            <a:off x="952500" y="8926859"/>
            <a:ext cx="28575" cy="674341"/>
          </a:xfrm>
          <a:prstGeom prst="rect">
            <a:avLst/>
          </a:prstGeom>
          <a:solidFill>
            <a:srgbClr val="FF5A4E"/>
          </a:solidFill>
          <a:ln w="12700">
            <a:miter lim="400000"/>
          </a:ln>
        </p:spPr>
        <p:txBody>
          <a:bodyPr lIns="45719" rIns="45719"/>
          <a:lstStyle/>
          <a:p>
            <a:pPr/>
          </a:p>
        </p:txBody>
      </p:sp>
      <p:sp>
        <p:nvSpPr>
          <p:cNvPr id="445" name="Text 49"/>
          <p:cNvSpPr txBox="1"/>
          <p:nvPr/>
        </p:nvSpPr>
        <p:spPr>
          <a:xfrm>
            <a:off x="1209674" y="9098309"/>
            <a:ext cx="16388716" cy="3695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lnSpc>
                <a:spcPct val="145000"/>
              </a:lnSpc>
              <a:defRPr i="1">
                <a:solidFill>
                  <a:srgbClr val="E8ECF4"/>
                </a:solidFill>
                <a:latin typeface="Arial"/>
                <a:ea typeface="Arial"/>
                <a:cs typeface="Arial"/>
                <a:sym typeface="Arial"/>
              </a:defRPr>
            </a:pPr>
            <a:r>
              <a:t>Composite index design must match query shape: equality on </a:t>
            </a:r>
            <a:r>
              <a:rPr sz="1600"/>
              <a:t>host_id </a:t>
            </a:r>
            <a:r>
              <a:t>first, range on </a:t>
            </a:r>
            <a:r>
              <a:rPr sz="1600"/>
              <a:t>ae.timestamp </a:t>
            </a:r>
            <a:r>
              <a:t>second.</a:t>
            </a:r>
          </a:p>
        </p:txBody>
      </p:sp>
      <p:sp>
        <p:nvSpPr>
          <p:cNvPr id="446" name="Shape 50"/>
          <p:cNvSpPr/>
          <p:nvPr/>
        </p:nvSpPr>
        <p:spPr>
          <a:xfrm>
            <a:off x="952500" y="9647237"/>
            <a:ext cx="16383000" cy="12701"/>
          </a:xfrm>
          <a:prstGeom prst="rect">
            <a:avLst/>
          </a:prstGeom>
          <a:solidFill>
            <a:srgbClr val="232A3A"/>
          </a:solidFill>
          <a:ln w="12700">
            <a:miter lim="400000"/>
          </a:ln>
        </p:spPr>
        <p:txBody>
          <a:bodyPr lIns="45719" rIns="45719"/>
          <a:lstStyle/>
          <a:p>
            <a:pPr/>
          </a:p>
        </p:txBody>
      </p:sp>
      <p:sp>
        <p:nvSpPr>
          <p:cNvPr id="447" name="Text 51"/>
          <p:cNvSpPr txBox="1"/>
          <p:nvPr/>
        </p:nvSpPr>
        <p:spPr>
          <a:xfrm>
            <a:off x="952499" y="9810750"/>
            <a:ext cx="2372918" cy="20955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defRPr spc="96" sz="1152">
                <a:solidFill>
                  <a:srgbClr val="8A93A6"/>
                </a:solidFill>
                <a:latin typeface="Arial"/>
                <a:ea typeface="Arial"/>
                <a:cs typeface="Arial"/>
                <a:sym typeface="Arial"/>
              </a:defRPr>
            </a:lvl1pPr>
          </a:lstStyle>
          <a:p>
            <a:pPr/>
            <a:r>
              <a:t>09 / 11 · NAMAN · 1:20</a:t>
            </a:r>
          </a:p>
        </p:txBody>
      </p:sp>
      <p:sp>
        <p:nvSpPr>
          <p:cNvPr id="448" name="Text 52"/>
          <p:cNvSpPr txBox="1"/>
          <p:nvPr/>
        </p:nvSpPr>
        <p:spPr>
          <a:xfrm>
            <a:off x="14049523" y="9810750"/>
            <a:ext cx="3384556" cy="20955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defRPr spc="96" sz="1152">
                <a:solidFill>
                  <a:srgbClr val="8A93A6"/>
                </a:solidFill>
                <a:latin typeface="Arial"/>
                <a:ea typeface="Arial"/>
                <a:cs typeface="Arial"/>
                <a:sym typeface="Arial"/>
              </a:defRPr>
            </a:lvl1pPr>
          </a:lstStyle>
          <a:p>
            <a:pPr/>
            <a:r>
              <a:t>DEEP DIVE 04 · EXPLAIN ANALYZE</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B0D12"/>
        </a:solidFill>
      </p:bgPr>
    </p:bg>
    <p:spTree>
      <p:nvGrpSpPr>
        <p:cNvPr id="1" name=""/>
        <p:cNvGrpSpPr/>
        <p:nvPr/>
      </p:nvGrpSpPr>
      <p:grpSpPr>
        <a:xfrm>
          <a:off x="0" y="0"/>
          <a:ext cx="0" cy="0"/>
          <a:chOff x="0" y="0"/>
          <a:chExt cx="0" cy="0"/>
        </a:xfrm>
      </p:grpSpPr>
      <p:sp>
        <p:nvSpPr>
          <p:cNvPr id="452" name="Shape 0"/>
          <p:cNvSpPr/>
          <p:nvPr/>
        </p:nvSpPr>
        <p:spPr>
          <a:xfrm>
            <a:off x="952500" y="1055687"/>
            <a:ext cx="16383000" cy="12701"/>
          </a:xfrm>
          <a:prstGeom prst="rect">
            <a:avLst/>
          </a:prstGeom>
          <a:solidFill>
            <a:srgbClr val="232A3A"/>
          </a:solidFill>
          <a:ln w="12700">
            <a:miter lim="400000"/>
          </a:ln>
        </p:spPr>
        <p:txBody>
          <a:bodyPr lIns="45719" rIns="45719"/>
          <a:lstStyle/>
          <a:p>
            <a:pPr/>
          </a:p>
        </p:txBody>
      </p:sp>
      <p:sp>
        <p:nvSpPr>
          <p:cNvPr id="453" name="Text 1"/>
          <p:cNvSpPr txBox="1"/>
          <p:nvPr/>
        </p:nvSpPr>
        <p:spPr>
          <a:xfrm>
            <a:off x="952499" y="609600"/>
            <a:ext cx="3682712" cy="25717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defRPr b="1" spc="200" sz="1300">
                <a:solidFill>
                  <a:srgbClr val="FF5A4E"/>
                </a:solidFill>
                <a:latin typeface="Arial"/>
                <a:ea typeface="Arial"/>
                <a:cs typeface="Arial"/>
                <a:sym typeface="Arial"/>
              </a:defRPr>
            </a:pPr>
            <a:r>
              <a:t>05 </a:t>
            </a:r>
            <a:r>
              <a:rPr b="0">
                <a:solidFill>
                  <a:srgbClr val="C3CAD8"/>
                </a:solidFill>
              </a:rPr>
              <a:t>/ INTERACTIVE DASHBOARD</a:t>
            </a:r>
          </a:p>
        </p:txBody>
      </p:sp>
      <p:sp>
        <p:nvSpPr>
          <p:cNvPr id="454" name="Text 2"/>
          <p:cNvSpPr txBox="1"/>
          <p:nvPr/>
        </p:nvSpPr>
        <p:spPr>
          <a:xfrm>
            <a:off x="15329892" y="628650"/>
            <a:ext cx="2081809" cy="23812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200" sz="1300">
                <a:solidFill>
                  <a:srgbClr val="8A93A6"/>
                </a:solidFill>
                <a:latin typeface="Arial"/>
                <a:ea typeface="Arial"/>
                <a:cs typeface="Arial"/>
                <a:sym typeface="Arial"/>
              </a:defRPr>
            </a:lvl1pPr>
          </a:lstStyle>
          <a:p>
            <a:pPr/>
            <a:r>
              <a:t>SECTION 10 OF 11</a:t>
            </a:r>
          </a:p>
        </p:txBody>
      </p:sp>
      <p:sp>
        <p:nvSpPr>
          <p:cNvPr id="455" name="Text 3"/>
          <p:cNvSpPr txBox="1"/>
          <p:nvPr/>
        </p:nvSpPr>
        <p:spPr>
          <a:xfrm>
            <a:off x="952500" y="1600200"/>
            <a:ext cx="16874490" cy="59352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96111">
              <a:lnSpc>
                <a:spcPct val="108000"/>
              </a:lnSpc>
              <a:defRPr spc="-98" sz="3920">
                <a:solidFill>
                  <a:srgbClr val="E8ECF4"/>
                </a:solidFill>
                <a:latin typeface="Arial"/>
                <a:ea typeface="Arial"/>
                <a:cs typeface="Arial"/>
                <a:sym typeface="Arial"/>
              </a:defRPr>
            </a:lvl1pPr>
          </a:lstStyle>
          <a:p>
            <a:pPr/>
            <a:r>
              <a:t>Streamlit + SQLAlchemy + Plotly, hitting PostgreSQL directly.</a:t>
            </a:r>
          </a:p>
        </p:txBody>
      </p:sp>
      <p:sp>
        <p:nvSpPr>
          <p:cNvPr id="456" name="Text 4"/>
          <p:cNvSpPr txBox="1"/>
          <p:nvPr/>
        </p:nvSpPr>
        <p:spPr>
          <a:xfrm>
            <a:off x="952500" y="2308026"/>
            <a:ext cx="16678275" cy="35242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lnSpc>
                <a:spcPct val="150000"/>
              </a:lnSpc>
              <a:defRPr sz="1600">
                <a:solidFill>
                  <a:srgbClr val="8A93A6"/>
                </a:solidFill>
                <a:latin typeface="-apple-system"/>
                <a:ea typeface="-apple-system"/>
                <a:cs typeface="-apple-system"/>
                <a:sym typeface="-apple-system"/>
              </a:defRPr>
            </a:pPr>
            <a:r>
              <a:t>Sidebar filters: </a:t>
            </a:r>
            <a:r>
              <a:rPr sz="1500">
                <a:solidFill>
                  <a:srgbClr val="E8ECF4"/>
                </a:solidFill>
                <a:latin typeface="Arial"/>
                <a:ea typeface="Arial"/>
                <a:cs typeface="Arial"/>
                <a:sym typeface="Arial"/>
              </a:rPr>
              <a:t>host </a:t>
            </a:r>
            <a:r>
              <a:t>(default </a:t>
            </a:r>
            <a:r>
              <a:rPr sz="1500">
                <a:solidFill>
                  <a:srgbClr val="E8ECF4"/>
                </a:solidFill>
                <a:latin typeface="Arial"/>
                <a:ea typeface="Arial"/>
                <a:cs typeface="Arial"/>
                <a:sym typeface="Arial"/>
              </a:rPr>
              <a:t>intranet_server</a:t>
            </a:r>
            <a:r>
              <a:t>), </a:t>
            </a:r>
            <a:r>
              <a:rPr sz="1500">
                <a:solidFill>
                  <a:srgbClr val="E8ECF4"/>
                </a:solidFill>
                <a:latin typeface="Arial"/>
                <a:ea typeface="Arial"/>
                <a:cs typeface="Arial"/>
                <a:sym typeface="Arial"/>
              </a:rPr>
              <a:t>attack phase </a:t>
            </a:r>
            <a:r>
              <a:t>(default </a:t>
            </a:r>
            <a:r>
              <a:rPr sz="1500">
                <a:solidFill>
                  <a:srgbClr val="E8ECF4"/>
                </a:solidFill>
                <a:latin typeface="Arial"/>
                <a:ea typeface="Arial"/>
                <a:cs typeface="Arial"/>
                <a:sym typeface="Arial"/>
              </a:rPr>
              <a:t>initial_access </a:t>
            </a:r>
            <a:r>
              <a:t>+ </a:t>
            </a:r>
            <a:r>
              <a:rPr sz="1500">
                <a:solidFill>
                  <a:srgbClr val="E8ECF4"/>
                </a:solidFill>
                <a:latin typeface="Arial"/>
                <a:ea typeface="Arial"/>
                <a:cs typeface="Arial"/>
                <a:sym typeface="Arial"/>
              </a:rPr>
              <a:t>privilege_escalation</a:t>
            </a:r>
            <a:r>
              <a:t>), </a:t>
            </a:r>
            <a:r>
              <a:rPr sz="1500">
                <a:solidFill>
                  <a:srgbClr val="E8ECF4"/>
                </a:solidFill>
                <a:latin typeface="Arial"/>
                <a:ea typeface="Arial"/>
                <a:cs typeface="Arial"/>
                <a:sym typeface="Arial"/>
              </a:rPr>
              <a:t>source log </a:t>
            </a:r>
            <a:r>
              <a:t>(multi-select).</a:t>
            </a:r>
          </a:p>
        </p:txBody>
      </p:sp>
      <p:sp>
        <p:nvSpPr>
          <p:cNvPr id="457" name="Shape 5"/>
          <p:cNvSpPr/>
          <p:nvPr/>
        </p:nvSpPr>
        <p:spPr>
          <a:xfrm>
            <a:off x="952500" y="2831901"/>
            <a:ext cx="8077200" cy="1095376"/>
          </a:xfrm>
          <a:prstGeom prst="roundRect">
            <a:avLst>
              <a:gd name="adj" fmla="val 5217"/>
            </a:avLst>
          </a:prstGeom>
          <a:solidFill>
            <a:srgbClr val="141923"/>
          </a:solidFill>
          <a:ln>
            <a:solidFill>
              <a:srgbClr val="232A3A"/>
            </a:solidFill>
          </a:ln>
        </p:spPr>
        <p:txBody>
          <a:bodyPr lIns="45719" rIns="45719"/>
          <a:lstStyle/>
          <a:p>
            <a:pPr/>
          </a:p>
        </p:txBody>
      </p:sp>
      <p:sp>
        <p:nvSpPr>
          <p:cNvPr id="458" name="Text 6"/>
          <p:cNvSpPr txBox="1"/>
          <p:nvPr/>
        </p:nvSpPr>
        <p:spPr>
          <a:xfrm>
            <a:off x="1171574" y="3012876"/>
            <a:ext cx="7868223" cy="18097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defRPr spc="100" sz="900">
                <a:solidFill>
                  <a:srgbClr val="FF5A4E"/>
                </a:solidFill>
                <a:latin typeface="Arial"/>
                <a:ea typeface="Arial"/>
                <a:cs typeface="Arial"/>
                <a:sym typeface="Arial"/>
              </a:defRPr>
            </a:pPr>
            <a:r>
              <a:t>● </a:t>
            </a:r>
            <a:r>
              <a:rPr>
                <a:solidFill>
                  <a:srgbClr val="8A93A6"/>
                </a:solidFill>
              </a:rPr>
              <a:t>DEFAULT FILTERS · HOST = </a:t>
            </a:r>
            <a:r>
              <a:rPr sz="800">
                <a:solidFill>
                  <a:srgbClr val="E8ECF4"/>
                </a:solidFill>
              </a:rPr>
              <a:t>INTRANET_SERVER</a:t>
            </a:r>
          </a:p>
        </p:txBody>
      </p:sp>
      <p:sp>
        <p:nvSpPr>
          <p:cNvPr id="459" name="Text 7"/>
          <p:cNvSpPr txBox="1"/>
          <p:nvPr/>
        </p:nvSpPr>
        <p:spPr>
          <a:xfrm>
            <a:off x="1171574" y="3251001"/>
            <a:ext cx="1900240" cy="3429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77240">
              <a:defRPr sz="2040">
                <a:solidFill>
                  <a:srgbClr val="E8ECF4"/>
                </a:solidFill>
                <a:latin typeface="Arial"/>
                <a:ea typeface="Arial"/>
                <a:cs typeface="Arial"/>
                <a:sym typeface="Arial"/>
              </a:defRPr>
            </a:lvl1pPr>
          </a:lstStyle>
          <a:p>
            <a:pPr/>
            <a:r>
              <a:t>7,748</a:t>
            </a:r>
          </a:p>
        </p:txBody>
      </p:sp>
      <p:sp>
        <p:nvSpPr>
          <p:cNvPr id="460" name="Text 8"/>
          <p:cNvSpPr txBox="1"/>
          <p:nvPr/>
        </p:nvSpPr>
        <p:spPr>
          <a:xfrm>
            <a:off x="1171574" y="3612951"/>
            <a:ext cx="1900240" cy="17723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900">
                <a:solidFill>
                  <a:srgbClr val="5D6577"/>
                </a:solidFill>
                <a:latin typeface="Arial"/>
                <a:ea typeface="Arial"/>
                <a:cs typeface="Arial"/>
                <a:sym typeface="Arial"/>
              </a:defRPr>
            </a:lvl1pPr>
          </a:lstStyle>
          <a:p>
            <a:pPr/>
            <a:r>
              <a:t>LABELED LINES</a:t>
            </a:r>
          </a:p>
        </p:txBody>
      </p:sp>
      <p:sp>
        <p:nvSpPr>
          <p:cNvPr id="461" name="Text 9"/>
          <p:cNvSpPr txBox="1"/>
          <p:nvPr/>
        </p:nvSpPr>
        <p:spPr>
          <a:xfrm>
            <a:off x="3109913" y="3251001"/>
            <a:ext cx="1900239" cy="3429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77240">
              <a:defRPr sz="2040">
                <a:solidFill>
                  <a:srgbClr val="E8ECF4"/>
                </a:solidFill>
                <a:latin typeface="Arial"/>
                <a:ea typeface="Arial"/>
                <a:cs typeface="Arial"/>
                <a:sym typeface="Arial"/>
              </a:defRPr>
            </a:lvl1pPr>
          </a:lstStyle>
          <a:p>
            <a:pPr/>
            <a:r>
              <a:t>6</a:t>
            </a:r>
          </a:p>
        </p:txBody>
      </p:sp>
      <p:sp>
        <p:nvSpPr>
          <p:cNvPr id="462" name="Text 10"/>
          <p:cNvSpPr txBox="1"/>
          <p:nvPr/>
        </p:nvSpPr>
        <p:spPr>
          <a:xfrm>
            <a:off x="3109913" y="3612951"/>
            <a:ext cx="1900239" cy="17723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900">
                <a:solidFill>
                  <a:srgbClr val="5D6577"/>
                </a:solidFill>
                <a:latin typeface="Arial"/>
                <a:ea typeface="Arial"/>
                <a:cs typeface="Arial"/>
                <a:sym typeface="Arial"/>
              </a:defRPr>
            </a:lvl1pPr>
          </a:lstStyle>
          <a:p>
            <a:pPr/>
            <a:r>
              <a:t>DISTINCT LABELS</a:t>
            </a:r>
          </a:p>
        </p:txBody>
      </p:sp>
      <p:sp>
        <p:nvSpPr>
          <p:cNvPr id="463" name="Text 11"/>
          <p:cNvSpPr txBox="1"/>
          <p:nvPr/>
        </p:nvSpPr>
        <p:spPr>
          <a:xfrm>
            <a:off x="5048249" y="3251001"/>
            <a:ext cx="1900240" cy="3429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77240">
              <a:defRPr sz="2040">
                <a:solidFill>
                  <a:srgbClr val="E8ECF4"/>
                </a:solidFill>
                <a:latin typeface="Arial"/>
                <a:ea typeface="Arial"/>
                <a:cs typeface="Arial"/>
                <a:sym typeface="Arial"/>
              </a:defRPr>
            </a:lvl1pPr>
          </a:lstStyle>
          <a:p>
            <a:pPr/>
            <a:r>
              <a:t>4</a:t>
            </a:r>
          </a:p>
        </p:txBody>
      </p:sp>
      <p:sp>
        <p:nvSpPr>
          <p:cNvPr id="464" name="Text 12"/>
          <p:cNvSpPr txBox="1"/>
          <p:nvPr/>
        </p:nvSpPr>
        <p:spPr>
          <a:xfrm>
            <a:off x="5048249" y="3612951"/>
            <a:ext cx="1900240" cy="17723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900">
                <a:solidFill>
                  <a:srgbClr val="5D6577"/>
                </a:solidFill>
                <a:latin typeface="Arial"/>
                <a:ea typeface="Arial"/>
                <a:cs typeface="Arial"/>
                <a:sym typeface="Arial"/>
              </a:defRPr>
            </a:lvl1pPr>
          </a:lstStyle>
          <a:p>
            <a:pPr/>
            <a:r>
              <a:t>SOURCE LOGS</a:t>
            </a:r>
          </a:p>
        </p:txBody>
      </p:sp>
      <p:sp>
        <p:nvSpPr>
          <p:cNvPr id="465" name="Text 13"/>
          <p:cNvSpPr txBox="1"/>
          <p:nvPr/>
        </p:nvSpPr>
        <p:spPr>
          <a:xfrm>
            <a:off x="6986588" y="3251001"/>
            <a:ext cx="1900239" cy="3429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77240">
              <a:defRPr sz="2040">
                <a:solidFill>
                  <a:srgbClr val="E8ECF4"/>
                </a:solidFill>
                <a:latin typeface="Arial"/>
                <a:ea typeface="Arial"/>
                <a:cs typeface="Arial"/>
                <a:sym typeface="Arial"/>
              </a:defRPr>
            </a:lvl1pPr>
          </a:lstStyle>
          <a:p>
            <a:pPr/>
            <a:r>
              <a:t>9</a:t>
            </a:r>
          </a:p>
        </p:txBody>
      </p:sp>
      <p:sp>
        <p:nvSpPr>
          <p:cNvPr id="466" name="Text 14"/>
          <p:cNvSpPr txBox="1"/>
          <p:nvPr/>
        </p:nvSpPr>
        <p:spPr>
          <a:xfrm>
            <a:off x="6986588" y="3612951"/>
            <a:ext cx="1900239" cy="17723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900">
                <a:solidFill>
                  <a:srgbClr val="5D6577"/>
                </a:solidFill>
                <a:latin typeface="Arial"/>
                <a:ea typeface="Arial"/>
                <a:cs typeface="Arial"/>
                <a:sym typeface="Arial"/>
              </a:defRPr>
            </a:lvl1pPr>
          </a:lstStyle>
          <a:p>
            <a:pPr/>
            <a:r>
              <a:t>AUDIT EVENTS</a:t>
            </a:r>
          </a:p>
        </p:txBody>
      </p:sp>
      <p:sp>
        <p:nvSpPr>
          <p:cNvPr id="467" name="Shape 15"/>
          <p:cNvSpPr/>
          <p:nvPr/>
        </p:nvSpPr>
        <p:spPr>
          <a:xfrm>
            <a:off x="9258300" y="2831901"/>
            <a:ext cx="8077200" cy="1095376"/>
          </a:xfrm>
          <a:prstGeom prst="roundRect">
            <a:avLst>
              <a:gd name="adj" fmla="val 5217"/>
            </a:avLst>
          </a:prstGeom>
          <a:solidFill>
            <a:srgbClr val="141923"/>
          </a:solidFill>
          <a:ln>
            <a:solidFill>
              <a:srgbClr val="232A3A"/>
            </a:solidFill>
          </a:ln>
        </p:spPr>
        <p:txBody>
          <a:bodyPr lIns="45719" rIns="45719"/>
          <a:lstStyle/>
          <a:p>
            <a:pPr/>
          </a:p>
        </p:txBody>
      </p:sp>
      <p:sp>
        <p:nvSpPr>
          <p:cNvPr id="468" name="Text 16"/>
          <p:cNvSpPr txBox="1"/>
          <p:nvPr/>
        </p:nvSpPr>
        <p:spPr>
          <a:xfrm>
            <a:off x="9477374" y="3012876"/>
            <a:ext cx="7868223" cy="18097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defRPr spc="100" sz="900">
                <a:solidFill>
                  <a:srgbClr val="4EA8FF"/>
                </a:solidFill>
                <a:latin typeface="Arial"/>
                <a:ea typeface="Arial"/>
                <a:cs typeface="Arial"/>
                <a:sym typeface="Arial"/>
              </a:defRPr>
            </a:pPr>
            <a:r>
              <a:t>● </a:t>
            </a:r>
            <a:r>
              <a:rPr>
                <a:solidFill>
                  <a:srgbClr val="8A93A6"/>
                </a:solidFill>
              </a:rPr>
              <a:t>HOST FILTER CLEARED · ALL HOSTS</a:t>
            </a:r>
          </a:p>
        </p:txBody>
      </p:sp>
      <p:sp>
        <p:nvSpPr>
          <p:cNvPr id="469" name="Text 17"/>
          <p:cNvSpPr txBox="1"/>
          <p:nvPr/>
        </p:nvSpPr>
        <p:spPr>
          <a:xfrm>
            <a:off x="9477374" y="3251001"/>
            <a:ext cx="1900240" cy="3429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77240">
              <a:defRPr sz="2040">
                <a:solidFill>
                  <a:srgbClr val="E8ECF4"/>
                </a:solidFill>
                <a:latin typeface="Arial"/>
                <a:ea typeface="Arial"/>
                <a:cs typeface="Arial"/>
                <a:sym typeface="Arial"/>
              </a:defRPr>
            </a:lvl1pPr>
          </a:lstStyle>
          <a:p>
            <a:pPr/>
            <a:r>
              <a:t>8,806</a:t>
            </a:r>
          </a:p>
        </p:txBody>
      </p:sp>
      <p:sp>
        <p:nvSpPr>
          <p:cNvPr id="470" name="Text 18"/>
          <p:cNvSpPr txBox="1"/>
          <p:nvPr/>
        </p:nvSpPr>
        <p:spPr>
          <a:xfrm>
            <a:off x="9477374" y="3612951"/>
            <a:ext cx="1900240" cy="17723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900">
                <a:solidFill>
                  <a:srgbClr val="5D6577"/>
                </a:solidFill>
                <a:latin typeface="Arial"/>
                <a:ea typeface="Arial"/>
                <a:cs typeface="Arial"/>
                <a:sym typeface="Arial"/>
              </a:defRPr>
            </a:lvl1pPr>
          </a:lstStyle>
          <a:p>
            <a:pPr/>
            <a:r>
              <a:t>LABELED LINES</a:t>
            </a:r>
          </a:p>
        </p:txBody>
      </p:sp>
      <p:sp>
        <p:nvSpPr>
          <p:cNvPr id="471" name="Text 19"/>
          <p:cNvSpPr txBox="1"/>
          <p:nvPr/>
        </p:nvSpPr>
        <p:spPr>
          <a:xfrm>
            <a:off x="11415713" y="3251001"/>
            <a:ext cx="1900239" cy="3429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77240">
              <a:defRPr sz="2040">
                <a:solidFill>
                  <a:srgbClr val="E8ECF4"/>
                </a:solidFill>
                <a:latin typeface="Arial"/>
                <a:ea typeface="Arial"/>
                <a:cs typeface="Arial"/>
                <a:sym typeface="Arial"/>
              </a:defRPr>
            </a:lvl1pPr>
          </a:lstStyle>
          <a:p>
            <a:pPr/>
            <a:r>
              <a:t>7</a:t>
            </a:r>
          </a:p>
        </p:txBody>
      </p:sp>
      <p:sp>
        <p:nvSpPr>
          <p:cNvPr id="472" name="Text 20"/>
          <p:cNvSpPr txBox="1"/>
          <p:nvPr/>
        </p:nvSpPr>
        <p:spPr>
          <a:xfrm>
            <a:off x="11415713" y="3612951"/>
            <a:ext cx="1900239" cy="17723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900">
                <a:solidFill>
                  <a:srgbClr val="5D6577"/>
                </a:solidFill>
                <a:latin typeface="Arial"/>
                <a:ea typeface="Arial"/>
                <a:cs typeface="Arial"/>
                <a:sym typeface="Arial"/>
              </a:defRPr>
            </a:lvl1pPr>
          </a:lstStyle>
          <a:p>
            <a:pPr/>
            <a:r>
              <a:t>DISTINCT LABELS</a:t>
            </a:r>
          </a:p>
        </p:txBody>
      </p:sp>
      <p:sp>
        <p:nvSpPr>
          <p:cNvPr id="473" name="Text 21"/>
          <p:cNvSpPr txBox="1"/>
          <p:nvPr/>
        </p:nvSpPr>
        <p:spPr>
          <a:xfrm>
            <a:off x="13354049" y="3251001"/>
            <a:ext cx="1900240" cy="3429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77240">
              <a:defRPr sz="2040">
                <a:solidFill>
                  <a:srgbClr val="E8ECF4"/>
                </a:solidFill>
                <a:latin typeface="Arial"/>
                <a:ea typeface="Arial"/>
                <a:cs typeface="Arial"/>
                <a:sym typeface="Arial"/>
              </a:defRPr>
            </a:lvl1pPr>
          </a:lstStyle>
          <a:p>
            <a:pPr/>
            <a:r>
              <a:t>7</a:t>
            </a:r>
          </a:p>
        </p:txBody>
      </p:sp>
      <p:sp>
        <p:nvSpPr>
          <p:cNvPr id="474" name="Text 22"/>
          <p:cNvSpPr txBox="1"/>
          <p:nvPr/>
        </p:nvSpPr>
        <p:spPr>
          <a:xfrm>
            <a:off x="13354049" y="3612951"/>
            <a:ext cx="1900240" cy="17723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900">
                <a:solidFill>
                  <a:srgbClr val="5D6577"/>
                </a:solidFill>
                <a:latin typeface="Arial"/>
                <a:ea typeface="Arial"/>
                <a:cs typeface="Arial"/>
                <a:sym typeface="Arial"/>
              </a:defRPr>
            </a:lvl1pPr>
          </a:lstStyle>
          <a:p>
            <a:pPr/>
            <a:r>
              <a:t>SOURCE LOGS</a:t>
            </a:r>
          </a:p>
        </p:txBody>
      </p:sp>
      <p:sp>
        <p:nvSpPr>
          <p:cNvPr id="475" name="Text 23"/>
          <p:cNvSpPr txBox="1"/>
          <p:nvPr/>
        </p:nvSpPr>
        <p:spPr>
          <a:xfrm>
            <a:off x="15292387" y="3251001"/>
            <a:ext cx="1900239" cy="3429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77240">
              <a:defRPr sz="2040">
                <a:solidFill>
                  <a:srgbClr val="E8ECF4"/>
                </a:solidFill>
                <a:latin typeface="Arial"/>
                <a:ea typeface="Arial"/>
                <a:cs typeface="Arial"/>
                <a:sym typeface="Arial"/>
              </a:defRPr>
            </a:lvl1pPr>
          </a:lstStyle>
          <a:p>
            <a:pPr/>
            <a:r>
              <a:t>9</a:t>
            </a:r>
          </a:p>
        </p:txBody>
      </p:sp>
      <p:sp>
        <p:nvSpPr>
          <p:cNvPr id="476" name="Text 24"/>
          <p:cNvSpPr txBox="1"/>
          <p:nvPr/>
        </p:nvSpPr>
        <p:spPr>
          <a:xfrm>
            <a:off x="15292387" y="3612951"/>
            <a:ext cx="1900239" cy="17723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900">
                <a:solidFill>
                  <a:srgbClr val="5D6577"/>
                </a:solidFill>
                <a:latin typeface="Arial"/>
                <a:ea typeface="Arial"/>
                <a:cs typeface="Arial"/>
                <a:sym typeface="Arial"/>
              </a:defRPr>
            </a:lvl1pPr>
          </a:lstStyle>
          <a:p>
            <a:pPr/>
            <a:r>
              <a:t>AUDIT EVENTS</a:t>
            </a:r>
          </a:p>
        </p:txBody>
      </p:sp>
      <p:sp>
        <p:nvSpPr>
          <p:cNvPr id="477" name="Shape 25"/>
          <p:cNvSpPr/>
          <p:nvPr/>
        </p:nvSpPr>
        <p:spPr>
          <a:xfrm>
            <a:off x="952500" y="4136826"/>
            <a:ext cx="6604696" cy="4618584"/>
          </a:xfrm>
          <a:prstGeom prst="roundRect">
            <a:avLst>
              <a:gd name="adj" fmla="val 1237"/>
            </a:avLst>
          </a:prstGeom>
          <a:solidFill>
            <a:srgbClr val="141923"/>
          </a:solidFill>
          <a:ln>
            <a:solidFill>
              <a:srgbClr val="232A3A"/>
            </a:solidFill>
          </a:ln>
        </p:spPr>
        <p:txBody>
          <a:bodyPr lIns="45719" rIns="45719"/>
          <a:lstStyle/>
          <a:p>
            <a:pPr/>
          </a:p>
        </p:txBody>
      </p:sp>
      <p:sp>
        <p:nvSpPr>
          <p:cNvPr id="478" name="Shape 26"/>
          <p:cNvSpPr/>
          <p:nvPr/>
        </p:nvSpPr>
        <p:spPr>
          <a:xfrm>
            <a:off x="962024" y="4146351"/>
            <a:ext cx="6585647" cy="3238501"/>
          </a:xfrm>
          <a:prstGeom prst="rect">
            <a:avLst/>
          </a:prstGeom>
          <a:solidFill>
            <a:srgbClr val="000000"/>
          </a:solidFill>
          <a:ln w="12700">
            <a:miter lim="400000"/>
          </a:ln>
        </p:spPr>
        <p:txBody>
          <a:bodyPr lIns="45719" rIns="45719"/>
          <a:lstStyle/>
          <a:p>
            <a:pPr/>
          </a:p>
        </p:txBody>
      </p:sp>
      <p:pic>
        <p:nvPicPr>
          <p:cNvPr id="479" name="Image 0" descr="Image 0"/>
          <p:cNvPicPr>
            <a:picLocks noChangeAspect="1"/>
          </p:cNvPicPr>
          <p:nvPr/>
        </p:nvPicPr>
        <p:blipFill>
          <a:blip r:embed="rId3">
            <a:extLst/>
          </a:blip>
          <a:stretch>
            <a:fillRect/>
          </a:stretch>
        </p:blipFill>
        <p:spPr>
          <a:xfrm>
            <a:off x="962025" y="4146351"/>
            <a:ext cx="6585646" cy="3238501"/>
          </a:xfrm>
          <a:prstGeom prst="rect">
            <a:avLst/>
          </a:prstGeom>
          <a:ln w="12700">
            <a:miter lim="400000"/>
          </a:ln>
        </p:spPr>
      </p:pic>
      <p:sp>
        <p:nvSpPr>
          <p:cNvPr id="480" name="Shape 27"/>
          <p:cNvSpPr/>
          <p:nvPr/>
        </p:nvSpPr>
        <p:spPr>
          <a:xfrm>
            <a:off x="962024" y="7384852"/>
            <a:ext cx="6585647" cy="428626"/>
          </a:xfrm>
          <a:prstGeom prst="rect">
            <a:avLst/>
          </a:prstGeom>
          <a:solidFill>
            <a:srgbClr val="0F131A"/>
          </a:solidFill>
          <a:ln w="12700">
            <a:miter lim="400000"/>
          </a:ln>
        </p:spPr>
        <p:txBody>
          <a:bodyPr lIns="45719" rIns="45719"/>
          <a:lstStyle/>
          <a:p>
            <a:pPr/>
          </a:p>
        </p:txBody>
      </p:sp>
      <p:sp>
        <p:nvSpPr>
          <p:cNvPr id="481" name="Shape 28"/>
          <p:cNvSpPr/>
          <p:nvPr/>
        </p:nvSpPr>
        <p:spPr>
          <a:xfrm>
            <a:off x="962024" y="7383264"/>
            <a:ext cx="6585647" cy="12701"/>
          </a:xfrm>
          <a:prstGeom prst="rect">
            <a:avLst/>
          </a:prstGeom>
          <a:solidFill>
            <a:srgbClr val="232A3A"/>
          </a:solidFill>
          <a:ln w="12700">
            <a:miter lim="400000"/>
          </a:ln>
        </p:spPr>
        <p:txBody>
          <a:bodyPr lIns="45719" rIns="45719"/>
          <a:lstStyle/>
          <a:p>
            <a:pPr/>
          </a:p>
        </p:txBody>
      </p:sp>
      <p:sp>
        <p:nvSpPr>
          <p:cNvPr id="482" name="Text 29"/>
          <p:cNvSpPr txBox="1"/>
          <p:nvPr/>
        </p:nvSpPr>
        <p:spPr>
          <a:xfrm>
            <a:off x="1133474" y="7527727"/>
            <a:ext cx="6440316"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1000">
                <a:solidFill>
                  <a:srgbClr val="8A93A6"/>
                </a:solidFill>
                <a:latin typeface="Arial"/>
                <a:ea typeface="Arial"/>
                <a:cs typeface="Arial"/>
                <a:sym typeface="Arial"/>
              </a:defRPr>
            </a:lvl1pPr>
          </a:lstStyle>
          <a:p>
            <a:pPr/>
            <a:r>
              <a:t>PANELS 2 TO 3 · CUMULATIVE FOOTHOLD &amp; SU-THEN-SUDO TIMELINE</a:t>
            </a:r>
          </a:p>
        </p:txBody>
      </p:sp>
      <p:sp>
        <p:nvSpPr>
          <p:cNvPr id="483" name="Shape 30"/>
          <p:cNvSpPr/>
          <p:nvPr/>
        </p:nvSpPr>
        <p:spPr>
          <a:xfrm>
            <a:off x="7728645" y="4136826"/>
            <a:ext cx="4717704" cy="2223493"/>
          </a:xfrm>
          <a:prstGeom prst="roundRect">
            <a:avLst>
              <a:gd name="adj" fmla="val 2570"/>
            </a:avLst>
          </a:prstGeom>
          <a:solidFill>
            <a:srgbClr val="141923"/>
          </a:solidFill>
          <a:ln>
            <a:solidFill>
              <a:srgbClr val="232A3A"/>
            </a:solidFill>
          </a:ln>
        </p:spPr>
        <p:txBody>
          <a:bodyPr lIns="45719" rIns="45719"/>
          <a:lstStyle/>
          <a:p>
            <a:pPr/>
          </a:p>
        </p:txBody>
      </p:sp>
      <p:sp>
        <p:nvSpPr>
          <p:cNvPr id="484" name="Shape 31"/>
          <p:cNvSpPr/>
          <p:nvPr/>
        </p:nvSpPr>
        <p:spPr>
          <a:xfrm>
            <a:off x="7738170" y="4146351"/>
            <a:ext cx="4698654" cy="1485901"/>
          </a:xfrm>
          <a:prstGeom prst="rect">
            <a:avLst/>
          </a:prstGeom>
          <a:solidFill>
            <a:srgbClr val="000000"/>
          </a:solidFill>
          <a:ln w="12700">
            <a:miter lim="400000"/>
          </a:ln>
        </p:spPr>
        <p:txBody>
          <a:bodyPr lIns="45719" rIns="45719"/>
          <a:lstStyle/>
          <a:p>
            <a:pPr/>
          </a:p>
        </p:txBody>
      </p:sp>
      <p:pic>
        <p:nvPicPr>
          <p:cNvPr id="485" name="Image 1" descr="Image 1"/>
          <p:cNvPicPr>
            <a:picLocks noChangeAspect="1"/>
          </p:cNvPicPr>
          <p:nvPr/>
        </p:nvPicPr>
        <p:blipFill>
          <a:blip r:embed="rId4">
            <a:extLst/>
          </a:blip>
          <a:stretch>
            <a:fillRect/>
          </a:stretch>
        </p:blipFill>
        <p:spPr>
          <a:xfrm>
            <a:off x="7738170" y="4146351"/>
            <a:ext cx="4698654" cy="1485901"/>
          </a:xfrm>
          <a:prstGeom prst="rect">
            <a:avLst/>
          </a:prstGeom>
          <a:ln w="12700">
            <a:miter lim="400000"/>
          </a:ln>
        </p:spPr>
      </p:pic>
      <p:sp>
        <p:nvSpPr>
          <p:cNvPr id="486" name="Shape 32"/>
          <p:cNvSpPr/>
          <p:nvPr/>
        </p:nvSpPr>
        <p:spPr>
          <a:xfrm>
            <a:off x="7738170" y="5632251"/>
            <a:ext cx="4698654" cy="581026"/>
          </a:xfrm>
          <a:prstGeom prst="rect">
            <a:avLst/>
          </a:prstGeom>
          <a:solidFill>
            <a:srgbClr val="0F131A"/>
          </a:solidFill>
          <a:ln w="12700">
            <a:miter lim="400000"/>
          </a:ln>
        </p:spPr>
        <p:txBody>
          <a:bodyPr lIns="45719" rIns="45719"/>
          <a:lstStyle/>
          <a:p>
            <a:pPr/>
          </a:p>
        </p:txBody>
      </p:sp>
      <p:sp>
        <p:nvSpPr>
          <p:cNvPr id="487" name="Shape 33"/>
          <p:cNvSpPr/>
          <p:nvPr/>
        </p:nvSpPr>
        <p:spPr>
          <a:xfrm>
            <a:off x="7738170" y="5630664"/>
            <a:ext cx="4698654" cy="12701"/>
          </a:xfrm>
          <a:prstGeom prst="rect">
            <a:avLst/>
          </a:prstGeom>
          <a:solidFill>
            <a:srgbClr val="232A3A"/>
          </a:solidFill>
          <a:ln w="12700">
            <a:miter lim="400000"/>
          </a:ln>
        </p:spPr>
        <p:txBody>
          <a:bodyPr lIns="45719" rIns="45719"/>
          <a:lstStyle/>
          <a:p>
            <a:pPr/>
          </a:p>
        </p:txBody>
      </p:sp>
      <p:sp>
        <p:nvSpPr>
          <p:cNvPr id="488" name="Text 34"/>
          <p:cNvSpPr txBox="1"/>
          <p:nvPr/>
        </p:nvSpPr>
        <p:spPr>
          <a:xfrm>
            <a:off x="7909620" y="5775126"/>
            <a:ext cx="4496713" cy="3429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1000">
                <a:solidFill>
                  <a:srgbClr val="8A93A6"/>
                </a:solidFill>
                <a:latin typeface="Arial"/>
                <a:ea typeface="Arial"/>
                <a:cs typeface="Arial"/>
                <a:sym typeface="Arial"/>
              </a:defRPr>
            </a:lvl1pPr>
          </a:lstStyle>
          <a:p>
            <a:pPr/>
            <a:r>
              <a:t>PANELS 4 TO 5 · CROSS-HOST TRACES &amp; RULE RANK</a:t>
            </a:r>
          </a:p>
        </p:txBody>
      </p:sp>
      <p:sp>
        <p:nvSpPr>
          <p:cNvPr id="489" name="Shape 35"/>
          <p:cNvSpPr/>
          <p:nvPr/>
        </p:nvSpPr>
        <p:spPr>
          <a:xfrm>
            <a:off x="12617797" y="4136826"/>
            <a:ext cx="4717555" cy="2223493"/>
          </a:xfrm>
          <a:prstGeom prst="roundRect">
            <a:avLst>
              <a:gd name="adj" fmla="val 2570"/>
            </a:avLst>
          </a:prstGeom>
          <a:solidFill>
            <a:srgbClr val="141923"/>
          </a:solidFill>
          <a:ln>
            <a:solidFill>
              <a:srgbClr val="232A3A"/>
            </a:solidFill>
          </a:ln>
        </p:spPr>
        <p:txBody>
          <a:bodyPr lIns="45719" rIns="45719"/>
          <a:lstStyle/>
          <a:p>
            <a:pPr/>
          </a:p>
        </p:txBody>
      </p:sp>
      <p:sp>
        <p:nvSpPr>
          <p:cNvPr id="490" name="Shape 36"/>
          <p:cNvSpPr/>
          <p:nvPr/>
        </p:nvSpPr>
        <p:spPr>
          <a:xfrm>
            <a:off x="12627322" y="4146351"/>
            <a:ext cx="4698505" cy="1485901"/>
          </a:xfrm>
          <a:prstGeom prst="rect">
            <a:avLst/>
          </a:prstGeom>
          <a:solidFill>
            <a:srgbClr val="000000"/>
          </a:solidFill>
          <a:ln w="12700">
            <a:miter lim="400000"/>
          </a:ln>
        </p:spPr>
        <p:txBody>
          <a:bodyPr lIns="45719" rIns="45719"/>
          <a:lstStyle/>
          <a:p>
            <a:pPr/>
          </a:p>
        </p:txBody>
      </p:sp>
      <p:pic>
        <p:nvPicPr>
          <p:cNvPr id="491" name="Image 2" descr="Image 2"/>
          <p:cNvPicPr>
            <a:picLocks noChangeAspect="1"/>
          </p:cNvPicPr>
          <p:nvPr/>
        </p:nvPicPr>
        <p:blipFill>
          <a:blip r:embed="rId5">
            <a:extLst/>
          </a:blip>
          <a:stretch>
            <a:fillRect/>
          </a:stretch>
        </p:blipFill>
        <p:spPr>
          <a:xfrm>
            <a:off x="12627322" y="4146351"/>
            <a:ext cx="4698505" cy="1485901"/>
          </a:xfrm>
          <a:prstGeom prst="rect">
            <a:avLst/>
          </a:prstGeom>
          <a:ln w="12700">
            <a:miter lim="400000"/>
          </a:ln>
        </p:spPr>
      </p:pic>
      <p:sp>
        <p:nvSpPr>
          <p:cNvPr id="492" name="Shape 37"/>
          <p:cNvSpPr/>
          <p:nvPr/>
        </p:nvSpPr>
        <p:spPr>
          <a:xfrm>
            <a:off x="12627322" y="5632251"/>
            <a:ext cx="4698505" cy="428626"/>
          </a:xfrm>
          <a:prstGeom prst="rect">
            <a:avLst/>
          </a:prstGeom>
          <a:solidFill>
            <a:srgbClr val="0F131A"/>
          </a:solidFill>
          <a:ln w="12700">
            <a:miter lim="400000"/>
          </a:ln>
        </p:spPr>
        <p:txBody>
          <a:bodyPr lIns="45719" rIns="45719"/>
          <a:lstStyle/>
          <a:p>
            <a:pPr/>
          </a:p>
        </p:txBody>
      </p:sp>
      <p:sp>
        <p:nvSpPr>
          <p:cNvPr id="493" name="Shape 38"/>
          <p:cNvSpPr/>
          <p:nvPr/>
        </p:nvSpPr>
        <p:spPr>
          <a:xfrm>
            <a:off x="12627322" y="5630664"/>
            <a:ext cx="4698505" cy="12701"/>
          </a:xfrm>
          <a:prstGeom prst="rect">
            <a:avLst/>
          </a:prstGeom>
          <a:solidFill>
            <a:srgbClr val="232A3A"/>
          </a:solidFill>
          <a:ln w="12700">
            <a:miter lim="400000"/>
          </a:ln>
        </p:spPr>
        <p:txBody>
          <a:bodyPr lIns="45719" rIns="45719"/>
          <a:lstStyle/>
          <a:p>
            <a:pPr/>
          </a:p>
        </p:txBody>
      </p:sp>
      <p:sp>
        <p:nvSpPr>
          <p:cNvPr id="494" name="Text 39"/>
          <p:cNvSpPr txBox="1"/>
          <p:nvPr/>
        </p:nvSpPr>
        <p:spPr>
          <a:xfrm>
            <a:off x="12798772" y="5775126"/>
            <a:ext cx="4496560"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1000">
                <a:solidFill>
                  <a:srgbClr val="8A93A6"/>
                </a:solidFill>
                <a:latin typeface="Arial"/>
                <a:ea typeface="Arial"/>
                <a:cs typeface="Arial"/>
                <a:sym typeface="Arial"/>
              </a:defRPr>
            </a:lvl1pPr>
          </a:lstStyle>
          <a:p>
            <a:pPr/>
            <a:r>
              <a:t>PANEL 7 · BUSIEST AUDIT DAY · ATTACK DAY = 3/4</a:t>
            </a:r>
          </a:p>
        </p:txBody>
      </p:sp>
      <p:sp>
        <p:nvSpPr>
          <p:cNvPr id="495" name="Shape 40"/>
          <p:cNvSpPr/>
          <p:nvPr/>
        </p:nvSpPr>
        <p:spPr>
          <a:xfrm>
            <a:off x="7728645" y="6531768"/>
            <a:ext cx="4717704" cy="2223642"/>
          </a:xfrm>
          <a:prstGeom prst="roundRect">
            <a:avLst>
              <a:gd name="adj" fmla="val 2570"/>
            </a:avLst>
          </a:prstGeom>
          <a:solidFill>
            <a:srgbClr val="141923"/>
          </a:solidFill>
          <a:ln>
            <a:solidFill>
              <a:srgbClr val="232A3A"/>
            </a:solidFill>
          </a:ln>
        </p:spPr>
        <p:txBody>
          <a:bodyPr lIns="45719" rIns="45719"/>
          <a:lstStyle/>
          <a:p>
            <a:pPr/>
          </a:p>
        </p:txBody>
      </p:sp>
      <p:sp>
        <p:nvSpPr>
          <p:cNvPr id="496" name="Shape 41"/>
          <p:cNvSpPr/>
          <p:nvPr/>
        </p:nvSpPr>
        <p:spPr>
          <a:xfrm>
            <a:off x="7738170" y="6541293"/>
            <a:ext cx="4698654" cy="1485901"/>
          </a:xfrm>
          <a:prstGeom prst="rect">
            <a:avLst/>
          </a:prstGeom>
          <a:solidFill>
            <a:srgbClr val="000000"/>
          </a:solidFill>
          <a:ln w="12700">
            <a:miter lim="400000"/>
          </a:ln>
        </p:spPr>
        <p:txBody>
          <a:bodyPr lIns="45719" rIns="45719"/>
          <a:lstStyle/>
          <a:p>
            <a:pPr/>
          </a:p>
        </p:txBody>
      </p:sp>
      <p:pic>
        <p:nvPicPr>
          <p:cNvPr id="497" name="Image 3" descr="Image 3"/>
          <p:cNvPicPr>
            <a:picLocks noChangeAspect="1"/>
          </p:cNvPicPr>
          <p:nvPr/>
        </p:nvPicPr>
        <p:blipFill>
          <a:blip r:embed="rId6">
            <a:extLst/>
          </a:blip>
          <a:stretch>
            <a:fillRect/>
          </a:stretch>
        </p:blipFill>
        <p:spPr>
          <a:xfrm>
            <a:off x="7738170" y="6541293"/>
            <a:ext cx="4698654" cy="1485901"/>
          </a:xfrm>
          <a:prstGeom prst="rect">
            <a:avLst/>
          </a:prstGeom>
          <a:ln w="12700">
            <a:miter lim="400000"/>
          </a:ln>
        </p:spPr>
      </p:pic>
      <p:sp>
        <p:nvSpPr>
          <p:cNvPr id="498" name="Shape 42"/>
          <p:cNvSpPr/>
          <p:nvPr/>
        </p:nvSpPr>
        <p:spPr>
          <a:xfrm>
            <a:off x="7738170" y="8027193"/>
            <a:ext cx="4698654" cy="428626"/>
          </a:xfrm>
          <a:prstGeom prst="rect">
            <a:avLst/>
          </a:prstGeom>
          <a:solidFill>
            <a:srgbClr val="0F131A"/>
          </a:solidFill>
          <a:ln w="12700">
            <a:miter lim="400000"/>
          </a:ln>
        </p:spPr>
        <p:txBody>
          <a:bodyPr lIns="45719" rIns="45719"/>
          <a:lstStyle/>
          <a:p>
            <a:pPr/>
          </a:p>
        </p:txBody>
      </p:sp>
      <p:sp>
        <p:nvSpPr>
          <p:cNvPr id="499" name="Shape 43"/>
          <p:cNvSpPr/>
          <p:nvPr/>
        </p:nvSpPr>
        <p:spPr>
          <a:xfrm>
            <a:off x="7738170" y="8025606"/>
            <a:ext cx="4698654" cy="12701"/>
          </a:xfrm>
          <a:prstGeom prst="rect">
            <a:avLst/>
          </a:prstGeom>
          <a:solidFill>
            <a:srgbClr val="232A3A"/>
          </a:solidFill>
          <a:ln w="12700">
            <a:miter lim="400000"/>
          </a:ln>
        </p:spPr>
        <p:txBody>
          <a:bodyPr lIns="45719" rIns="45719"/>
          <a:lstStyle/>
          <a:p>
            <a:pPr/>
          </a:p>
        </p:txBody>
      </p:sp>
      <p:sp>
        <p:nvSpPr>
          <p:cNvPr id="500" name="Text 44"/>
          <p:cNvSpPr txBox="1"/>
          <p:nvPr/>
        </p:nvSpPr>
        <p:spPr>
          <a:xfrm>
            <a:off x="7909620" y="8170068"/>
            <a:ext cx="4496713"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1000">
                <a:solidFill>
                  <a:srgbClr val="8A93A6"/>
                </a:solidFill>
                <a:latin typeface="Arial"/>
                <a:ea typeface="Arial"/>
                <a:cs typeface="Arial"/>
                <a:sym typeface="Arial"/>
              </a:defRPr>
            </a:lvl1pPr>
          </a:lstStyle>
          <a:p>
            <a:pPr/>
            <a:r>
              <a:t>FILTER DEMO · HOST CLEARED · KPIS UPDATE LIVE</a:t>
            </a:r>
          </a:p>
        </p:txBody>
      </p:sp>
      <p:sp>
        <p:nvSpPr>
          <p:cNvPr id="501" name="Shape 45"/>
          <p:cNvSpPr/>
          <p:nvPr/>
        </p:nvSpPr>
        <p:spPr>
          <a:xfrm>
            <a:off x="12617797" y="6531768"/>
            <a:ext cx="4717555" cy="2223642"/>
          </a:xfrm>
          <a:prstGeom prst="roundRect">
            <a:avLst>
              <a:gd name="adj" fmla="val 2570"/>
            </a:avLst>
          </a:prstGeom>
          <a:solidFill>
            <a:srgbClr val="141923"/>
          </a:solidFill>
          <a:ln>
            <a:solidFill>
              <a:srgbClr val="232A3A"/>
            </a:solidFill>
          </a:ln>
        </p:spPr>
        <p:txBody>
          <a:bodyPr lIns="45719" rIns="45719"/>
          <a:lstStyle/>
          <a:p>
            <a:pPr/>
          </a:p>
        </p:txBody>
      </p:sp>
      <p:sp>
        <p:nvSpPr>
          <p:cNvPr id="502" name="Shape 46"/>
          <p:cNvSpPr/>
          <p:nvPr/>
        </p:nvSpPr>
        <p:spPr>
          <a:xfrm>
            <a:off x="12627322" y="6541293"/>
            <a:ext cx="4698505" cy="1485901"/>
          </a:xfrm>
          <a:prstGeom prst="rect">
            <a:avLst/>
          </a:prstGeom>
          <a:solidFill>
            <a:srgbClr val="000000"/>
          </a:solidFill>
          <a:ln w="12700">
            <a:miter lim="400000"/>
          </a:ln>
        </p:spPr>
        <p:txBody>
          <a:bodyPr lIns="45719" rIns="45719"/>
          <a:lstStyle/>
          <a:p>
            <a:pPr/>
          </a:p>
        </p:txBody>
      </p:sp>
      <p:pic>
        <p:nvPicPr>
          <p:cNvPr id="503" name="Image 4" descr="Image 4"/>
          <p:cNvPicPr>
            <a:picLocks noChangeAspect="1"/>
          </p:cNvPicPr>
          <p:nvPr/>
        </p:nvPicPr>
        <p:blipFill>
          <a:blip r:embed="rId7">
            <a:extLst/>
          </a:blip>
          <a:stretch>
            <a:fillRect/>
          </a:stretch>
        </p:blipFill>
        <p:spPr>
          <a:xfrm>
            <a:off x="12627322" y="6541293"/>
            <a:ext cx="4698505" cy="1485901"/>
          </a:xfrm>
          <a:prstGeom prst="rect">
            <a:avLst/>
          </a:prstGeom>
          <a:ln w="12700">
            <a:miter lim="400000"/>
          </a:ln>
        </p:spPr>
      </p:pic>
      <p:sp>
        <p:nvSpPr>
          <p:cNvPr id="504" name="Shape 47"/>
          <p:cNvSpPr/>
          <p:nvPr/>
        </p:nvSpPr>
        <p:spPr>
          <a:xfrm>
            <a:off x="12627322" y="8027193"/>
            <a:ext cx="4698505" cy="581026"/>
          </a:xfrm>
          <a:prstGeom prst="rect">
            <a:avLst/>
          </a:prstGeom>
          <a:solidFill>
            <a:srgbClr val="0F131A"/>
          </a:solidFill>
          <a:ln w="12700">
            <a:miter lim="400000"/>
          </a:ln>
        </p:spPr>
        <p:txBody>
          <a:bodyPr lIns="45719" rIns="45719"/>
          <a:lstStyle/>
          <a:p>
            <a:pPr/>
          </a:p>
        </p:txBody>
      </p:sp>
      <p:sp>
        <p:nvSpPr>
          <p:cNvPr id="505" name="Shape 48"/>
          <p:cNvSpPr/>
          <p:nvPr/>
        </p:nvSpPr>
        <p:spPr>
          <a:xfrm>
            <a:off x="12627322" y="8025606"/>
            <a:ext cx="4698505" cy="12701"/>
          </a:xfrm>
          <a:prstGeom prst="rect">
            <a:avLst/>
          </a:prstGeom>
          <a:solidFill>
            <a:srgbClr val="232A3A"/>
          </a:solidFill>
          <a:ln w="12700">
            <a:miter lim="400000"/>
          </a:ln>
        </p:spPr>
        <p:txBody>
          <a:bodyPr lIns="45719" rIns="45719"/>
          <a:lstStyle/>
          <a:p>
            <a:pPr/>
          </a:p>
        </p:txBody>
      </p:sp>
      <p:sp>
        <p:nvSpPr>
          <p:cNvPr id="506" name="Text 49"/>
          <p:cNvSpPr txBox="1"/>
          <p:nvPr/>
        </p:nvSpPr>
        <p:spPr>
          <a:xfrm>
            <a:off x="12798772" y="8170068"/>
            <a:ext cx="4496560" cy="3429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1000">
                <a:solidFill>
                  <a:srgbClr val="8A93A6"/>
                </a:solidFill>
                <a:latin typeface="Arial"/>
                <a:ea typeface="Arial"/>
                <a:cs typeface="Arial"/>
                <a:sym typeface="Arial"/>
              </a:defRPr>
            </a:lvl1pPr>
          </a:lstStyle>
          <a:p>
            <a:pPr/>
            <a:r>
              <a:t>PANEL 8 · INDEX IMPROVEMENT · EXPLAIN SUMMARY</a:t>
            </a:r>
          </a:p>
        </p:txBody>
      </p:sp>
      <p:sp>
        <p:nvSpPr>
          <p:cNvPr id="507" name="Shape 50"/>
          <p:cNvSpPr/>
          <p:nvPr/>
        </p:nvSpPr>
        <p:spPr>
          <a:xfrm>
            <a:off x="952500" y="8926859"/>
            <a:ext cx="16383000" cy="674341"/>
          </a:xfrm>
          <a:prstGeom prst="rect">
            <a:avLst/>
          </a:prstGeom>
          <a:solidFill>
            <a:srgbClr val="FF5A4E">
              <a:alpha val="6000"/>
            </a:srgbClr>
          </a:solidFill>
          <a:ln w="12700">
            <a:miter lim="400000"/>
          </a:ln>
        </p:spPr>
        <p:txBody>
          <a:bodyPr lIns="45719" rIns="45719"/>
          <a:lstStyle/>
          <a:p>
            <a:pPr/>
          </a:p>
        </p:txBody>
      </p:sp>
      <p:sp>
        <p:nvSpPr>
          <p:cNvPr id="508" name="Shape 51"/>
          <p:cNvSpPr/>
          <p:nvPr/>
        </p:nvSpPr>
        <p:spPr>
          <a:xfrm>
            <a:off x="952500" y="8926859"/>
            <a:ext cx="28575" cy="674341"/>
          </a:xfrm>
          <a:prstGeom prst="rect">
            <a:avLst/>
          </a:prstGeom>
          <a:solidFill>
            <a:srgbClr val="FF5A4E"/>
          </a:solidFill>
          <a:ln w="12700">
            <a:miter lim="400000"/>
          </a:ln>
        </p:spPr>
        <p:txBody>
          <a:bodyPr lIns="45719" rIns="45719"/>
          <a:lstStyle/>
          <a:p>
            <a:pPr/>
          </a:p>
        </p:txBody>
      </p:sp>
      <p:sp>
        <p:nvSpPr>
          <p:cNvPr id="509" name="Text 52"/>
          <p:cNvSpPr txBox="1"/>
          <p:nvPr/>
        </p:nvSpPr>
        <p:spPr>
          <a:xfrm>
            <a:off x="1209674" y="9098309"/>
            <a:ext cx="16388716" cy="3695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lnSpc>
                <a:spcPct val="145000"/>
              </a:lnSpc>
              <a:defRPr i="1">
                <a:solidFill>
                  <a:srgbClr val="E8ECF4"/>
                </a:solidFill>
                <a:latin typeface="Arial"/>
                <a:ea typeface="Arial"/>
                <a:cs typeface="Arial"/>
                <a:sym typeface="Arial"/>
              </a:defRPr>
            </a:pPr>
            <a:r>
              <a:t>Attack day on </a:t>
            </a:r>
            <a:r>
              <a:rPr sz="1600"/>
              <a:t>intranet_server </a:t>
            </a:r>
            <a:r>
              <a:t>ranks 3 of 4 days by raw audit volume. </a:t>
            </a:r>
            <a:r>
              <a:rPr>
                <a:solidFill>
                  <a:srgbClr val="FF5A4E"/>
                </a:solidFill>
              </a:rPr>
              <a:t>Volume-only detection misses it</a:t>
            </a:r>
            <a:r>
              <a:t>; the dashboard surfaces the chain anyway.</a:t>
            </a:r>
          </a:p>
        </p:txBody>
      </p:sp>
      <p:sp>
        <p:nvSpPr>
          <p:cNvPr id="510" name="Shape 53"/>
          <p:cNvSpPr/>
          <p:nvPr/>
        </p:nvSpPr>
        <p:spPr>
          <a:xfrm>
            <a:off x="952500" y="9647237"/>
            <a:ext cx="16383000" cy="12701"/>
          </a:xfrm>
          <a:prstGeom prst="rect">
            <a:avLst/>
          </a:prstGeom>
          <a:solidFill>
            <a:srgbClr val="232A3A"/>
          </a:solidFill>
          <a:ln w="12700">
            <a:miter lim="400000"/>
          </a:ln>
        </p:spPr>
        <p:txBody>
          <a:bodyPr lIns="45719" rIns="45719"/>
          <a:lstStyle/>
          <a:p>
            <a:pPr/>
          </a:p>
        </p:txBody>
      </p:sp>
      <p:sp>
        <p:nvSpPr>
          <p:cNvPr id="511" name="Text 54"/>
          <p:cNvSpPr txBox="1"/>
          <p:nvPr/>
        </p:nvSpPr>
        <p:spPr>
          <a:xfrm>
            <a:off x="952499" y="9810750"/>
            <a:ext cx="2411315" cy="20955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defRPr spc="96" sz="1152">
                <a:solidFill>
                  <a:srgbClr val="8A93A6"/>
                </a:solidFill>
                <a:latin typeface="Arial"/>
                <a:ea typeface="Arial"/>
                <a:cs typeface="Arial"/>
                <a:sym typeface="Arial"/>
              </a:defRPr>
            </a:lvl1pPr>
          </a:lstStyle>
          <a:p>
            <a:pPr/>
            <a:r>
              <a:t>10 / 11 · ISHAAN · 1:30</a:t>
            </a:r>
          </a:p>
        </p:txBody>
      </p:sp>
      <p:sp>
        <p:nvSpPr>
          <p:cNvPr id="512" name="Text 55"/>
          <p:cNvSpPr txBox="1"/>
          <p:nvPr/>
        </p:nvSpPr>
        <p:spPr>
          <a:xfrm>
            <a:off x="14871948" y="9810750"/>
            <a:ext cx="2539753" cy="20955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defRPr spc="96" sz="1152">
                <a:solidFill>
                  <a:srgbClr val="8A93A6"/>
                </a:solidFill>
                <a:latin typeface="Arial"/>
                <a:ea typeface="Arial"/>
                <a:cs typeface="Arial"/>
                <a:sym typeface="Arial"/>
              </a:defRPr>
            </a:lvl1pPr>
          </a:lstStyle>
          <a:p>
            <a:pPr/>
            <a:r>
              <a:t>INTERACTIVE DASHBOARD</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B0D12"/>
        </a:solidFill>
      </p:bgPr>
    </p:bg>
    <p:spTree>
      <p:nvGrpSpPr>
        <p:cNvPr id="1" name=""/>
        <p:cNvGrpSpPr/>
        <p:nvPr/>
      </p:nvGrpSpPr>
      <p:grpSpPr>
        <a:xfrm>
          <a:off x="0" y="0"/>
          <a:ext cx="0" cy="0"/>
          <a:chOff x="0" y="0"/>
          <a:chExt cx="0" cy="0"/>
        </a:xfrm>
      </p:grpSpPr>
      <p:sp>
        <p:nvSpPr>
          <p:cNvPr id="516" name="Shape 0"/>
          <p:cNvSpPr/>
          <p:nvPr/>
        </p:nvSpPr>
        <p:spPr>
          <a:xfrm>
            <a:off x="952500" y="1055687"/>
            <a:ext cx="16383000" cy="12701"/>
          </a:xfrm>
          <a:prstGeom prst="rect">
            <a:avLst/>
          </a:prstGeom>
          <a:solidFill>
            <a:srgbClr val="232A3A"/>
          </a:solidFill>
          <a:ln w="12700">
            <a:miter lim="400000"/>
          </a:ln>
        </p:spPr>
        <p:txBody>
          <a:bodyPr lIns="45719" rIns="45719"/>
          <a:lstStyle/>
          <a:p>
            <a:pPr/>
          </a:p>
        </p:txBody>
      </p:sp>
      <p:sp>
        <p:nvSpPr>
          <p:cNvPr id="517" name="Text 1"/>
          <p:cNvSpPr txBox="1"/>
          <p:nvPr/>
        </p:nvSpPr>
        <p:spPr>
          <a:xfrm>
            <a:off x="952500" y="609600"/>
            <a:ext cx="2846804" cy="25717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defRPr b="1" spc="200" sz="1300">
                <a:solidFill>
                  <a:srgbClr val="FF5A4E"/>
                </a:solidFill>
                <a:latin typeface="Arial"/>
                <a:ea typeface="Arial"/>
                <a:cs typeface="Arial"/>
                <a:sym typeface="Arial"/>
              </a:defRPr>
            </a:pPr>
            <a:r>
              <a:t>06 </a:t>
            </a:r>
            <a:r>
              <a:rPr b="0">
                <a:solidFill>
                  <a:srgbClr val="C3CAD8"/>
                </a:solidFill>
              </a:rPr>
              <a:t>/ FINDINGS &amp; CLOSE</a:t>
            </a:r>
          </a:p>
        </p:txBody>
      </p:sp>
      <p:sp>
        <p:nvSpPr>
          <p:cNvPr id="518" name="Text 2"/>
          <p:cNvSpPr txBox="1"/>
          <p:nvPr/>
        </p:nvSpPr>
        <p:spPr>
          <a:xfrm>
            <a:off x="15342691" y="628650"/>
            <a:ext cx="2069010" cy="23812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200" sz="1300">
                <a:solidFill>
                  <a:srgbClr val="8A93A6"/>
                </a:solidFill>
                <a:latin typeface="Arial"/>
                <a:ea typeface="Arial"/>
                <a:cs typeface="Arial"/>
                <a:sym typeface="Arial"/>
              </a:defRPr>
            </a:lvl1pPr>
          </a:lstStyle>
          <a:p>
            <a:pPr/>
            <a:r>
              <a:t>SECTION 11 OF 11</a:t>
            </a:r>
          </a:p>
        </p:txBody>
      </p:sp>
      <p:sp>
        <p:nvSpPr>
          <p:cNvPr id="519" name="Text 3"/>
          <p:cNvSpPr txBox="1"/>
          <p:nvPr/>
        </p:nvSpPr>
        <p:spPr>
          <a:xfrm>
            <a:off x="952500" y="1600200"/>
            <a:ext cx="16874490" cy="61406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108000"/>
              </a:lnSpc>
              <a:defRPr spc="-95" sz="3989">
                <a:solidFill>
                  <a:srgbClr val="E8ECF4"/>
                </a:solidFill>
                <a:latin typeface="Arial"/>
                <a:ea typeface="Arial"/>
                <a:cs typeface="Arial"/>
                <a:sym typeface="Arial"/>
              </a:defRPr>
            </a:lvl1pPr>
          </a:lstStyle>
          <a:p>
            <a:pPr/>
            <a:r>
              <a:t>Three findings the schema lets us defend.</a:t>
            </a:r>
          </a:p>
        </p:txBody>
      </p:sp>
      <p:sp>
        <p:nvSpPr>
          <p:cNvPr id="520" name="Shape 4"/>
          <p:cNvSpPr/>
          <p:nvPr/>
        </p:nvSpPr>
        <p:spPr>
          <a:xfrm>
            <a:off x="952500" y="2442865"/>
            <a:ext cx="5283102" cy="2252664"/>
          </a:xfrm>
          <a:prstGeom prst="roundRect">
            <a:avLst>
              <a:gd name="adj" fmla="val 2537"/>
            </a:avLst>
          </a:prstGeom>
          <a:solidFill>
            <a:srgbClr val="141923"/>
          </a:solidFill>
          <a:ln w="12700">
            <a:miter lim="400000"/>
          </a:ln>
        </p:spPr>
        <p:txBody>
          <a:bodyPr lIns="45719" rIns="45719"/>
          <a:lstStyle/>
          <a:p>
            <a:pPr/>
          </a:p>
        </p:txBody>
      </p:sp>
      <p:sp>
        <p:nvSpPr>
          <p:cNvPr id="521" name="Shape 5"/>
          <p:cNvSpPr/>
          <p:nvPr/>
        </p:nvSpPr>
        <p:spPr>
          <a:xfrm>
            <a:off x="952499" y="4684414"/>
            <a:ext cx="5283103" cy="12701"/>
          </a:xfrm>
          <a:prstGeom prst="rect">
            <a:avLst/>
          </a:prstGeom>
          <a:solidFill>
            <a:srgbClr val="232A3A"/>
          </a:solidFill>
          <a:ln w="12700">
            <a:miter lim="400000"/>
          </a:ln>
        </p:spPr>
        <p:txBody>
          <a:bodyPr lIns="45719" rIns="45719"/>
          <a:lstStyle/>
          <a:p>
            <a:pPr/>
          </a:p>
        </p:txBody>
      </p:sp>
      <p:sp>
        <p:nvSpPr>
          <p:cNvPr id="522" name="Shape 6"/>
          <p:cNvSpPr/>
          <p:nvPr/>
        </p:nvSpPr>
        <p:spPr>
          <a:xfrm>
            <a:off x="952499" y="2442865"/>
            <a:ext cx="5283103" cy="28576"/>
          </a:xfrm>
          <a:prstGeom prst="rect">
            <a:avLst/>
          </a:prstGeom>
          <a:solidFill>
            <a:srgbClr val="FF5A4E"/>
          </a:solidFill>
          <a:ln w="12700">
            <a:miter lim="400000"/>
          </a:ln>
        </p:spPr>
        <p:txBody>
          <a:bodyPr lIns="45719" rIns="45719"/>
          <a:lstStyle/>
          <a:p>
            <a:pPr/>
          </a:p>
        </p:txBody>
      </p:sp>
      <p:sp>
        <p:nvSpPr>
          <p:cNvPr id="523" name="Shape 7"/>
          <p:cNvSpPr/>
          <p:nvPr/>
        </p:nvSpPr>
        <p:spPr>
          <a:xfrm>
            <a:off x="950912" y="2442864"/>
            <a:ext cx="12701" cy="2252665"/>
          </a:xfrm>
          <a:prstGeom prst="rect">
            <a:avLst/>
          </a:prstGeom>
          <a:solidFill>
            <a:srgbClr val="232A3A"/>
          </a:solidFill>
          <a:ln w="12700">
            <a:miter lim="400000"/>
          </a:ln>
        </p:spPr>
        <p:txBody>
          <a:bodyPr lIns="45719" rIns="45719"/>
          <a:lstStyle/>
          <a:p>
            <a:pPr/>
          </a:p>
        </p:txBody>
      </p:sp>
      <p:sp>
        <p:nvSpPr>
          <p:cNvPr id="524" name="Shape 8"/>
          <p:cNvSpPr/>
          <p:nvPr/>
        </p:nvSpPr>
        <p:spPr>
          <a:xfrm>
            <a:off x="6224488" y="2442864"/>
            <a:ext cx="12701" cy="2252665"/>
          </a:xfrm>
          <a:prstGeom prst="rect">
            <a:avLst/>
          </a:prstGeom>
          <a:solidFill>
            <a:srgbClr val="232A3A"/>
          </a:solidFill>
          <a:ln w="12700">
            <a:miter lim="400000"/>
          </a:ln>
        </p:spPr>
        <p:txBody>
          <a:bodyPr lIns="45719" rIns="45719"/>
          <a:lstStyle/>
          <a:p>
            <a:pPr/>
          </a:p>
        </p:txBody>
      </p:sp>
      <p:sp>
        <p:nvSpPr>
          <p:cNvPr id="525" name="Text 9"/>
          <p:cNvSpPr txBox="1"/>
          <p:nvPr/>
        </p:nvSpPr>
        <p:spPr>
          <a:xfrm>
            <a:off x="1228724" y="2700040"/>
            <a:ext cx="4872572" cy="23812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200" sz="1300">
                <a:solidFill>
                  <a:srgbClr val="FF5A4E"/>
                </a:solidFill>
                <a:latin typeface="Arial"/>
                <a:ea typeface="Arial"/>
                <a:cs typeface="Arial"/>
                <a:sym typeface="Arial"/>
              </a:defRPr>
            </a:lvl1pPr>
          </a:lstStyle>
          <a:p>
            <a:pPr/>
            <a:r>
              <a:t>01</a:t>
            </a:r>
          </a:p>
        </p:txBody>
      </p:sp>
      <p:sp>
        <p:nvSpPr>
          <p:cNvPr id="526" name="Text 10"/>
          <p:cNvSpPr txBox="1"/>
          <p:nvPr/>
        </p:nvSpPr>
        <p:spPr>
          <a:xfrm>
            <a:off x="1228724" y="3033415"/>
            <a:ext cx="4872572" cy="39767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96111">
              <a:lnSpc>
                <a:spcPct val="117999"/>
              </a:lnSpc>
              <a:defRPr sz="2352">
                <a:solidFill>
                  <a:srgbClr val="E8ECF4"/>
                </a:solidFill>
                <a:latin typeface="Arial"/>
                <a:ea typeface="Arial"/>
                <a:cs typeface="Arial"/>
                <a:sym typeface="Arial"/>
              </a:defRPr>
            </a:lvl1pPr>
          </a:lstStyle>
          <a:p>
            <a:pPr/>
            <a:r>
              <a:t>Volume is not coverage.</a:t>
            </a:r>
          </a:p>
        </p:txBody>
      </p:sp>
      <p:sp>
        <p:nvSpPr>
          <p:cNvPr id="527" name="Text 11"/>
          <p:cNvSpPr txBox="1"/>
          <p:nvPr/>
        </p:nvSpPr>
        <p:spPr>
          <a:xfrm>
            <a:off x="1228724" y="3526333"/>
            <a:ext cx="4872572" cy="6096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905255">
              <a:lnSpc>
                <a:spcPct val="150000"/>
              </a:lnSpc>
              <a:defRPr sz="1485">
                <a:solidFill>
                  <a:srgbClr val="8A93A6"/>
                </a:solidFill>
                <a:latin typeface="-apple-system"/>
                <a:ea typeface="-apple-system"/>
                <a:cs typeface="-apple-system"/>
                <a:sym typeface="-apple-system"/>
              </a:defRPr>
            </a:lvl1pPr>
          </a:lstStyle>
          <a:p>
            <a:pPr/>
            <a:r>
              <a:t>Privilege escalation has only 9 audit events, yet it is the most consequential phase of the attack.</a:t>
            </a:r>
          </a:p>
        </p:txBody>
      </p:sp>
      <p:sp>
        <p:nvSpPr>
          <p:cNvPr id="528" name="Shape 12"/>
          <p:cNvSpPr/>
          <p:nvPr/>
        </p:nvSpPr>
        <p:spPr>
          <a:xfrm>
            <a:off x="6502301" y="2442865"/>
            <a:ext cx="5283251" cy="2252664"/>
          </a:xfrm>
          <a:prstGeom prst="roundRect">
            <a:avLst>
              <a:gd name="adj" fmla="val 2537"/>
            </a:avLst>
          </a:prstGeom>
          <a:solidFill>
            <a:srgbClr val="141923"/>
          </a:solidFill>
          <a:ln w="12700">
            <a:miter lim="400000"/>
          </a:ln>
        </p:spPr>
        <p:txBody>
          <a:bodyPr lIns="45719" rIns="45719"/>
          <a:lstStyle/>
          <a:p>
            <a:pPr/>
          </a:p>
        </p:txBody>
      </p:sp>
      <p:sp>
        <p:nvSpPr>
          <p:cNvPr id="529" name="Shape 13"/>
          <p:cNvSpPr/>
          <p:nvPr/>
        </p:nvSpPr>
        <p:spPr>
          <a:xfrm>
            <a:off x="6502301" y="4684414"/>
            <a:ext cx="5283251" cy="12701"/>
          </a:xfrm>
          <a:prstGeom prst="rect">
            <a:avLst/>
          </a:prstGeom>
          <a:solidFill>
            <a:srgbClr val="232A3A"/>
          </a:solidFill>
          <a:ln w="12700">
            <a:miter lim="400000"/>
          </a:ln>
        </p:spPr>
        <p:txBody>
          <a:bodyPr lIns="45719" rIns="45719"/>
          <a:lstStyle/>
          <a:p>
            <a:pPr/>
          </a:p>
        </p:txBody>
      </p:sp>
      <p:sp>
        <p:nvSpPr>
          <p:cNvPr id="530" name="Shape 14"/>
          <p:cNvSpPr/>
          <p:nvPr/>
        </p:nvSpPr>
        <p:spPr>
          <a:xfrm>
            <a:off x="6502301" y="2442865"/>
            <a:ext cx="5283251" cy="28576"/>
          </a:xfrm>
          <a:prstGeom prst="rect">
            <a:avLst/>
          </a:prstGeom>
          <a:solidFill>
            <a:srgbClr val="FF5A4E"/>
          </a:solidFill>
          <a:ln w="12700">
            <a:miter lim="400000"/>
          </a:ln>
        </p:spPr>
        <p:txBody>
          <a:bodyPr lIns="45719" rIns="45719"/>
          <a:lstStyle/>
          <a:p>
            <a:pPr/>
          </a:p>
        </p:txBody>
      </p:sp>
      <p:sp>
        <p:nvSpPr>
          <p:cNvPr id="531" name="Shape 15"/>
          <p:cNvSpPr/>
          <p:nvPr/>
        </p:nvSpPr>
        <p:spPr>
          <a:xfrm>
            <a:off x="6500713" y="2442864"/>
            <a:ext cx="12701" cy="2252665"/>
          </a:xfrm>
          <a:prstGeom prst="rect">
            <a:avLst/>
          </a:prstGeom>
          <a:solidFill>
            <a:srgbClr val="232A3A"/>
          </a:solidFill>
          <a:ln w="12700">
            <a:miter lim="400000"/>
          </a:ln>
        </p:spPr>
        <p:txBody>
          <a:bodyPr lIns="45719" rIns="45719"/>
          <a:lstStyle/>
          <a:p>
            <a:pPr/>
          </a:p>
        </p:txBody>
      </p:sp>
      <p:sp>
        <p:nvSpPr>
          <p:cNvPr id="532" name="Shape 16"/>
          <p:cNvSpPr/>
          <p:nvPr/>
        </p:nvSpPr>
        <p:spPr>
          <a:xfrm>
            <a:off x="11774437" y="2442864"/>
            <a:ext cx="12701" cy="2252665"/>
          </a:xfrm>
          <a:prstGeom prst="rect">
            <a:avLst/>
          </a:prstGeom>
          <a:solidFill>
            <a:srgbClr val="232A3A"/>
          </a:solidFill>
          <a:ln w="12700">
            <a:miter lim="400000"/>
          </a:ln>
        </p:spPr>
        <p:txBody>
          <a:bodyPr lIns="45719" rIns="45719"/>
          <a:lstStyle/>
          <a:p>
            <a:pPr/>
          </a:p>
        </p:txBody>
      </p:sp>
      <p:sp>
        <p:nvSpPr>
          <p:cNvPr id="533" name="Text 17"/>
          <p:cNvSpPr txBox="1"/>
          <p:nvPr/>
        </p:nvSpPr>
        <p:spPr>
          <a:xfrm>
            <a:off x="6778525" y="2700040"/>
            <a:ext cx="4872725" cy="23812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200" sz="1300">
                <a:solidFill>
                  <a:srgbClr val="FF5A4E"/>
                </a:solidFill>
                <a:latin typeface="Arial"/>
                <a:ea typeface="Arial"/>
                <a:cs typeface="Arial"/>
                <a:sym typeface="Arial"/>
              </a:defRPr>
            </a:lvl1pPr>
          </a:lstStyle>
          <a:p>
            <a:pPr/>
            <a:r>
              <a:t>02</a:t>
            </a:r>
          </a:p>
        </p:txBody>
      </p:sp>
      <p:sp>
        <p:nvSpPr>
          <p:cNvPr id="534" name="Text 18"/>
          <p:cNvSpPr txBox="1"/>
          <p:nvPr/>
        </p:nvSpPr>
        <p:spPr>
          <a:xfrm>
            <a:off x="6778525" y="3033415"/>
            <a:ext cx="4872725" cy="757239"/>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59536">
              <a:lnSpc>
                <a:spcPct val="117999"/>
              </a:lnSpc>
              <a:defRPr sz="2256">
                <a:solidFill>
                  <a:srgbClr val="E8ECF4"/>
                </a:solidFill>
                <a:latin typeface="Arial"/>
                <a:ea typeface="Arial"/>
                <a:cs typeface="Arial"/>
                <a:sym typeface="Arial"/>
              </a:defRPr>
            </a:lvl1pPr>
          </a:lstStyle>
          <a:p>
            <a:pPr/>
            <a:r>
              <a:t>Volume-only detection misses the attack.</a:t>
            </a:r>
          </a:p>
        </p:txBody>
      </p:sp>
      <p:sp>
        <p:nvSpPr>
          <p:cNvPr id="535" name="Text 19"/>
          <p:cNvSpPr txBox="1"/>
          <p:nvPr/>
        </p:nvSpPr>
        <p:spPr>
          <a:xfrm>
            <a:off x="6778525" y="3885901"/>
            <a:ext cx="4872725" cy="6096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defTabSz="905255">
              <a:lnSpc>
                <a:spcPct val="150000"/>
              </a:lnSpc>
              <a:defRPr sz="1485">
                <a:solidFill>
                  <a:srgbClr val="8A93A6"/>
                </a:solidFill>
                <a:latin typeface="-apple-system"/>
                <a:ea typeface="-apple-system"/>
                <a:cs typeface="-apple-system"/>
                <a:sym typeface="-apple-system"/>
              </a:defRPr>
            </a:pPr>
            <a:r>
              <a:t>Attack day ranks 3 of 4 by raw audit volume on </a:t>
            </a:r>
            <a:r>
              <a:rPr sz="1287">
                <a:solidFill>
                  <a:srgbClr val="E8ECF4"/>
                </a:solidFill>
                <a:latin typeface="Arial"/>
                <a:ea typeface="Arial"/>
                <a:cs typeface="Arial"/>
                <a:sym typeface="Arial"/>
              </a:rPr>
              <a:t>intranet_server</a:t>
            </a:r>
            <a:r>
              <a:t>. The chain hides inside baseline noise.</a:t>
            </a:r>
          </a:p>
        </p:txBody>
      </p:sp>
      <p:sp>
        <p:nvSpPr>
          <p:cNvPr id="536" name="Shape 20"/>
          <p:cNvSpPr/>
          <p:nvPr/>
        </p:nvSpPr>
        <p:spPr>
          <a:xfrm>
            <a:off x="12052249" y="2442865"/>
            <a:ext cx="5283251" cy="2252664"/>
          </a:xfrm>
          <a:prstGeom prst="roundRect">
            <a:avLst>
              <a:gd name="adj" fmla="val 2537"/>
            </a:avLst>
          </a:prstGeom>
          <a:solidFill>
            <a:srgbClr val="141923"/>
          </a:solidFill>
          <a:ln w="12700">
            <a:miter lim="400000"/>
          </a:ln>
        </p:spPr>
        <p:txBody>
          <a:bodyPr lIns="45719" rIns="45719"/>
          <a:lstStyle/>
          <a:p>
            <a:pPr/>
          </a:p>
        </p:txBody>
      </p:sp>
      <p:sp>
        <p:nvSpPr>
          <p:cNvPr id="537" name="Shape 21"/>
          <p:cNvSpPr/>
          <p:nvPr/>
        </p:nvSpPr>
        <p:spPr>
          <a:xfrm>
            <a:off x="12052249" y="4684414"/>
            <a:ext cx="5283251" cy="12701"/>
          </a:xfrm>
          <a:prstGeom prst="rect">
            <a:avLst/>
          </a:prstGeom>
          <a:solidFill>
            <a:srgbClr val="232A3A"/>
          </a:solidFill>
          <a:ln w="12700">
            <a:miter lim="400000"/>
          </a:ln>
        </p:spPr>
        <p:txBody>
          <a:bodyPr lIns="45719" rIns="45719"/>
          <a:lstStyle/>
          <a:p>
            <a:pPr/>
          </a:p>
        </p:txBody>
      </p:sp>
      <p:sp>
        <p:nvSpPr>
          <p:cNvPr id="538" name="Shape 22"/>
          <p:cNvSpPr/>
          <p:nvPr/>
        </p:nvSpPr>
        <p:spPr>
          <a:xfrm>
            <a:off x="12052249" y="2442865"/>
            <a:ext cx="5283251" cy="28576"/>
          </a:xfrm>
          <a:prstGeom prst="rect">
            <a:avLst/>
          </a:prstGeom>
          <a:solidFill>
            <a:srgbClr val="FF5A4E"/>
          </a:solidFill>
          <a:ln w="12700">
            <a:miter lim="400000"/>
          </a:ln>
        </p:spPr>
        <p:txBody>
          <a:bodyPr lIns="45719" rIns="45719"/>
          <a:lstStyle/>
          <a:p>
            <a:pPr/>
          </a:p>
        </p:txBody>
      </p:sp>
      <p:sp>
        <p:nvSpPr>
          <p:cNvPr id="539" name="Shape 23"/>
          <p:cNvSpPr/>
          <p:nvPr/>
        </p:nvSpPr>
        <p:spPr>
          <a:xfrm>
            <a:off x="12050662" y="2442864"/>
            <a:ext cx="12701" cy="2252665"/>
          </a:xfrm>
          <a:prstGeom prst="rect">
            <a:avLst/>
          </a:prstGeom>
          <a:solidFill>
            <a:srgbClr val="232A3A"/>
          </a:solidFill>
          <a:ln w="12700">
            <a:miter lim="400000"/>
          </a:ln>
        </p:spPr>
        <p:txBody>
          <a:bodyPr lIns="45719" rIns="45719"/>
          <a:lstStyle/>
          <a:p>
            <a:pPr/>
          </a:p>
        </p:txBody>
      </p:sp>
      <p:sp>
        <p:nvSpPr>
          <p:cNvPr id="540" name="Shape 24"/>
          <p:cNvSpPr/>
          <p:nvPr/>
        </p:nvSpPr>
        <p:spPr>
          <a:xfrm>
            <a:off x="17324387" y="2442864"/>
            <a:ext cx="12701" cy="2252665"/>
          </a:xfrm>
          <a:prstGeom prst="rect">
            <a:avLst/>
          </a:prstGeom>
          <a:solidFill>
            <a:srgbClr val="232A3A"/>
          </a:solidFill>
          <a:ln w="12700">
            <a:miter lim="400000"/>
          </a:ln>
        </p:spPr>
        <p:txBody>
          <a:bodyPr lIns="45719" rIns="45719"/>
          <a:lstStyle/>
          <a:p>
            <a:pPr/>
          </a:p>
        </p:txBody>
      </p:sp>
      <p:sp>
        <p:nvSpPr>
          <p:cNvPr id="541" name="Text 25"/>
          <p:cNvSpPr txBox="1"/>
          <p:nvPr/>
        </p:nvSpPr>
        <p:spPr>
          <a:xfrm>
            <a:off x="12328474" y="2700040"/>
            <a:ext cx="4872725" cy="23812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200" sz="1300">
                <a:solidFill>
                  <a:srgbClr val="FF5A4E"/>
                </a:solidFill>
                <a:latin typeface="Arial"/>
                <a:ea typeface="Arial"/>
                <a:cs typeface="Arial"/>
                <a:sym typeface="Arial"/>
              </a:defRPr>
            </a:lvl1pPr>
          </a:lstStyle>
          <a:p>
            <a:pPr/>
            <a:r>
              <a:t>03</a:t>
            </a:r>
          </a:p>
        </p:txBody>
      </p:sp>
      <p:sp>
        <p:nvSpPr>
          <p:cNvPr id="542" name="Text 26"/>
          <p:cNvSpPr txBox="1"/>
          <p:nvPr/>
        </p:nvSpPr>
        <p:spPr>
          <a:xfrm>
            <a:off x="12328474" y="3033415"/>
            <a:ext cx="4872725" cy="757239"/>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59536">
              <a:lnSpc>
                <a:spcPct val="117999"/>
              </a:lnSpc>
              <a:defRPr sz="2256">
                <a:solidFill>
                  <a:srgbClr val="E8ECF4"/>
                </a:solidFill>
                <a:latin typeface="Arial"/>
                <a:ea typeface="Arial"/>
                <a:cs typeface="Arial"/>
                <a:sym typeface="Arial"/>
              </a:defRPr>
            </a:lvl1pPr>
          </a:lstStyle>
          <a:p>
            <a:pPr/>
            <a:r>
              <a:t>Relational design enables cross-source reconstruction.</a:t>
            </a:r>
          </a:p>
        </p:txBody>
      </p:sp>
      <p:sp>
        <p:nvSpPr>
          <p:cNvPr id="543" name="Text 27"/>
          <p:cNvSpPr txBox="1"/>
          <p:nvPr/>
        </p:nvSpPr>
        <p:spPr>
          <a:xfrm>
            <a:off x="12328474" y="3885901"/>
            <a:ext cx="4872725" cy="6096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905255">
              <a:lnSpc>
                <a:spcPct val="150000"/>
              </a:lnSpc>
              <a:defRPr sz="1485">
                <a:solidFill>
                  <a:srgbClr val="8A93A6"/>
                </a:solidFill>
                <a:latin typeface="-apple-system"/>
                <a:ea typeface="-apple-system"/>
                <a:cs typeface="-apple-system"/>
                <a:sym typeface="-apple-system"/>
              </a:defRPr>
            </a:lvl1pPr>
          </a:lstStyle>
          <a:p>
            <a:pPr/>
            <a:r>
              <a:t>Host inventory + audit events + labels + rules in one query is what made the 9-event chain readable.</a:t>
            </a:r>
          </a:p>
        </p:txBody>
      </p:sp>
      <p:sp>
        <p:nvSpPr>
          <p:cNvPr id="544" name="Text 28"/>
          <p:cNvSpPr txBox="1"/>
          <p:nvPr/>
        </p:nvSpPr>
        <p:spPr>
          <a:xfrm>
            <a:off x="952499" y="5000326"/>
            <a:ext cx="9315922" cy="20955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defRPr spc="192" sz="1152">
                <a:solidFill>
                  <a:srgbClr val="8A93A6"/>
                </a:solidFill>
                <a:latin typeface="Arial"/>
                <a:ea typeface="Arial"/>
                <a:cs typeface="Arial"/>
                <a:sym typeface="Arial"/>
              </a:defRPr>
            </a:lvl1pPr>
          </a:lstStyle>
          <a:p>
            <a:pPr/>
            <a:r>
              <a:t>DELIVERABLES</a:t>
            </a:r>
          </a:p>
        </p:txBody>
      </p:sp>
      <p:sp>
        <p:nvSpPr>
          <p:cNvPr id="545" name="Shape 29"/>
          <p:cNvSpPr/>
          <p:nvPr/>
        </p:nvSpPr>
        <p:spPr>
          <a:xfrm>
            <a:off x="952500" y="5246389"/>
            <a:ext cx="9044583" cy="12701"/>
          </a:xfrm>
          <a:prstGeom prst="rect">
            <a:avLst/>
          </a:prstGeom>
          <a:solidFill>
            <a:srgbClr val="232A3A"/>
          </a:solidFill>
          <a:ln w="12700">
            <a:miter lim="400000"/>
          </a:ln>
        </p:spPr>
        <p:txBody>
          <a:bodyPr lIns="45719" rIns="45719"/>
          <a:lstStyle/>
          <a:p>
            <a:pPr/>
          </a:p>
        </p:txBody>
      </p:sp>
      <p:sp>
        <p:nvSpPr>
          <p:cNvPr id="546" name="Text 30"/>
          <p:cNvSpPr txBox="1"/>
          <p:nvPr/>
        </p:nvSpPr>
        <p:spPr>
          <a:xfrm>
            <a:off x="952500" y="5505151"/>
            <a:ext cx="2171700"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1000">
                <a:solidFill>
                  <a:srgbClr val="5D6577"/>
                </a:solidFill>
                <a:latin typeface="Arial"/>
                <a:ea typeface="Arial"/>
                <a:cs typeface="Arial"/>
                <a:sym typeface="Arial"/>
              </a:defRPr>
            </a:lvl1pPr>
          </a:lstStyle>
          <a:p>
            <a:pPr/>
            <a:r>
              <a:t>GITHUB REPO</a:t>
            </a:r>
          </a:p>
        </p:txBody>
      </p:sp>
      <p:sp>
        <p:nvSpPr>
          <p:cNvPr id="547" name="Text 31"/>
          <p:cNvSpPr txBox="1"/>
          <p:nvPr/>
        </p:nvSpPr>
        <p:spPr>
          <a:xfrm>
            <a:off x="3219450" y="5409901"/>
            <a:ext cx="6980962" cy="64561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5000"/>
              </a:lnSpc>
              <a:defRPr sz="1600">
                <a:solidFill>
                  <a:srgbClr val="C3CAD8"/>
                </a:solidFill>
                <a:latin typeface="-apple-system"/>
                <a:ea typeface="-apple-system"/>
                <a:cs typeface="-apple-system"/>
                <a:sym typeface="-apple-system"/>
              </a:defRPr>
            </a:lvl1pPr>
          </a:lstStyle>
          <a:p>
            <a:pPr/>
            <a:r>
              <a:t>22-table 3NF schema · Alembic migrations · 23 SQL queries · Streamlit dashboard · README run steps.</a:t>
            </a:r>
          </a:p>
        </p:txBody>
      </p:sp>
      <p:sp>
        <p:nvSpPr>
          <p:cNvPr id="548" name="Shape 32"/>
          <p:cNvSpPr/>
          <p:nvPr/>
        </p:nvSpPr>
        <p:spPr>
          <a:xfrm>
            <a:off x="952500" y="6339681"/>
            <a:ext cx="9044583" cy="12701"/>
          </a:xfrm>
          <a:prstGeom prst="rect">
            <a:avLst/>
          </a:prstGeom>
          <a:solidFill>
            <a:srgbClr val="232A3A"/>
          </a:solidFill>
          <a:ln w="12700">
            <a:miter lim="400000"/>
          </a:ln>
        </p:spPr>
        <p:txBody>
          <a:bodyPr lIns="45719" rIns="45719"/>
          <a:lstStyle/>
          <a:p>
            <a:pPr/>
          </a:p>
        </p:txBody>
      </p:sp>
      <p:sp>
        <p:nvSpPr>
          <p:cNvPr id="549" name="Text 33"/>
          <p:cNvSpPr txBox="1"/>
          <p:nvPr/>
        </p:nvSpPr>
        <p:spPr>
          <a:xfrm>
            <a:off x="952500" y="6598443"/>
            <a:ext cx="2171700"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1000">
                <a:solidFill>
                  <a:srgbClr val="5D6577"/>
                </a:solidFill>
                <a:latin typeface="Arial"/>
                <a:ea typeface="Arial"/>
                <a:cs typeface="Arial"/>
                <a:sym typeface="Arial"/>
              </a:defRPr>
            </a:lvl1pPr>
          </a:lstStyle>
          <a:p>
            <a:pPr/>
            <a:r>
              <a:t>TECHNICAL REPORT</a:t>
            </a:r>
          </a:p>
        </p:txBody>
      </p:sp>
      <p:sp>
        <p:nvSpPr>
          <p:cNvPr id="550" name="Text 34"/>
          <p:cNvSpPr txBox="1"/>
          <p:nvPr/>
        </p:nvSpPr>
        <p:spPr>
          <a:xfrm>
            <a:off x="3219450" y="6503193"/>
            <a:ext cx="6980962" cy="341859"/>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5000"/>
              </a:lnSpc>
              <a:defRPr sz="1600">
                <a:solidFill>
                  <a:srgbClr val="C3CAD8"/>
                </a:solidFill>
                <a:latin typeface="-apple-system"/>
                <a:ea typeface="-apple-system"/>
                <a:cs typeface="-apple-system"/>
                <a:sym typeface="-apple-system"/>
              </a:defRPr>
            </a:lvl1pPr>
          </a:lstStyle>
          <a:p>
            <a:pPr/>
            <a:r>
              <a:t>10-section PDF; full SQL portfolio in section 6.</a:t>
            </a:r>
          </a:p>
        </p:txBody>
      </p:sp>
      <p:sp>
        <p:nvSpPr>
          <p:cNvPr id="551" name="Shape 35"/>
          <p:cNvSpPr/>
          <p:nvPr/>
        </p:nvSpPr>
        <p:spPr>
          <a:xfrm>
            <a:off x="952500" y="7129214"/>
            <a:ext cx="9044583" cy="12701"/>
          </a:xfrm>
          <a:prstGeom prst="rect">
            <a:avLst/>
          </a:prstGeom>
          <a:solidFill>
            <a:srgbClr val="232A3A"/>
          </a:solidFill>
          <a:ln w="12700">
            <a:miter lim="400000"/>
          </a:ln>
        </p:spPr>
        <p:txBody>
          <a:bodyPr lIns="45719" rIns="45719"/>
          <a:lstStyle/>
          <a:p>
            <a:pPr/>
          </a:p>
        </p:txBody>
      </p:sp>
      <p:sp>
        <p:nvSpPr>
          <p:cNvPr id="552" name="Text 36"/>
          <p:cNvSpPr txBox="1"/>
          <p:nvPr/>
        </p:nvSpPr>
        <p:spPr>
          <a:xfrm>
            <a:off x="952500" y="7387976"/>
            <a:ext cx="2171700"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1000">
                <a:solidFill>
                  <a:srgbClr val="5D6577"/>
                </a:solidFill>
                <a:latin typeface="Arial"/>
                <a:ea typeface="Arial"/>
                <a:cs typeface="Arial"/>
                <a:sym typeface="Arial"/>
              </a:defRPr>
            </a:lvl1pPr>
          </a:lstStyle>
          <a:p>
            <a:pPr/>
            <a:r>
              <a:t>DASHBOARD DEMO</a:t>
            </a:r>
          </a:p>
        </p:txBody>
      </p:sp>
      <p:sp>
        <p:nvSpPr>
          <p:cNvPr id="553" name="Text 37"/>
          <p:cNvSpPr txBox="1"/>
          <p:nvPr/>
        </p:nvSpPr>
        <p:spPr>
          <a:xfrm>
            <a:off x="3219450" y="7292726"/>
            <a:ext cx="6980962" cy="341859"/>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5000"/>
              </a:lnSpc>
              <a:defRPr sz="1600">
                <a:solidFill>
                  <a:srgbClr val="C3CAD8"/>
                </a:solidFill>
                <a:latin typeface="-apple-system"/>
                <a:ea typeface="-apple-system"/>
                <a:cs typeface="-apple-system"/>
                <a:sym typeface="-apple-system"/>
              </a:defRPr>
            </a:lvl1pPr>
          </a:lstStyle>
          <a:p>
            <a:pPr/>
            <a:r>
              <a:t>Live Streamlit app with screen-recording fallback.</a:t>
            </a:r>
          </a:p>
        </p:txBody>
      </p:sp>
      <p:sp>
        <p:nvSpPr>
          <p:cNvPr id="554" name="Shape 38"/>
          <p:cNvSpPr/>
          <p:nvPr/>
        </p:nvSpPr>
        <p:spPr>
          <a:xfrm>
            <a:off x="952500" y="7918747"/>
            <a:ext cx="9044583" cy="12701"/>
          </a:xfrm>
          <a:prstGeom prst="rect">
            <a:avLst/>
          </a:prstGeom>
          <a:solidFill>
            <a:srgbClr val="232A3A"/>
          </a:solidFill>
          <a:ln w="12700">
            <a:miter lim="400000"/>
          </a:ln>
        </p:spPr>
        <p:txBody>
          <a:bodyPr lIns="45719" rIns="45719"/>
          <a:lstStyle/>
          <a:p>
            <a:pPr/>
          </a:p>
        </p:txBody>
      </p:sp>
      <p:sp>
        <p:nvSpPr>
          <p:cNvPr id="555" name="Text 39"/>
          <p:cNvSpPr txBox="1"/>
          <p:nvPr/>
        </p:nvSpPr>
        <p:spPr>
          <a:xfrm>
            <a:off x="952500" y="8177510"/>
            <a:ext cx="2171700"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100" sz="1000">
                <a:solidFill>
                  <a:srgbClr val="5D6577"/>
                </a:solidFill>
                <a:latin typeface="Arial"/>
                <a:ea typeface="Arial"/>
                <a:cs typeface="Arial"/>
                <a:sym typeface="Arial"/>
              </a:defRPr>
            </a:lvl1pPr>
          </a:lstStyle>
          <a:p>
            <a:pPr/>
            <a:r>
              <a:t>WHAT HAPPENED NEXT</a:t>
            </a:r>
          </a:p>
        </p:txBody>
      </p:sp>
      <p:sp>
        <p:nvSpPr>
          <p:cNvPr id="556" name="Text 40"/>
          <p:cNvSpPr txBox="1"/>
          <p:nvPr/>
        </p:nvSpPr>
        <p:spPr>
          <a:xfrm>
            <a:off x="3219450" y="8082260"/>
            <a:ext cx="6980962" cy="341859"/>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lnSpc>
                <a:spcPct val="145000"/>
              </a:lnSpc>
              <a:defRPr sz="1600">
                <a:solidFill>
                  <a:srgbClr val="C3CAD8"/>
                </a:solidFill>
                <a:latin typeface="-apple-system"/>
                <a:ea typeface="-apple-system"/>
                <a:cs typeface="-apple-system"/>
                <a:sym typeface="-apple-system"/>
              </a:defRPr>
            </a:pPr>
            <a:r>
              <a:t>Exfiltration on </a:t>
            </a:r>
            <a:r>
              <a:rPr sz="1500">
                <a:solidFill>
                  <a:srgbClr val="E8ECF4"/>
                </a:solidFill>
                <a:latin typeface="Arial"/>
                <a:ea typeface="Arial"/>
                <a:cs typeface="Arial"/>
                <a:sym typeface="Arial"/>
              </a:rPr>
              <a:t>internal_share </a:t>
            </a:r>
            <a:r>
              <a:t>is documented in the report appendix.</a:t>
            </a:r>
          </a:p>
        </p:txBody>
      </p:sp>
      <p:sp>
        <p:nvSpPr>
          <p:cNvPr id="557" name="Shape 41"/>
          <p:cNvSpPr/>
          <p:nvPr/>
        </p:nvSpPr>
        <p:spPr>
          <a:xfrm>
            <a:off x="10378082" y="5000326"/>
            <a:ext cx="6957418" cy="4600874"/>
          </a:xfrm>
          <a:prstGeom prst="roundRect">
            <a:avLst>
              <a:gd name="adj" fmla="val 1242"/>
            </a:avLst>
          </a:prstGeom>
          <a:solidFill>
            <a:srgbClr val="141923"/>
          </a:solidFill>
          <a:ln>
            <a:solidFill>
              <a:srgbClr val="232A3A"/>
            </a:solidFill>
          </a:ln>
        </p:spPr>
        <p:txBody>
          <a:bodyPr lIns="45719" rIns="45719"/>
          <a:lstStyle/>
          <a:p>
            <a:pPr/>
          </a:p>
        </p:txBody>
      </p:sp>
      <p:sp>
        <p:nvSpPr>
          <p:cNvPr id="558" name="Text 42"/>
          <p:cNvSpPr txBox="1"/>
          <p:nvPr/>
        </p:nvSpPr>
        <p:spPr>
          <a:xfrm>
            <a:off x="13272938" y="6176814"/>
            <a:ext cx="1243906" cy="190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defRPr spc="200" sz="1000">
                <a:solidFill>
                  <a:srgbClr val="FF5A4E"/>
                </a:solidFill>
                <a:latin typeface="Arial"/>
                <a:ea typeface="Arial"/>
                <a:cs typeface="Arial"/>
                <a:sym typeface="Arial"/>
              </a:defRPr>
            </a:lvl1pPr>
          </a:lstStyle>
          <a:p>
            <a:pPr/>
            <a:r>
              <a:t>FLOOR OPEN</a:t>
            </a:r>
          </a:p>
        </p:txBody>
      </p:sp>
      <p:sp>
        <p:nvSpPr>
          <p:cNvPr id="559" name="Text 43"/>
          <p:cNvSpPr txBox="1"/>
          <p:nvPr/>
        </p:nvSpPr>
        <p:spPr>
          <a:xfrm>
            <a:off x="12062520" y="6462564"/>
            <a:ext cx="3696048" cy="8001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95527">
              <a:defRPr sz="5220">
                <a:solidFill>
                  <a:srgbClr val="E8ECF4"/>
                </a:solidFill>
                <a:latin typeface="Arial"/>
                <a:ea typeface="Arial"/>
                <a:cs typeface="Arial"/>
                <a:sym typeface="Arial"/>
              </a:defRPr>
            </a:lvl1pPr>
          </a:lstStyle>
          <a:p>
            <a:pPr/>
            <a:r>
              <a:t>Questions?</a:t>
            </a:r>
          </a:p>
        </p:txBody>
      </p:sp>
      <p:sp>
        <p:nvSpPr>
          <p:cNvPr id="560" name="Text 44"/>
          <p:cNvSpPr txBox="1"/>
          <p:nvPr/>
        </p:nvSpPr>
        <p:spPr>
          <a:xfrm>
            <a:off x="12743408" y="7396013"/>
            <a:ext cx="2226767" cy="10668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gn="ctr" defTabSz="886968">
              <a:lnSpc>
                <a:spcPct val="150000"/>
              </a:lnSpc>
              <a:defRPr sz="1746">
                <a:solidFill>
                  <a:srgbClr val="8A93A6"/>
                </a:solidFill>
                <a:latin typeface="-apple-system"/>
                <a:ea typeface="-apple-system"/>
                <a:cs typeface="-apple-system"/>
                <a:sym typeface="-apple-system"/>
              </a:defRPr>
            </a:lvl1pPr>
          </a:lstStyle>
          <a:p>
            <a:pPr/>
            <a:r>
              <a:t>Naman Sudan River Roseveare-Hunt Ishaan Shetty</a:t>
            </a:r>
          </a:p>
        </p:txBody>
      </p:sp>
      <p:sp>
        <p:nvSpPr>
          <p:cNvPr id="561" name="Shape 45"/>
          <p:cNvSpPr/>
          <p:nvPr/>
        </p:nvSpPr>
        <p:spPr>
          <a:xfrm>
            <a:off x="952500" y="9647237"/>
            <a:ext cx="16383000" cy="12701"/>
          </a:xfrm>
          <a:prstGeom prst="rect">
            <a:avLst/>
          </a:prstGeom>
          <a:solidFill>
            <a:srgbClr val="232A3A"/>
          </a:solidFill>
          <a:ln w="12700">
            <a:miter lim="400000"/>
          </a:ln>
        </p:spPr>
        <p:txBody>
          <a:bodyPr lIns="45719" rIns="45719"/>
          <a:lstStyle/>
          <a:p>
            <a:pPr/>
          </a:p>
        </p:txBody>
      </p:sp>
      <p:sp>
        <p:nvSpPr>
          <p:cNvPr id="562" name="Text 46"/>
          <p:cNvSpPr txBox="1"/>
          <p:nvPr/>
        </p:nvSpPr>
        <p:spPr>
          <a:xfrm>
            <a:off x="952500" y="9810750"/>
            <a:ext cx="2277070" cy="20955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defRPr spc="96" sz="1152">
                <a:solidFill>
                  <a:srgbClr val="8A93A6"/>
                </a:solidFill>
                <a:latin typeface="Arial"/>
                <a:ea typeface="Arial"/>
                <a:cs typeface="Arial"/>
                <a:sym typeface="Arial"/>
              </a:defRPr>
            </a:lvl1pPr>
          </a:lstStyle>
          <a:p>
            <a:pPr/>
            <a:r>
              <a:t>11 / 11 · RIVER · 0:55</a:t>
            </a:r>
          </a:p>
        </p:txBody>
      </p:sp>
      <p:sp>
        <p:nvSpPr>
          <p:cNvPr id="563" name="Text 47"/>
          <p:cNvSpPr txBox="1"/>
          <p:nvPr/>
        </p:nvSpPr>
        <p:spPr>
          <a:xfrm>
            <a:off x="15155763" y="9810750"/>
            <a:ext cx="2255938" cy="20955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defRPr spc="96" sz="1152">
                <a:solidFill>
                  <a:srgbClr val="8A93A6"/>
                </a:solidFill>
                <a:latin typeface="Arial"/>
                <a:ea typeface="Arial"/>
                <a:cs typeface="Arial"/>
                <a:sym typeface="Arial"/>
              </a:defRPr>
            </a:lvl1pPr>
          </a:lstStyle>
          <a:p>
            <a:pPr/>
            <a:r>
              <a:t>FINDINGS, REPO &amp; Q&amp;A</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